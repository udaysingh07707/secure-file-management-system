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3"/>
  </p:notesMasterIdLst>
  <p:sldIdLst>
    <p:sldId id="4074" r:id="rId2"/>
    <p:sldId id="4022" r:id="rId3"/>
    <p:sldId id="4023" r:id="rId4"/>
    <p:sldId id="4028" r:id="rId5"/>
    <p:sldId id="4029" r:id="rId6"/>
    <p:sldId id="4075" r:id="rId7"/>
    <p:sldId id="4030" r:id="rId8"/>
    <p:sldId id="4031" r:id="rId9"/>
    <p:sldId id="4032" r:id="rId10"/>
    <p:sldId id="4067" r:id="rId11"/>
    <p:sldId id="4076" r:id="rId12"/>
    <p:sldId id="4033" r:id="rId13"/>
    <p:sldId id="4068" r:id="rId14"/>
    <p:sldId id="4034" r:id="rId15"/>
    <p:sldId id="4035" r:id="rId16"/>
    <p:sldId id="4069" r:id="rId17"/>
    <p:sldId id="4036" r:id="rId18"/>
    <p:sldId id="4070" r:id="rId19"/>
    <p:sldId id="4037" r:id="rId20"/>
    <p:sldId id="4038" r:id="rId21"/>
    <p:sldId id="4039" r:id="rId22"/>
    <p:sldId id="4040" r:id="rId23"/>
    <p:sldId id="4041" r:id="rId24"/>
    <p:sldId id="4042" r:id="rId25"/>
    <p:sldId id="4071" r:id="rId26"/>
    <p:sldId id="4043" r:id="rId27"/>
    <p:sldId id="4044" r:id="rId28"/>
    <p:sldId id="4045" r:id="rId29"/>
    <p:sldId id="4046" r:id="rId30"/>
    <p:sldId id="4047" r:id="rId31"/>
    <p:sldId id="4048" r:id="rId32"/>
    <p:sldId id="4049" r:id="rId33"/>
    <p:sldId id="4050" r:id="rId34"/>
    <p:sldId id="4051" r:id="rId35"/>
    <p:sldId id="4052" r:id="rId36"/>
    <p:sldId id="4053" r:id="rId37"/>
    <p:sldId id="4054" r:id="rId38"/>
    <p:sldId id="4055" r:id="rId39"/>
    <p:sldId id="4056" r:id="rId40"/>
    <p:sldId id="4057" r:id="rId41"/>
    <p:sldId id="4058" r:id="rId42"/>
    <p:sldId id="4072" r:id="rId43"/>
    <p:sldId id="4059" r:id="rId44"/>
    <p:sldId id="4060" r:id="rId45"/>
    <p:sldId id="4073" r:id="rId46"/>
    <p:sldId id="4061" r:id="rId47"/>
    <p:sldId id="4062" r:id="rId48"/>
    <p:sldId id="4063" r:id="rId49"/>
    <p:sldId id="4064" r:id="rId50"/>
    <p:sldId id="4065" r:id="rId51"/>
    <p:sldId id="4066" r:id="rId5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E1FCEFE-13A0-4499-9698-90F66B35321C}" v="15" dt="2026-01-21T04:06:06.3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8" Type="http://schemas.microsoft.com/office/2016/11/relationships/changesInfo" Target="changesInfos/changesInfo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hushbu Meena" userId="1498508b7e86afb3" providerId="LiveId" clId="{5F632EB6-4F8A-4F48-9ED4-C1C61F37D77B}"/>
    <pc:docChg chg="addSld delSld modSld">
      <pc:chgData name="Khushbu Meena" userId="1498508b7e86afb3" providerId="LiveId" clId="{5F632EB6-4F8A-4F48-9ED4-C1C61F37D77B}" dt="2026-01-21T04:06:06.326" v="40"/>
      <pc:docMkLst>
        <pc:docMk/>
      </pc:docMkLst>
      <pc:sldChg chg="addSp modSp new mod">
        <pc:chgData name="Khushbu Meena" userId="1498508b7e86afb3" providerId="LiveId" clId="{5F632EB6-4F8A-4F48-9ED4-C1C61F37D77B}" dt="2026-01-20T16:47:40.250" v="39" actId="20577"/>
        <pc:sldMkLst>
          <pc:docMk/>
          <pc:sldMk cId="687203904" sldId="4075"/>
        </pc:sldMkLst>
        <pc:spChg chg="add mod">
          <ac:chgData name="Khushbu Meena" userId="1498508b7e86afb3" providerId="LiveId" clId="{5F632EB6-4F8A-4F48-9ED4-C1C61F37D77B}" dt="2026-01-20T16:47:40.250" v="39" actId="20577"/>
          <ac:spMkLst>
            <pc:docMk/>
            <pc:sldMk cId="687203904" sldId="4075"/>
            <ac:spMk id="3" creationId="{C6C383CF-54BE-BAE7-6AEB-7AE3226095FE}"/>
          </ac:spMkLst>
        </pc:spChg>
      </pc:sldChg>
      <pc:sldChg chg="addSp modSp new del mod">
        <pc:chgData name="Khushbu Meena" userId="1498508b7e86afb3" providerId="LiveId" clId="{5F632EB6-4F8A-4F48-9ED4-C1C61F37D77B}" dt="2026-01-20T16:42:53.178" v="24" actId="2696"/>
        <pc:sldMkLst>
          <pc:docMk/>
          <pc:sldMk cId="3136555498" sldId="4076"/>
        </pc:sldMkLst>
      </pc:sldChg>
      <pc:sldChg chg="add">
        <pc:chgData name="Khushbu Meena" userId="1498508b7e86afb3" providerId="LiveId" clId="{5F632EB6-4F8A-4F48-9ED4-C1C61F37D77B}" dt="2026-01-21T04:06:06.326" v="40"/>
        <pc:sldMkLst>
          <pc:docMk/>
          <pc:sldMk cId="4286716193" sldId="407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134659-0ED1-4E51-86A0-9BBF4E66109E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F35501-1542-45B6-9AF4-9929E24FB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578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2FE31F5-84D9-4761-9F2B-901DD312A571}" type="slidenum">
              <a:rPr lang="en-US" altLang="en-US"/>
              <a:pPr/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411453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4301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B020CBA-A14D-461B-AD1D-E66BE2D05512}" type="slidenum">
              <a:rPr lang="en-US" altLang="en-US"/>
              <a:pPr/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462587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4403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F30F667-FA70-49BF-A363-1918F7D8B4DC}" type="slidenum">
              <a:rPr lang="en-US" altLang="en-US"/>
              <a:pPr/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840171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450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B57F63C-92F4-4BFB-A9CA-E2B17FA85192}" type="slidenum">
              <a:rPr lang="en-US" altLang="en-US"/>
              <a:pPr/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850755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450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B57F63C-92F4-4BFB-A9CA-E2B17FA85192}" type="slidenum">
              <a:rPr lang="en-US" altLang="en-US"/>
              <a:pPr/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614676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460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8C51C5D-F411-4074-AC46-4836454333FC}" type="slidenum">
              <a:rPr lang="en-US" altLang="en-US"/>
              <a:pPr/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28444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460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8C51C5D-F411-4074-AC46-4836454333FC}" type="slidenum">
              <a:rPr lang="en-US" altLang="en-US"/>
              <a:pPr/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051928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471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4A18212-0930-44B3-842C-A003A4F8FB16}" type="slidenum">
              <a:rPr lang="en-US" altLang="en-US"/>
              <a:pPr/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197973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481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6D83B7D-78CF-4A51-B1FB-EFA9E9FD8439}" type="slidenum">
              <a:rPr lang="en-US" altLang="en-US"/>
              <a:pPr/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17933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481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6D83B7D-78CF-4A51-B1FB-EFA9E9FD8439}" type="slidenum">
              <a:rPr lang="en-US" altLang="en-US"/>
              <a:pPr/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196616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915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4915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53C5CA1-D727-4CDE-AFA0-B82644099179}" type="slidenum">
              <a:rPr lang="en-US" altLang="en-US"/>
              <a:pPr/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313252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915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4915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53C5CA1-D727-4CDE-AFA0-B82644099179}" type="slidenum">
              <a:rPr lang="en-US" altLang="en-US"/>
              <a:pPr/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541099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01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5018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0FE4774-FEA1-476E-91C4-FE984FABB224}" type="slidenum">
              <a:rPr lang="en-US" altLang="en-US"/>
              <a:pPr/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845587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0DFC2E7-458D-494E-8008-50283EDE8210}" type="slidenum">
              <a:rPr lang="en-US" altLang="en-US"/>
              <a:pPr/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48497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5222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59CE1AD-87D7-4B57-BDEB-C2F608E09F9D}" type="slidenum">
              <a:rPr lang="en-US" altLang="en-US"/>
              <a:pPr/>
              <a:t>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2988373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5325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0B6CF24-EF45-49A2-994B-6CEA40E0101D}" type="slidenum">
              <a:rPr lang="en-US" altLang="en-US"/>
              <a:pPr/>
              <a:t>22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24996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427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5427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B105D04-B7D6-4B42-ABD3-60E9D594C6E8}" type="slidenum">
              <a:rPr lang="en-US" altLang="en-US"/>
              <a:pPr/>
              <a:t>23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7416841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5530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697E976-9789-4E92-AC2E-4FE57E43764E}" type="slidenum">
              <a:rPr lang="en-US" altLang="en-US"/>
              <a:pPr/>
              <a:t>24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8478352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5530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697E976-9789-4E92-AC2E-4FE57E43764E}" type="slidenum">
              <a:rPr lang="en-US" altLang="en-US"/>
              <a:pPr/>
              <a:t>25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4918155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63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5632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5BF14EF-AC68-43D0-8DCD-78285FCBA1E5}" type="slidenum">
              <a:rPr lang="en-US" altLang="en-US"/>
              <a:pPr/>
              <a:t>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9651598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73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5734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CB96F12-5145-446F-88E6-9DB102B1A8D4}" type="slidenum">
              <a:rPr lang="en-US" altLang="en-US"/>
              <a:pPr/>
              <a:t>27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2646314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837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5837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6B9BC6C-87D8-4A45-A2EA-7E9707355327}" type="slidenum">
              <a:rPr lang="en-US" altLang="en-US"/>
              <a:pPr/>
              <a:t>28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00096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5939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49D05C3-8473-4DF3-ACFF-F5B7755A7F96}" type="slidenum">
              <a:rPr lang="en-US" altLang="en-US"/>
              <a:pPr/>
              <a:t>29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6181627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041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6042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02846BD-1C1A-4B2F-848F-CC0430004D16}" type="slidenum">
              <a:rPr lang="en-US" altLang="en-US"/>
              <a:pPr/>
              <a:t>30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4779328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6144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4B3CDA0-E15D-440A-A3AD-49B61FF565FE}" type="slidenum">
              <a:rPr lang="en-US" altLang="en-US"/>
              <a:pPr/>
              <a:t>31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4317460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8034262-05B5-49BB-B205-929BA1ECC2F6}" type="slidenum">
              <a:rPr lang="en-US" altLang="en-US"/>
              <a:pPr/>
              <a:t>32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018248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6349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7959ED4-E846-4C22-B572-79028C6E2170}" type="slidenum">
              <a:rPr lang="en-US" altLang="en-US"/>
              <a:pPr/>
              <a:t>33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5917666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A6AFDD4-DCF7-44AA-8168-8E632CD52DA3}" type="slidenum">
              <a:rPr lang="en-US" altLang="en-US"/>
              <a:pPr/>
              <a:t>34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8494756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6554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F868291-8D31-4589-8C06-F32CECEBF3E4}" type="slidenum">
              <a:rPr lang="en-US" altLang="en-US"/>
              <a:pPr/>
              <a:t>35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9589761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65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6656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0BFE09A-5A85-4DB5-8C99-5FA4F044A632}" type="slidenum">
              <a:rPr lang="en-US" altLang="en-US"/>
              <a:pPr/>
              <a:t>36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8581347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6758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79DA207-F66E-4AE0-971B-45277575B389}" type="slidenum">
              <a:rPr lang="en-US" altLang="en-US"/>
              <a:pPr/>
              <a:t>37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3914856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6861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9D56A45-3590-44D3-A8FD-3B7F045EFA4B}" type="slidenum">
              <a:rPr lang="en-US" altLang="en-US"/>
              <a:pPr/>
              <a:t>38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7200221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6963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A86EFAA-62DA-4F98-A7EE-84709EDB7AFE}" type="slidenum">
              <a:rPr lang="en-US" altLang="en-US"/>
              <a:pPr/>
              <a:t>39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1262078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06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437511F-5F68-44C6-BEE0-91753A44261E}" type="slidenum">
              <a:rPr lang="en-US" altLang="en-US"/>
              <a:pPr/>
              <a:t>40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7082942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716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C94EFBE-C263-4C0A-ABBC-241E4A533787}" type="slidenum">
              <a:rPr lang="en-US" altLang="en-US"/>
              <a:pPr/>
              <a:t>41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448743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716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C94EFBE-C263-4C0A-ABBC-241E4A533787}" type="slidenum">
              <a:rPr lang="en-US" altLang="en-US"/>
              <a:pPr/>
              <a:t>42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1686135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27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00B9554-AD08-4199-839B-A57AB7FCB278}" type="slidenum">
              <a:rPr lang="en-US" altLang="en-US"/>
              <a:pPr/>
              <a:t>43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718793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737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5C259A0-25F8-41E9-927C-E9A45715FDBE}" type="slidenum">
              <a:rPr lang="en-US" altLang="en-US"/>
              <a:pPr/>
              <a:t>44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6706104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737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5C259A0-25F8-41E9-927C-E9A45715FDBE}" type="slidenum">
              <a:rPr lang="en-US" altLang="en-US"/>
              <a:pPr/>
              <a:t>45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0347970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475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7475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8A55922-DD2D-4E28-AB51-1D978BA67AB7}" type="slidenum">
              <a:rPr lang="en-US" altLang="en-US"/>
              <a:pPr/>
              <a:t>46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4327983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57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7578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39F0F7A-89A2-4FF2-A718-C4741CBCCDC9}" type="slidenum">
              <a:rPr lang="en-US" altLang="en-US"/>
              <a:pPr/>
              <a:t>47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7112621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680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7680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BB56F21-D4FD-47D4-A3F8-23E3CA9247B0}" type="slidenum">
              <a:rPr lang="en-US" altLang="en-US"/>
              <a:pPr/>
              <a:t>48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519283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782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7782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02CF19A-4896-4B75-AB20-BD7DFE28FED5}" type="slidenum">
              <a:rPr lang="en-US" altLang="en-US"/>
              <a:pPr/>
              <a:t>49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7701568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885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7885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352BE42-C753-492E-9C08-EE5D11910546}" type="slidenum">
              <a:rPr lang="en-US" altLang="en-US"/>
              <a:pPr/>
              <a:t>50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9712897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987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7987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59DF922-A2D5-4BE3-9933-4F3F29749825}" type="slidenum">
              <a:rPr lang="en-US" altLang="en-US"/>
              <a:pPr/>
              <a:t>51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054812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3454A-B50B-99CF-5F2C-9914471B25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E906C5-4742-264F-78E1-18B014E036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A54A67-BCE4-0B38-9F85-498463408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5C035-66C3-4887-AFB5-741198C05989}" type="datetime1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E1F8AC-443C-1ECA-AB44-6EBF6FD03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1/15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ADF0F3-AEC5-C9B9-7171-1B6A033D0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4846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A43DA-CBC5-58B5-65B8-9D38B353F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6B5CF5-59AF-DD83-C89A-DF31B5195C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84E04A-0F9D-BFA3-1170-4193E83A9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5DD95-F8C8-4514-86FA-F689F6E88E95}" type="datetime1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E989B7-C73D-98DA-3AF0-70E1DF6AB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1/15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C4C7C3-2C9F-8A2C-CC92-9224B93D4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4533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F116C-C79E-55DD-9F00-FFDBCF607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4E630C-B948-FAC9-6274-CA2DCE44C2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03E107-FDF9-7A65-56F5-E97F0661F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81670-6007-4C62-8F59-41E1CC4F9BDC}" type="datetime1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65382A-4979-C9DC-A38D-71EEC2F21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1/15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54B501-66BB-E071-2D45-786A50329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0733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5DFD8-0D14-BAF4-B9E1-9E8435A7E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4BAE9-DB1F-171F-6D48-3F467841FF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8CAD39-A292-B30E-5E61-53E6C13EC3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CF5A39-F187-8FE8-5DEB-F71006593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E668A-9FCB-47AB-ACD6-07FD44555D1C}" type="datetime1">
              <a:rPr lang="en-IN" smtClean="0"/>
              <a:t>28-01-2026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E0DC70-1010-1A04-FE7B-7DB3E6713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1/15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E68834-3EFD-4C90-DC78-7AB1AA3B0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2013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73B6E-AAAA-C190-F84C-C7A9E54BF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9E850B-3436-7B73-9CAF-6857749DD1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440929-494D-74D0-7921-2D938A372A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3974FE-72C9-137E-0265-73F50D8D7A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C57EA2-CA11-4B56-861E-239081BE50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3161D1-E209-E17B-7F43-1EA7214E3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C513F-6A83-4B3A-BB09-049F4E61F634}" type="datetime1">
              <a:rPr lang="en-IN" smtClean="0"/>
              <a:t>28-01-2026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3D1B75-14EF-E88A-5B4F-ECF203D09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1/15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9406F7-C76D-E3CE-11A0-2DF7C798A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2817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C6511-9AF4-26A2-B0E0-2904E16E7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C37283-2B3B-38B3-2541-367195BBA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9FEFD-3C69-4305-A7B6-834AA69834DB}" type="datetime1">
              <a:rPr lang="en-IN" smtClean="0"/>
              <a:t>28-01-2026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1109F2-D873-FF79-0EAD-7BB606B35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1/15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1DAC8C-10EC-B45D-546A-403F5F417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2505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D1B28-282D-9541-5396-99E0DEE59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9FACF6-3696-BA79-A674-7B2FB7D6CC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8AE520-B0BD-9957-B156-89F4DEFC7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AC8DF-4781-438A-A2D9-AAF8FD8F57EF}" type="datetime1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8C5B5D-0A2A-D9E7-19E8-E963CF0D8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1/15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985D3D-8D58-9A45-B29D-22587F406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3551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B756CC-275B-5F05-BC12-BB1376D40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2B8A8-40AC-4BD4-B073-C21DF81FB59C}" type="datetime1">
              <a:rPr lang="en-IN" smtClean="0"/>
              <a:t>28-01-2026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4A5A5C-6A14-6463-9263-E1C97FDEB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1/15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28AB0B-4F9E-B3E8-F5BE-48D1A7FC0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3060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9790F-A78E-F728-A554-7D4A7AF1C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6C0024-81A1-24AC-3552-CA9CEA7E4F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68CF34-E943-6E55-F9DC-69271DB3A4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3B6FBF-46A8-C3B9-7C32-FF6F9D37E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79324-6718-4C38-A249-E09CAC183CDE}" type="datetime1">
              <a:rPr lang="en-IN" smtClean="0"/>
              <a:t>28-01-2026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84E712-4476-5F97-67B0-BBB596A0C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1/15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0A3B25-9720-6577-0395-9103E7757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320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83F6F-8F6C-7195-27A7-50671BA45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FE7027-CB64-2D79-C450-A50A1A1A5B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A3577A-646B-877F-ACC8-447532FEA7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ABA6D9-4ADB-E95F-6717-B7292C01F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F1BC8-94F8-45FC-B95B-8E7D82B4A049}" type="datetime1">
              <a:rPr lang="en-IN" smtClean="0"/>
              <a:t>28-01-2026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60814B-405F-B37D-4F5F-B70E8488D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1/15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D74CF4-2834-8D90-41B2-3FFB1D4BB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2249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C2A8B3-3C5F-769E-BE44-7FCB772A83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DCE24B-7910-B2E8-C9C8-E2F93AFB81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0D1D4F-E585-8CF2-AC0F-F3EA4F0C4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F1F87-1041-451E-898C-31740E1620AA}" type="datetime1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1C96A0-30C4-BF0C-B817-DF0BA33BB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1/15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C19994-D6D6-8277-D64E-72F4CB96C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99372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1" y="6778868"/>
            <a:ext cx="12191997" cy="79131"/>
          </a:xfrm>
          <a:prstGeom prst="rect">
            <a:avLst/>
          </a:prstGeom>
          <a:solidFill>
            <a:srgbClr val="ED771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E43606C-9B53-79F1-02DD-16BC50BEB5CE}"/>
              </a:ext>
            </a:extLst>
          </p:cNvPr>
          <p:cNvSpPr/>
          <p:nvPr userDrawn="1"/>
        </p:nvSpPr>
        <p:spPr>
          <a:xfrm>
            <a:off x="2078655" y="431018"/>
            <a:ext cx="8107244" cy="46502"/>
          </a:xfrm>
          <a:prstGeom prst="rect">
            <a:avLst/>
          </a:prstGeom>
          <a:solidFill>
            <a:srgbClr val="F47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07FF37-7309-52C1-8095-3F729737C23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55072" y="178307"/>
            <a:ext cx="1547520" cy="41863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148388E-C341-A5AF-55B7-4442EC1A9BD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28281" y="178308"/>
            <a:ext cx="1581202" cy="505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6315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88914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>
          <p15:clr>
            <a:srgbClr val="FBAE40"/>
          </p15:clr>
        </p15:guide>
        <p15:guide id="4" pos="4560">
          <p15:clr>
            <a:srgbClr val="FBAE40"/>
          </p15:clr>
        </p15:guide>
        <p15:guide id="8" orient="horz" pos="184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100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9BC712-3CD6-D18D-1483-CAFF2130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77F309-DEC2-2A35-6A1B-36732AEA34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0BBC8F-5AA1-6A5F-813E-EC818CB3A0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B74D95-0A6A-4FF0-A602-FE349279ABDC}" type="datetime1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0EE63-802B-29AB-6E8E-2336CA6B49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IN"/>
              <a:t>1/15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485C65-30CE-BE4C-6597-F764525338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E00DB2-1B79-F076-988B-189E25D268A4}"/>
              </a:ext>
            </a:extLst>
          </p:cNvPr>
          <p:cNvSpPr/>
          <p:nvPr userDrawn="1"/>
        </p:nvSpPr>
        <p:spPr>
          <a:xfrm>
            <a:off x="2078655" y="431018"/>
            <a:ext cx="8107244" cy="46502"/>
          </a:xfrm>
          <a:prstGeom prst="rect">
            <a:avLst/>
          </a:prstGeom>
          <a:solidFill>
            <a:srgbClr val="F47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9E6FB77-67DC-C0AD-16FE-6E68AF2B8876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0355072" y="178307"/>
            <a:ext cx="1547520" cy="4186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9ED9CD6-CADD-7BD4-3F8E-872DFDE3128D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328281" y="178308"/>
            <a:ext cx="1581202" cy="50542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318C861-1BD5-B856-A0FD-4B28D1D8BE11}"/>
              </a:ext>
            </a:extLst>
          </p:cNvPr>
          <p:cNvSpPr/>
          <p:nvPr userDrawn="1"/>
        </p:nvSpPr>
        <p:spPr>
          <a:xfrm>
            <a:off x="1" y="6778868"/>
            <a:ext cx="12191997" cy="79131"/>
          </a:xfrm>
          <a:prstGeom prst="rect">
            <a:avLst/>
          </a:prstGeom>
          <a:solidFill>
            <a:srgbClr val="ED771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239611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8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8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8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8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8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8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8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8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8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8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0006A-9E91-5DDB-2E29-E367AE1CD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7FE2A-1E16-7C49-C5BD-34D1D1DF6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Organization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C521B0-9134-2CF1-95E9-99E7F233F1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604964"/>
            <a:ext cx="11353800" cy="4403725"/>
          </a:xfrm>
          <a:noFill/>
        </p:spPr>
        <p:txBody>
          <a:bodyPr>
            <a:normAutofit/>
          </a:bodyPr>
          <a:lstStyle/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auto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Organization -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tells us how exactly all the units in the system are arranged and interconnected.</a:t>
            </a:r>
          </a:p>
          <a:p>
            <a:pPr fontAlgn="auto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deals with components of a connection in a system.</a:t>
            </a:r>
          </a:p>
          <a:p>
            <a:pPr marL="0" indent="0" fontAlgn="auto">
              <a:buNone/>
            </a:pP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Architecture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us to understand the functionalities of a system.</a:t>
            </a:r>
          </a:p>
          <a:p>
            <a:pPr marL="457200" lvl="1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9403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147255000"/>
    </mc:Choice>
    <mc:Fallback xmlns="">
      <p:transition spd="slow" advClick="0" advTm="2147255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Organization of a Computer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Block Diagram Of Computer System-GoGlobalWays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2268" y="1604963"/>
            <a:ext cx="6602363" cy="4403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9957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147255000"/>
    </mc:Choice>
    <mc:Fallback xmlns="">
      <p:transition spd="slow" advClick="0" advTm="2147255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Unit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Unit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 Processing Unit (CPU)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 Unit (CU)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Arithmetic And Logic Unit (ALU)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Unit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)Primary memory (ii)Secondary memory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Block Diagram Of Computer System-GoGlobalWay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5254" y="1825625"/>
            <a:ext cx="3498546" cy="2333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87875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147255000"/>
    </mc:Choice>
    <mc:Fallback xmlns="">
      <p:transition spd="slow" advClick="0" advTm="2147255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itle 1"/>
          <p:cNvSpPr txBox="1">
            <a:spLocks/>
          </p:cNvSpPr>
          <p:nvPr/>
        </p:nvSpPr>
        <p:spPr>
          <a:xfrm>
            <a:off x="685799" y="5744720"/>
            <a:ext cx="10515600" cy="8632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 Cycle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Instruction Cycle Explained | Fetch , Decode , Execute Cycle Step-By-Step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678"/>
          <a:stretch/>
        </p:blipFill>
        <p:spPr bwMode="auto">
          <a:xfrm>
            <a:off x="2247900" y="1690688"/>
            <a:ext cx="7696200" cy="3871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28124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052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4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Overview</a:t>
            </a:r>
          </a:p>
        </p:txBody>
      </p:sp>
      <p:sp>
        <p:nvSpPr>
          <p:cNvPr id="2055" name="Rectangle 3"/>
          <p:cNvSpPr>
            <a:spLocks noChangeArrowheads="1"/>
          </p:cNvSpPr>
          <p:nvPr/>
        </p:nvSpPr>
        <p:spPr bwMode="auto">
          <a:xfrm>
            <a:off x="2453747" y="1153168"/>
            <a:ext cx="5208587" cy="570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r>
              <a:rPr lang="en-US" altLang="ko-KR" sz="2400" b="1" dirty="0">
                <a:latin typeface="Calibri" panose="020F0502020204030204" pitchFamily="34" charset="0"/>
              </a:rPr>
              <a:t>Instruction Codes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endParaRPr lang="en-US" altLang="ko-KR" sz="2400" b="1" dirty="0">
              <a:latin typeface="Calibri" panose="020F0502020204030204" pitchFamily="34" charset="0"/>
            </a:endParaRP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r>
              <a:rPr lang="en-US" altLang="ko-KR" sz="2400" b="1" dirty="0">
                <a:latin typeface="Calibri" panose="020F0502020204030204" pitchFamily="34" charset="0"/>
              </a:rPr>
              <a:t> Computer Registers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endParaRPr lang="en-US" altLang="ko-KR" sz="2400" b="1" dirty="0">
              <a:latin typeface="Calibri" panose="020F0502020204030204" pitchFamily="34" charset="0"/>
            </a:endParaRP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r>
              <a:rPr lang="en-US" altLang="ko-KR" sz="2400" b="1" dirty="0">
                <a:latin typeface="Calibri" panose="020F0502020204030204" pitchFamily="34" charset="0"/>
              </a:rPr>
              <a:t> </a:t>
            </a:r>
            <a:r>
              <a:rPr lang="en-US" altLang="ko-KR" sz="2400" dirty="0">
                <a:latin typeface="Calibri" panose="020F0502020204030204" pitchFamily="34" charset="0"/>
              </a:rPr>
              <a:t>Computer Instructions</a:t>
            </a:r>
          </a:p>
          <a:p>
            <a:pPr eaLnBrk="1" hangingPunct="1">
              <a:lnSpc>
                <a:spcPct val="85000"/>
              </a:lnSpc>
            </a:pPr>
            <a:endParaRPr lang="en-US" altLang="ko-KR" sz="2400" dirty="0">
              <a:latin typeface="Calibri" panose="020F0502020204030204" pitchFamily="34" charset="0"/>
            </a:endParaRP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r>
              <a:rPr lang="en-US" altLang="ko-KR" sz="2400" dirty="0">
                <a:latin typeface="Calibri" panose="020F0502020204030204" pitchFamily="34" charset="0"/>
              </a:rPr>
              <a:t>Common Bus System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endParaRPr lang="en-US" altLang="ko-KR" sz="2400" dirty="0">
              <a:latin typeface="Calibri" panose="020F0502020204030204" pitchFamily="34" charset="0"/>
            </a:endParaRP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r>
              <a:rPr lang="en-US" altLang="ko-KR" sz="2400" dirty="0">
                <a:latin typeface="Calibri" panose="020F0502020204030204" pitchFamily="34" charset="0"/>
              </a:rPr>
              <a:t> Timing and Control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endParaRPr lang="en-US" altLang="ko-KR" sz="2400" dirty="0">
              <a:latin typeface="Calibri" panose="020F0502020204030204" pitchFamily="34" charset="0"/>
            </a:endParaRP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r>
              <a:rPr lang="en-US" altLang="ko-KR" sz="2400" dirty="0">
                <a:latin typeface="Calibri" panose="020F0502020204030204" pitchFamily="34" charset="0"/>
              </a:rPr>
              <a:t> Instruction Cycle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endParaRPr lang="en-US" altLang="ko-KR" sz="2400" dirty="0">
              <a:latin typeface="Calibri" panose="020F0502020204030204" pitchFamily="34" charset="0"/>
            </a:endParaRP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r>
              <a:rPr lang="en-US" altLang="ko-KR" sz="2400" dirty="0">
                <a:latin typeface="Calibri" panose="020F0502020204030204" pitchFamily="34" charset="0"/>
              </a:rPr>
              <a:t> Memory Reference Instructions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endParaRPr lang="en-US" altLang="ko-KR" sz="2400" dirty="0">
              <a:latin typeface="Calibri" panose="020F0502020204030204" pitchFamily="34" charset="0"/>
            </a:endParaRP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r>
              <a:rPr lang="en-US" altLang="ko-KR" sz="2400" dirty="0">
                <a:latin typeface="Calibri" panose="020F0502020204030204" pitchFamily="34" charset="0"/>
              </a:rPr>
              <a:t> Input-Output and Interrupt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endParaRPr lang="en-US" altLang="ko-KR" sz="2400" dirty="0">
              <a:latin typeface="Calibri" panose="020F0502020204030204" pitchFamily="34" charset="0"/>
            </a:endParaRP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r>
              <a:rPr lang="en-US" altLang="ko-KR" sz="2400" dirty="0">
                <a:latin typeface="Calibri" panose="020F0502020204030204" pitchFamily="34" charset="0"/>
              </a:rPr>
              <a:t> Complete Computer Description</a:t>
            </a:r>
          </a:p>
          <a:p>
            <a:pPr eaLnBrk="1" hangingPunct="1">
              <a:lnSpc>
                <a:spcPct val="85000"/>
              </a:lnSpc>
            </a:pPr>
            <a:endParaRPr lang="en-US" altLang="ko-KR" sz="24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5046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5D4B935-5C1D-88F6-7B65-7494BDD9F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1/15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C6C383CF-54BE-BAE7-6AEB-7AE3226095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096" y="1373846"/>
            <a:ext cx="10588752" cy="376283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8241" rIns="0" bIns="92046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Instruction Codes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Instruction codes are groups of bits that tell the computer to perform a specific task. 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Operation Code (Opcode):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Specifies the operation to be performed, such as addition, subtraction, or shifting.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Address/Operand Part: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Specifies where the data (operands) for the operation is located, either in a register or a memory address.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Addressing Modes: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A 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mode bit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distinguishes between direct addressing (data is at the specified address)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400" dirty="0">
                <a:solidFill>
                  <a:srgbClr val="0A0A0A"/>
                </a:solidFill>
                <a:latin typeface="Google Sans"/>
              </a:rPr>
              <a:t>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nd indirect addressing (the specified address contains another address for the data).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72039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77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Introduction</a:t>
            </a:r>
          </a:p>
        </p:txBody>
      </p:sp>
      <p:sp>
        <p:nvSpPr>
          <p:cNvPr id="3078" name="Rectangle 3"/>
          <p:cNvSpPr txBox="1">
            <a:spLocks noChangeArrowheads="1"/>
          </p:cNvSpPr>
          <p:nvPr/>
        </p:nvSpPr>
        <p:spPr bwMode="auto">
          <a:xfrm>
            <a:off x="1838326" y="1350964"/>
            <a:ext cx="8448675" cy="3449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000" b="1">
                <a:latin typeface="Calibri" panose="020F0502020204030204" pitchFamily="34" charset="0"/>
              </a:rPr>
              <a:t>Every different processor type has its own design (different registers, buses, microoperations, machine instructions, etc)</a:t>
            </a:r>
          </a:p>
          <a:p>
            <a:pPr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000" b="1">
                <a:latin typeface="Calibri" panose="020F0502020204030204" pitchFamily="34" charset="0"/>
              </a:rPr>
              <a:t>Modern processor is a very complex device</a:t>
            </a:r>
          </a:p>
          <a:p>
            <a:pPr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000" b="1">
                <a:latin typeface="Calibri" panose="020F0502020204030204" pitchFamily="34" charset="0"/>
              </a:rPr>
              <a:t>It contains</a:t>
            </a:r>
          </a:p>
          <a:p>
            <a:pPr lvl="1" eaLnBrk="1" hangingPunct="1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en-US" altLang="ko-KR" sz="1600" b="1">
                <a:latin typeface="Calibri" panose="020F0502020204030204" pitchFamily="34" charset="0"/>
              </a:rPr>
              <a:t>Many registers</a:t>
            </a:r>
          </a:p>
          <a:p>
            <a:pPr lvl="1" eaLnBrk="1" hangingPunct="1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en-US" altLang="ko-KR" sz="1600" b="1">
                <a:latin typeface="Calibri" panose="020F0502020204030204" pitchFamily="34" charset="0"/>
              </a:rPr>
              <a:t>Multiple arithmetic units, for both integer and floating point calculations</a:t>
            </a:r>
          </a:p>
          <a:p>
            <a:pPr lvl="1" eaLnBrk="1" hangingPunct="1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en-US" altLang="ko-KR" sz="1600" b="1">
                <a:latin typeface="Calibri" panose="020F0502020204030204" pitchFamily="34" charset="0"/>
              </a:rPr>
              <a:t>The ability to pipeline several consecutive instructions to speed execution</a:t>
            </a:r>
          </a:p>
          <a:p>
            <a:pPr lvl="1" eaLnBrk="1" hangingPunct="1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en-US" altLang="ko-KR" sz="1600" b="1">
                <a:latin typeface="Calibri" panose="020F0502020204030204" pitchFamily="34" charset="0"/>
              </a:rPr>
              <a:t>Etc.</a:t>
            </a:r>
          </a:p>
          <a:p>
            <a:pPr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000" b="1">
                <a:latin typeface="Calibri" panose="020F0502020204030204" pitchFamily="34" charset="0"/>
              </a:rPr>
              <a:t>However, to understand how processors work, we will start with a simplified processor model</a:t>
            </a:r>
          </a:p>
        </p:txBody>
      </p:sp>
    </p:spTree>
    <p:extLst>
      <p:ext uri="{BB962C8B-B14F-4D97-AF65-F5344CB8AC3E}">
        <p14:creationId xmlns:p14="http://schemas.microsoft.com/office/powerpoint/2010/main" val="12024224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01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Basic Computer</a:t>
            </a:r>
          </a:p>
        </p:txBody>
      </p:sp>
      <p:grpSp>
        <p:nvGrpSpPr>
          <p:cNvPr id="4102" name="Group 19"/>
          <p:cNvGrpSpPr>
            <a:grpSpLocks/>
          </p:cNvGrpSpPr>
          <p:nvPr/>
        </p:nvGrpSpPr>
        <p:grpSpPr bwMode="auto">
          <a:xfrm>
            <a:off x="1800225" y="1508126"/>
            <a:ext cx="8229600" cy="4779963"/>
            <a:chOff x="276225" y="1533525"/>
            <a:chExt cx="8229600" cy="4780280"/>
          </a:xfrm>
        </p:grpSpPr>
        <p:sp>
          <p:nvSpPr>
            <p:cNvPr id="4104" name="Rectangle 3"/>
            <p:cNvSpPr txBox="1">
              <a:spLocks noChangeArrowheads="1"/>
            </p:cNvSpPr>
            <p:nvPr/>
          </p:nvSpPr>
          <p:spPr bwMode="auto">
            <a:xfrm>
              <a:off x="276225" y="1533525"/>
              <a:ext cx="8229600" cy="1987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</a:pPr>
              <a:r>
                <a:rPr lang="en-US" altLang="ko-KR" sz="2000" b="1">
                  <a:latin typeface="Calibri" panose="020F0502020204030204" pitchFamily="34" charset="0"/>
                </a:rPr>
                <a:t>The Basic Computer has two components, a processor and memory</a:t>
              </a:r>
            </a:p>
            <a:p>
              <a:pPr ea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</a:pPr>
              <a:r>
                <a:rPr lang="en-US" altLang="ko-KR" sz="2000" b="1">
                  <a:latin typeface="Calibri" panose="020F0502020204030204" pitchFamily="34" charset="0"/>
                </a:rPr>
                <a:t>The memory has 4096 words in it</a:t>
              </a:r>
            </a:p>
            <a:p>
              <a:pPr lvl="1" eaLnBrk="1" hangingPunct="1">
                <a:spcBef>
                  <a:spcPct val="20000"/>
                </a:spcBef>
                <a:buFont typeface="Arial" panose="020B0604020202020204" pitchFamily="34" charset="0"/>
                <a:buChar char="–"/>
              </a:pPr>
              <a:r>
                <a:rPr lang="en-US" altLang="ko-KR" sz="2000" b="1">
                  <a:latin typeface="Calibri" panose="020F0502020204030204" pitchFamily="34" charset="0"/>
                </a:rPr>
                <a:t>4096 = 2</a:t>
              </a:r>
              <a:r>
                <a:rPr lang="en-US" altLang="ko-KR" sz="2000" b="1" baseline="30000">
                  <a:latin typeface="Calibri" panose="020F0502020204030204" pitchFamily="34" charset="0"/>
                </a:rPr>
                <a:t>12</a:t>
              </a:r>
              <a:r>
                <a:rPr lang="en-US" altLang="ko-KR" sz="2000" b="1">
                  <a:latin typeface="Calibri" panose="020F0502020204030204" pitchFamily="34" charset="0"/>
                </a:rPr>
                <a:t>, so it takes 12 bits to select a word in memory</a:t>
              </a:r>
            </a:p>
            <a:p>
              <a:pPr ea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</a:pPr>
              <a:r>
                <a:rPr lang="en-US" altLang="ko-KR" sz="2000" b="1">
                  <a:latin typeface="Calibri" panose="020F0502020204030204" pitchFamily="34" charset="0"/>
                </a:rPr>
                <a:t>Each word is 16 bits long</a:t>
              </a:r>
            </a:p>
          </p:txBody>
        </p:sp>
        <p:sp>
          <p:nvSpPr>
            <p:cNvPr id="4105" name="Rectangle 4"/>
            <p:cNvSpPr>
              <a:spLocks noChangeArrowheads="1"/>
            </p:cNvSpPr>
            <p:nvPr/>
          </p:nvSpPr>
          <p:spPr bwMode="auto">
            <a:xfrm>
              <a:off x="5219700" y="3789363"/>
              <a:ext cx="638175" cy="51435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2000" b="1">
                <a:latin typeface="Calibri" panose="020F0502020204030204" pitchFamily="34" charset="0"/>
              </a:endParaRPr>
            </a:p>
          </p:txBody>
        </p:sp>
        <p:sp>
          <p:nvSpPr>
            <p:cNvPr id="4106" name="Rectangle 5"/>
            <p:cNvSpPr>
              <a:spLocks noChangeArrowheads="1"/>
            </p:cNvSpPr>
            <p:nvPr/>
          </p:nvSpPr>
          <p:spPr bwMode="auto">
            <a:xfrm>
              <a:off x="6443663" y="3789363"/>
              <a:ext cx="792162" cy="23749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2000" b="1">
                <a:latin typeface="Calibri" panose="020F0502020204030204" pitchFamily="34" charset="0"/>
              </a:endParaRPr>
            </a:p>
          </p:txBody>
        </p:sp>
        <p:sp>
          <p:nvSpPr>
            <p:cNvPr id="4107" name="Text Box 6"/>
            <p:cNvSpPr txBox="1">
              <a:spLocks noChangeArrowheads="1"/>
            </p:cNvSpPr>
            <p:nvPr/>
          </p:nvSpPr>
          <p:spPr bwMode="auto">
            <a:xfrm>
              <a:off x="5233988" y="3422650"/>
              <a:ext cx="623889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2000" b="1">
                  <a:latin typeface="Calibri" panose="020F0502020204030204" pitchFamily="34" charset="0"/>
                </a:rPr>
                <a:t>CPU</a:t>
              </a:r>
            </a:p>
          </p:txBody>
        </p:sp>
        <p:sp>
          <p:nvSpPr>
            <p:cNvPr id="4108" name="Text Box 7"/>
            <p:cNvSpPr txBox="1">
              <a:spLocks noChangeArrowheads="1"/>
            </p:cNvSpPr>
            <p:nvPr/>
          </p:nvSpPr>
          <p:spPr bwMode="auto">
            <a:xfrm>
              <a:off x="6567488" y="3419475"/>
              <a:ext cx="70884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2000" b="1">
                  <a:latin typeface="Calibri" panose="020F0502020204030204" pitchFamily="34" charset="0"/>
                </a:rPr>
                <a:t>RAM</a:t>
              </a:r>
            </a:p>
          </p:txBody>
        </p:sp>
        <p:sp>
          <p:nvSpPr>
            <p:cNvPr id="4109" name="Text Box 9"/>
            <p:cNvSpPr txBox="1">
              <a:spLocks noChangeArrowheads="1"/>
            </p:cNvSpPr>
            <p:nvPr/>
          </p:nvSpPr>
          <p:spPr bwMode="auto">
            <a:xfrm>
              <a:off x="7216775" y="3759260"/>
              <a:ext cx="704039" cy="25545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2000" b="1">
                  <a:latin typeface="Calibri" panose="020F0502020204030204" pitchFamily="34" charset="0"/>
                </a:rPr>
                <a:t>0</a:t>
              </a:r>
            </a:p>
            <a:p>
              <a:pPr eaLnBrk="1" hangingPunct="1"/>
              <a:endParaRPr lang="en-US" altLang="ko-KR" sz="2000" b="1">
                <a:latin typeface="Calibri" panose="020F0502020204030204" pitchFamily="34" charset="0"/>
              </a:endParaRPr>
            </a:p>
            <a:p>
              <a:pPr eaLnBrk="1" hangingPunct="1"/>
              <a:endParaRPr lang="en-US" altLang="ko-KR" sz="2000" b="1">
                <a:latin typeface="Calibri" panose="020F0502020204030204" pitchFamily="34" charset="0"/>
              </a:endParaRPr>
            </a:p>
            <a:p>
              <a:pPr eaLnBrk="1" hangingPunct="1"/>
              <a:endParaRPr lang="en-US" altLang="ko-KR" sz="2000" b="1">
                <a:latin typeface="Calibri" panose="020F0502020204030204" pitchFamily="34" charset="0"/>
              </a:endParaRPr>
            </a:p>
            <a:p>
              <a:pPr eaLnBrk="1" hangingPunct="1"/>
              <a:endParaRPr lang="en-US" altLang="ko-KR" sz="2000" b="1">
                <a:latin typeface="Calibri" panose="020F0502020204030204" pitchFamily="34" charset="0"/>
              </a:endParaRPr>
            </a:p>
            <a:p>
              <a:pPr eaLnBrk="1" hangingPunct="1"/>
              <a:endParaRPr lang="en-US" altLang="ko-KR" sz="2000" b="1">
                <a:latin typeface="Calibri" panose="020F0502020204030204" pitchFamily="34" charset="0"/>
              </a:endParaRPr>
            </a:p>
            <a:p>
              <a:pPr eaLnBrk="1" hangingPunct="1"/>
              <a:endParaRPr lang="en-US" altLang="ko-KR" sz="2000" b="1">
                <a:latin typeface="Calibri" panose="020F0502020204030204" pitchFamily="34" charset="0"/>
              </a:endParaRPr>
            </a:p>
            <a:p>
              <a:pPr eaLnBrk="1" hangingPunct="1"/>
              <a:r>
                <a:rPr lang="en-US" altLang="ko-KR" sz="2000" b="1">
                  <a:latin typeface="Calibri" panose="020F0502020204030204" pitchFamily="34" charset="0"/>
                </a:rPr>
                <a:t>4095</a:t>
              </a:r>
            </a:p>
          </p:txBody>
        </p:sp>
        <p:sp>
          <p:nvSpPr>
            <p:cNvPr id="4110" name="Line 11"/>
            <p:cNvSpPr>
              <a:spLocks noChangeShapeType="1"/>
            </p:cNvSpPr>
            <p:nvPr/>
          </p:nvSpPr>
          <p:spPr bwMode="auto">
            <a:xfrm>
              <a:off x="6443663" y="5511860"/>
              <a:ext cx="79216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111" name="Text Box 12"/>
            <p:cNvSpPr txBox="1">
              <a:spLocks noChangeArrowheads="1"/>
            </p:cNvSpPr>
            <p:nvPr/>
          </p:nvSpPr>
          <p:spPr bwMode="auto">
            <a:xfrm>
              <a:off x="7019925" y="5229225"/>
              <a:ext cx="288862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600" b="1">
                  <a:latin typeface="Calibri" panose="020F0502020204030204" pitchFamily="34" charset="0"/>
                </a:rPr>
                <a:t>0</a:t>
              </a:r>
            </a:p>
          </p:txBody>
        </p:sp>
        <p:sp>
          <p:nvSpPr>
            <p:cNvPr id="4112" name="Text Box 13"/>
            <p:cNvSpPr txBox="1">
              <a:spLocks noChangeArrowheads="1"/>
            </p:cNvSpPr>
            <p:nvPr/>
          </p:nvSpPr>
          <p:spPr bwMode="auto">
            <a:xfrm>
              <a:off x="6372225" y="5229225"/>
              <a:ext cx="367408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400" b="1">
                  <a:latin typeface="Calibri" panose="020F0502020204030204" pitchFamily="34" charset="0"/>
                </a:rPr>
                <a:t>15</a:t>
              </a:r>
            </a:p>
          </p:txBody>
        </p:sp>
      </p:grpSp>
      <p:sp>
        <p:nvSpPr>
          <p:cNvPr id="4103" name="Line 11"/>
          <p:cNvSpPr>
            <a:spLocks noChangeShapeType="1"/>
          </p:cNvSpPr>
          <p:nvPr/>
        </p:nvSpPr>
        <p:spPr bwMode="auto">
          <a:xfrm>
            <a:off x="7970838" y="5257800"/>
            <a:ext cx="7921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8772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124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26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Instruction</a:t>
            </a:r>
          </a:p>
        </p:txBody>
      </p:sp>
      <p:sp>
        <p:nvSpPr>
          <p:cNvPr id="5127" name="Rectangle 37"/>
          <p:cNvSpPr txBox="1">
            <a:spLocks noChangeArrowheads="1"/>
          </p:cNvSpPr>
          <p:nvPr/>
        </p:nvSpPr>
        <p:spPr bwMode="auto">
          <a:xfrm>
            <a:off x="2000250" y="1317626"/>
            <a:ext cx="8362950" cy="493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</a:endParaRP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Program</a:t>
            </a:r>
          </a:p>
          <a:p>
            <a:pPr lvl="1"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A sequence of (machine) instructions </a:t>
            </a: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</a:endParaRP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(Machine) Instruction</a:t>
            </a:r>
          </a:p>
          <a:p>
            <a:pPr lvl="1"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A group of bits that tell the computer to </a:t>
            </a:r>
            <a:r>
              <a:rPr lang="en-US" altLang="ko-KR" sz="2000" b="1" i="1" dirty="0">
                <a:latin typeface="Calibri" panose="020F0502020204030204" pitchFamily="34" charset="0"/>
              </a:rPr>
              <a:t>perform a specific operation</a:t>
            </a:r>
            <a:r>
              <a:rPr lang="en-US" altLang="ko-KR" sz="2000" b="1" dirty="0">
                <a:latin typeface="Calibri" panose="020F0502020204030204" pitchFamily="34" charset="0"/>
              </a:rPr>
              <a:t> (a sequence of micro-operation) </a:t>
            </a: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</a:endParaRP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The instructions of a program, along with any needed data are stored in memory</a:t>
            </a: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00984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124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26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Instruction</a:t>
            </a:r>
          </a:p>
        </p:txBody>
      </p:sp>
      <p:sp>
        <p:nvSpPr>
          <p:cNvPr id="5127" name="Rectangle 37"/>
          <p:cNvSpPr txBox="1">
            <a:spLocks noChangeArrowheads="1"/>
          </p:cNvSpPr>
          <p:nvPr/>
        </p:nvSpPr>
        <p:spPr bwMode="auto">
          <a:xfrm>
            <a:off x="2000250" y="1317626"/>
            <a:ext cx="8362950" cy="493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</a:endParaRP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</a:endParaRP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The CPU reads the next instruction from memory</a:t>
            </a: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</a:endParaRP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It is placed in an </a:t>
            </a:r>
            <a:r>
              <a:rPr lang="en-US" altLang="ko-KR" sz="2000" b="1" u="sng" dirty="0">
                <a:solidFill>
                  <a:schemeClr val="tx2"/>
                </a:solidFill>
                <a:latin typeface="Calibri" panose="020F0502020204030204" pitchFamily="34" charset="0"/>
              </a:rPr>
              <a:t>Instruction Register (IR)</a:t>
            </a: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</a:endParaRP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Control circuitry in control unit then translates the instruction into the sequence of </a:t>
            </a:r>
            <a:r>
              <a:rPr lang="en-US" altLang="ko-KR" sz="2000" b="1" dirty="0" err="1">
                <a:latin typeface="Calibri" panose="020F0502020204030204" pitchFamily="34" charset="0"/>
              </a:rPr>
              <a:t>microoperations</a:t>
            </a:r>
            <a:r>
              <a:rPr lang="en-US" altLang="ko-KR" sz="2000" b="1" dirty="0">
                <a:latin typeface="Calibri" panose="020F0502020204030204" pitchFamily="34" charset="0"/>
              </a:rPr>
              <a:t> </a:t>
            </a: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It is very necessary to implement it</a:t>
            </a: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31552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625186-DB5A-38DC-7450-1FF9B9A25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6F29038-A929-78DF-038B-6D2A7BC19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1/15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B3C1134-A6C0-0F73-541C-E8BB51232D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096" y="1373846"/>
            <a:ext cx="10588752" cy="376283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8241" rIns="0" bIns="92046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Instruction Codes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Instruction codes are groups of bits that tell the computer to perform a specific task. 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Operation Code (Opcode):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Specifies the operation to be performed, such as addition, subtraction, or shifting.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Address/Operand Part: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Specifies where the data (operands) for the operation is located, either in a register or a memory address.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Addressing Modes: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A 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mode bit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distinguishes between direct addressing (data is at the specified address)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400" dirty="0">
                <a:solidFill>
                  <a:srgbClr val="0A0A0A"/>
                </a:solidFill>
                <a:latin typeface="Google Sans"/>
              </a:rPr>
              <a:t>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nd indirect addressing (the specified address contains another address for the data).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67161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148" name="TextBox 5"/>
          <p:cNvSpPr txBox="1">
            <a:spLocks noChangeArrowheads="1"/>
          </p:cNvSpPr>
          <p:nvPr/>
        </p:nvSpPr>
        <p:spPr bwMode="auto">
          <a:xfrm>
            <a:off x="1562100" y="6513514"/>
            <a:ext cx="91440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50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Instruction Format</a:t>
            </a:r>
          </a:p>
        </p:txBody>
      </p:sp>
      <p:sp>
        <p:nvSpPr>
          <p:cNvPr id="6151" name="Rectangle 4"/>
          <p:cNvSpPr txBox="1">
            <a:spLocks noChangeArrowheads="1"/>
          </p:cNvSpPr>
          <p:nvPr/>
        </p:nvSpPr>
        <p:spPr bwMode="auto">
          <a:xfrm>
            <a:off x="1911350" y="857989"/>
            <a:ext cx="8458200" cy="410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</a:endParaRP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A computer instruction is often divided into two parts</a:t>
            </a:r>
          </a:p>
          <a:p>
            <a:pPr lvl="1"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An opcode (Operation Code) that specifies the operation for that instruction</a:t>
            </a:r>
          </a:p>
          <a:p>
            <a:pPr lvl="1"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An address that specifies the registers and/or locations in memory to use for that operation</a:t>
            </a: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</a:endParaRP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In the Basic Computer, since the memory contains 4096 (= 2</a:t>
            </a:r>
            <a:r>
              <a:rPr lang="en-US" altLang="ko-KR" sz="2000" b="1" baseline="30000" dirty="0">
                <a:latin typeface="Calibri" panose="020F0502020204030204" pitchFamily="34" charset="0"/>
              </a:rPr>
              <a:t>12</a:t>
            </a:r>
            <a:r>
              <a:rPr lang="en-US" altLang="ko-KR" sz="2000" b="1" dirty="0">
                <a:latin typeface="Calibri" panose="020F0502020204030204" pitchFamily="34" charset="0"/>
              </a:rPr>
              <a:t>) words, </a:t>
            </a: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</a:endParaRP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we needs 12 bit to specify which memory address this instruction will use </a:t>
            </a:r>
          </a:p>
        </p:txBody>
      </p:sp>
      <p:grpSp>
        <p:nvGrpSpPr>
          <p:cNvPr id="6152" name="Group 20"/>
          <p:cNvGrpSpPr>
            <a:grpSpLocks/>
          </p:cNvGrpSpPr>
          <p:nvPr/>
        </p:nvGrpSpPr>
        <p:grpSpPr bwMode="auto">
          <a:xfrm>
            <a:off x="4814887" y="4668838"/>
            <a:ext cx="2638425" cy="1514475"/>
            <a:chOff x="1368" y="3165"/>
            <a:chExt cx="1662" cy="954"/>
          </a:xfrm>
        </p:grpSpPr>
        <p:sp>
          <p:nvSpPr>
            <p:cNvPr id="6153" name="Rectangle 5"/>
            <p:cNvSpPr>
              <a:spLocks noChangeArrowheads="1"/>
            </p:cNvSpPr>
            <p:nvPr/>
          </p:nvSpPr>
          <p:spPr bwMode="auto">
            <a:xfrm>
              <a:off x="1433" y="3549"/>
              <a:ext cx="1568" cy="151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200" b="1">
                <a:latin typeface="Calibri" panose="020F0502020204030204" pitchFamily="34" charset="0"/>
              </a:endParaRPr>
            </a:p>
          </p:txBody>
        </p:sp>
        <p:sp>
          <p:nvSpPr>
            <p:cNvPr id="6154" name="Rectangle 6"/>
            <p:cNvSpPr>
              <a:spLocks noChangeArrowheads="1"/>
            </p:cNvSpPr>
            <p:nvPr/>
          </p:nvSpPr>
          <p:spPr bwMode="auto">
            <a:xfrm>
              <a:off x="1527" y="3543"/>
              <a:ext cx="427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 dirty="0">
                  <a:solidFill>
                    <a:srgbClr val="000000"/>
                  </a:solidFill>
                  <a:latin typeface="Calibri" panose="020F0502020204030204" pitchFamily="34" charset="0"/>
                </a:rPr>
                <a:t>Opcode</a:t>
              </a:r>
            </a:p>
          </p:txBody>
        </p:sp>
        <p:sp>
          <p:nvSpPr>
            <p:cNvPr id="6155" name="Rectangle 7"/>
            <p:cNvSpPr>
              <a:spLocks noChangeArrowheads="1"/>
            </p:cNvSpPr>
            <p:nvPr/>
          </p:nvSpPr>
          <p:spPr bwMode="auto">
            <a:xfrm>
              <a:off x="2181" y="3546"/>
              <a:ext cx="437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Address</a:t>
              </a:r>
            </a:p>
          </p:txBody>
        </p:sp>
        <p:sp>
          <p:nvSpPr>
            <p:cNvPr id="6156" name="Rectangle 8"/>
            <p:cNvSpPr>
              <a:spLocks noChangeArrowheads="1"/>
            </p:cNvSpPr>
            <p:nvPr/>
          </p:nvSpPr>
          <p:spPr bwMode="auto">
            <a:xfrm>
              <a:off x="1627" y="3165"/>
              <a:ext cx="1115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600" b="1" u="sng" dirty="0">
                  <a:solidFill>
                    <a:srgbClr val="000000"/>
                  </a:solidFill>
                  <a:latin typeface="Calibri" panose="020F0502020204030204" pitchFamily="34" charset="0"/>
                </a:rPr>
                <a:t>Instruction Format</a:t>
              </a:r>
            </a:p>
          </p:txBody>
        </p:sp>
        <p:sp>
          <p:nvSpPr>
            <p:cNvPr id="6157" name="Line 9"/>
            <p:cNvSpPr>
              <a:spLocks noChangeShapeType="1"/>
            </p:cNvSpPr>
            <p:nvPr/>
          </p:nvSpPr>
          <p:spPr bwMode="auto">
            <a:xfrm>
              <a:off x="2058" y="3549"/>
              <a:ext cx="0" cy="14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58" name="Rectangle 10"/>
            <p:cNvSpPr>
              <a:spLocks noChangeArrowheads="1"/>
            </p:cNvSpPr>
            <p:nvPr/>
          </p:nvSpPr>
          <p:spPr bwMode="auto">
            <a:xfrm>
              <a:off x="1368" y="3420"/>
              <a:ext cx="21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15</a:t>
              </a:r>
            </a:p>
          </p:txBody>
        </p:sp>
        <p:sp>
          <p:nvSpPr>
            <p:cNvPr id="6159" name="Rectangle 11"/>
            <p:cNvSpPr>
              <a:spLocks noChangeArrowheads="1"/>
            </p:cNvSpPr>
            <p:nvPr/>
          </p:nvSpPr>
          <p:spPr bwMode="auto">
            <a:xfrm>
              <a:off x="1536" y="3420"/>
              <a:ext cx="21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14</a:t>
              </a:r>
            </a:p>
          </p:txBody>
        </p:sp>
        <p:sp>
          <p:nvSpPr>
            <p:cNvPr id="6160" name="Rectangle 12"/>
            <p:cNvSpPr>
              <a:spLocks noChangeArrowheads="1"/>
            </p:cNvSpPr>
            <p:nvPr/>
          </p:nvSpPr>
          <p:spPr bwMode="auto">
            <a:xfrm>
              <a:off x="1837" y="3420"/>
              <a:ext cx="21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12</a:t>
              </a:r>
            </a:p>
          </p:txBody>
        </p:sp>
        <p:sp>
          <p:nvSpPr>
            <p:cNvPr id="6161" name="Rectangle 13"/>
            <p:cNvSpPr>
              <a:spLocks noChangeArrowheads="1"/>
            </p:cNvSpPr>
            <p:nvPr/>
          </p:nvSpPr>
          <p:spPr bwMode="auto">
            <a:xfrm>
              <a:off x="2865" y="3420"/>
              <a:ext cx="165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0</a:t>
              </a:r>
            </a:p>
          </p:txBody>
        </p:sp>
        <p:sp>
          <p:nvSpPr>
            <p:cNvPr id="6162" name="Rectangle 14"/>
            <p:cNvSpPr>
              <a:spLocks noChangeArrowheads="1"/>
            </p:cNvSpPr>
            <p:nvPr/>
          </p:nvSpPr>
          <p:spPr bwMode="auto">
            <a:xfrm>
              <a:off x="1421" y="3553"/>
              <a:ext cx="141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I</a:t>
              </a:r>
            </a:p>
          </p:txBody>
        </p:sp>
        <p:sp>
          <p:nvSpPr>
            <p:cNvPr id="6163" name="Line 15"/>
            <p:cNvSpPr>
              <a:spLocks noChangeShapeType="1"/>
            </p:cNvSpPr>
            <p:nvPr/>
          </p:nvSpPr>
          <p:spPr bwMode="auto">
            <a:xfrm>
              <a:off x="1552" y="3549"/>
              <a:ext cx="0" cy="15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64" name="Rectangle 16"/>
            <p:cNvSpPr>
              <a:spLocks noChangeArrowheads="1"/>
            </p:cNvSpPr>
            <p:nvPr/>
          </p:nvSpPr>
          <p:spPr bwMode="auto">
            <a:xfrm>
              <a:off x="1989" y="3420"/>
              <a:ext cx="21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11</a:t>
              </a:r>
            </a:p>
          </p:txBody>
        </p:sp>
        <p:sp>
          <p:nvSpPr>
            <p:cNvPr id="6165" name="Text Box 18"/>
            <p:cNvSpPr txBox="1">
              <a:spLocks noChangeArrowheads="1"/>
            </p:cNvSpPr>
            <p:nvPr/>
          </p:nvSpPr>
          <p:spPr bwMode="auto">
            <a:xfrm>
              <a:off x="1376" y="3828"/>
              <a:ext cx="58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ko-KR" sz="1200" b="1">
                  <a:latin typeface="Calibri" panose="020F0502020204030204" pitchFamily="34" charset="0"/>
                </a:rPr>
                <a:t>Addressing </a:t>
              </a:r>
            </a:p>
            <a:p>
              <a:pPr algn="ctr" eaLnBrk="1" hangingPunct="1"/>
              <a:r>
                <a:rPr lang="en-US" altLang="ko-KR" sz="1200" b="1">
                  <a:latin typeface="Calibri" panose="020F0502020204030204" pitchFamily="34" charset="0"/>
                </a:rPr>
                <a:t>mode</a:t>
              </a:r>
            </a:p>
          </p:txBody>
        </p:sp>
        <p:sp>
          <p:nvSpPr>
            <p:cNvPr id="6166" name="Line 19"/>
            <p:cNvSpPr>
              <a:spLocks noChangeShapeType="1"/>
            </p:cNvSpPr>
            <p:nvPr/>
          </p:nvSpPr>
          <p:spPr bwMode="auto">
            <a:xfrm flipH="1" flipV="1">
              <a:off x="1494" y="3708"/>
              <a:ext cx="72" cy="11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374959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148" name="TextBox 5"/>
          <p:cNvSpPr txBox="1">
            <a:spLocks noChangeArrowheads="1"/>
          </p:cNvSpPr>
          <p:nvPr/>
        </p:nvSpPr>
        <p:spPr bwMode="auto">
          <a:xfrm>
            <a:off x="1562100" y="6513514"/>
            <a:ext cx="91440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50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Instruction Format</a:t>
            </a:r>
          </a:p>
        </p:txBody>
      </p:sp>
      <p:sp>
        <p:nvSpPr>
          <p:cNvPr id="6151" name="Rectangle 4"/>
          <p:cNvSpPr txBox="1">
            <a:spLocks noChangeArrowheads="1"/>
          </p:cNvSpPr>
          <p:nvPr/>
        </p:nvSpPr>
        <p:spPr bwMode="auto">
          <a:xfrm>
            <a:off x="1905000" y="990600"/>
            <a:ext cx="8458200" cy="410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</a:endParaRP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</a:endParaRP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In the Basic Computer, </a:t>
            </a:r>
          </a:p>
          <a:p>
            <a:pPr lvl="1" algn="just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15 bit of the instruction specifies the </a:t>
            </a:r>
            <a:r>
              <a:rPr lang="en-US" altLang="ko-KR" sz="2000" b="1" u="sng" dirty="0">
                <a:solidFill>
                  <a:schemeClr val="tx2"/>
                </a:solidFill>
                <a:latin typeface="Calibri" panose="020F0502020204030204" pitchFamily="34" charset="0"/>
              </a:rPr>
              <a:t>addressing mode</a:t>
            </a:r>
            <a:r>
              <a:rPr lang="en-US" altLang="ko-KR" sz="2000" b="1" dirty="0">
                <a:latin typeface="Calibri" panose="020F0502020204030204" pitchFamily="34" charset="0"/>
              </a:rPr>
              <a:t> </a:t>
            </a:r>
          </a:p>
          <a:p>
            <a:pPr lvl="1" algn="just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(0: direct addressing, 1: indirect addressing)</a:t>
            </a: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</a:endParaRP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Since the memory words, and hence the instructions, are 16 bits long, that leaves 3 bits for the instruction’s opcode</a:t>
            </a:r>
          </a:p>
        </p:txBody>
      </p:sp>
      <p:grpSp>
        <p:nvGrpSpPr>
          <p:cNvPr id="6152" name="Group 20"/>
          <p:cNvGrpSpPr>
            <a:grpSpLocks/>
          </p:cNvGrpSpPr>
          <p:nvPr/>
        </p:nvGrpSpPr>
        <p:grpSpPr bwMode="auto">
          <a:xfrm>
            <a:off x="4814887" y="4972051"/>
            <a:ext cx="2638425" cy="1514475"/>
            <a:chOff x="1368" y="3165"/>
            <a:chExt cx="1662" cy="954"/>
          </a:xfrm>
        </p:grpSpPr>
        <p:sp>
          <p:nvSpPr>
            <p:cNvPr id="6153" name="Rectangle 5"/>
            <p:cNvSpPr>
              <a:spLocks noChangeArrowheads="1"/>
            </p:cNvSpPr>
            <p:nvPr/>
          </p:nvSpPr>
          <p:spPr bwMode="auto">
            <a:xfrm>
              <a:off x="1433" y="3549"/>
              <a:ext cx="1568" cy="151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200" b="1">
                <a:latin typeface="Calibri" panose="020F0502020204030204" pitchFamily="34" charset="0"/>
              </a:endParaRPr>
            </a:p>
          </p:txBody>
        </p:sp>
        <p:sp>
          <p:nvSpPr>
            <p:cNvPr id="6154" name="Rectangle 6"/>
            <p:cNvSpPr>
              <a:spLocks noChangeArrowheads="1"/>
            </p:cNvSpPr>
            <p:nvPr/>
          </p:nvSpPr>
          <p:spPr bwMode="auto">
            <a:xfrm>
              <a:off x="1527" y="3543"/>
              <a:ext cx="427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Opcode</a:t>
              </a:r>
            </a:p>
          </p:txBody>
        </p:sp>
        <p:sp>
          <p:nvSpPr>
            <p:cNvPr id="6155" name="Rectangle 7"/>
            <p:cNvSpPr>
              <a:spLocks noChangeArrowheads="1"/>
            </p:cNvSpPr>
            <p:nvPr/>
          </p:nvSpPr>
          <p:spPr bwMode="auto">
            <a:xfrm>
              <a:off x="2181" y="3546"/>
              <a:ext cx="437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 dirty="0">
                  <a:solidFill>
                    <a:srgbClr val="000000"/>
                  </a:solidFill>
                  <a:latin typeface="Calibri" panose="020F0502020204030204" pitchFamily="34" charset="0"/>
                </a:rPr>
                <a:t>Address</a:t>
              </a:r>
            </a:p>
          </p:txBody>
        </p:sp>
        <p:sp>
          <p:nvSpPr>
            <p:cNvPr id="6156" name="Rectangle 8"/>
            <p:cNvSpPr>
              <a:spLocks noChangeArrowheads="1"/>
            </p:cNvSpPr>
            <p:nvPr/>
          </p:nvSpPr>
          <p:spPr bwMode="auto">
            <a:xfrm>
              <a:off x="1627" y="3165"/>
              <a:ext cx="1115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600" b="1" u="sng">
                  <a:solidFill>
                    <a:srgbClr val="000000"/>
                  </a:solidFill>
                  <a:latin typeface="Calibri" panose="020F0502020204030204" pitchFamily="34" charset="0"/>
                </a:rPr>
                <a:t>Instruction Format</a:t>
              </a:r>
            </a:p>
          </p:txBody>
        </p:sp>
        <p:sp>
          <p:nvSpPr>
            <p:cNvPr id="6157" name="Line 9"/>
            <p:cNvSpPr>
              <a:spLocks noChangeShapeType="1"/>
            </p:cNvSpPr>
            <p:nvPr/>
          </p:nvSpPr>
          <p:spPr bwMode="auto">
            <a:xfrm>
              <a:off x="2058" y="3549"/>
              <a:ext cx="0" cy="14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58" name="Rectangle 10"/>
            <p:cNvSpPr>
              <a:spLocks noChangeArrowheads="1"/>
            </p:cNvSpPr>
            <p:nvPr/>
          </p:nvSpPr>
          <p:spPr bwMode="auto">
            <a:xfrm>
              <a:off x="1368" y="3420"/>
              <a:ext cx="21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15</a:t>
              </a:r>
            </a:p>
          </p:txBody>
        </p:sp>
        <p:sp>
          <p:nvSpPr>
            <p:cNvPr id="6159" name="Rectangle 11"/>
            <p:cNvSpPr>
              <a:spLocks noChangeArrowheads="1"/>
            </p:cNvSpPr>
            <p:nvPr/>
          </p:nvSpPr>
          <p:spPr bwMode="auto">
            <a:xfrm>
              <a:off x="1536" y="3420"/>
              <a:ext cx="21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14</a:t>
              </a:r>
            </a:p>
          </p:txBody>
        </p:sp>
        <p:sp>
          <p:nvSpPr>
            <p:cNvPr id="6160" name="Rectangle 12"/>
            <p:cNvSpPr>
              <a:spLocks noChangeArrowheads="1"/>
            </p:cNvSpPr>
            <p:nvPr/>
          </p:nvSpPr>
          <p:spPr bwMode="auto">
            <a:xfrm>
              <a:off x="1837" y="3420"/>
              <a:ext cx="21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12</a:t>
              </a:r>
            </a:p>
          </p:txBody>
        </p:sp>
        <p:sp>
          <p:nvSpPr>
            <p:cNvPr id="6161" name="Rectangle 13"/>
            <p:cNvSpPr>
              <a:spLocks noChangeArrowheads="1"/>
            </p:cNvSpPr>
            <p:nvPr/>
          </p:nvSpPr>
          <p:spPr bwMode="auto">
            <a:xfrm>
              <a:off x="2865" y="3420"/>
              <a:ext cx="165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0</a:t>
              </a:r>
            </a:p>
          </p:txBody>
        </p:sp>
        <p:sp>
          <p:nvSpPr>
            <p:cNvPr id="6162" name="Rectangle 14"/>
            <p:cNvSpPr>
              <a:spLocks noChangeArrowheads="1"/>
            </p:cNvSpPr>
            <p:nvPr/>
          </p:nvSpPr>
          <p:spPr bwMode="auto">
            <a:xfrm>
              <a:off x="1421" y="3553"/>
              <a:ext cx="141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I</a:t>
              </a:r>
            </a:p>
          </p:txBody>
        </p:sp>
        <p:sp>
          <p:nvSpPr>
            <p:cNvPr id="6163" name="Line 15"/>
            <p:cNvSpPr>
              <a:spLocks noChangeShapeType="1"/>
            </p:cNvSpPr>
            <p:nvPr/>
          </p:nvSpPr>
          <p:spPr bwMode="auto">
            <a:xfrm>
              <a:off x="1552" y="3549"/>
              <a:ext cx="0" cy="15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64" name="Rectangle 16"/>
            <p:cNvSpPr>
              <a:spLocks noChangeArrowheads="1"/>
            </p:cNvSpPr>
            <p:nvPr/>
          </p:nvSpPr>
          <p:spPr bwMode="auto">
            <a:xfrm>
              <a:off x="1989" y="3420"/>
              <a:ext cx="21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11</a:t>
              </a:r>
            </a:p>
          </p:txBody>
        </p:sp>
        <p:sp>
          <p:nvSpPr>
            <p:cNvPr id="6165" name="Text Box 18"/>
            <p:cNvSpPr txBox="1">
              <a:spLocks noChangeArrowheads="1"/>
            </p:cNvSpPr>
            <p:nvPr/>
          </p:nvSpPr>
          <p:spPr bwMode="auto">
            <a:xfrm>
              <a:off x="1376" y="3828"/>
              <a:ext cx="58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ko-KR" sz="1200" b="1">
                  <a:latin typeface="Calibri" panose="020F0502020204030204" pitchFamily="34" charset="0"/>
                </a:rPr>
                <a:t>Addressing </a:t>
              </a:r>
            </a:p>
            <a:p>
              <a:pPr algn="ctr" eaLnBrk="1" hangingPunct="1"/>
              <a:r>
                <a:rPr lang="en-US" altLang="ko-KR" sz="1200" b="1">
                  <a:latin typeface="Calibri" panose="020F0502020204030204" pitchFamily="34" charset="0"/>
                </a:rPr>
                <a:t>mode</a:t>
              </a:r>
            </a:p>
          </p:txBody>
        </p:sp>
        <p:sp>
          <p:nvSpPr>
            <p:cNvPr id="6166" name="Line 19"/>
            <p:cNvSpPr>
              <a:spLocks noChangeShapeType="1"/>
            </p:cNvSpPr>
            <p:nvPr/>
          </p:nvSpPr>
          <p:spPr bwMode="auto">
            <a:xfrm flipH="1" flipV="1">
              <a:off x="1494" y="3708"/>
              <a:ext cx="72" cy="11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565956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172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74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Addressing Mode</a:t>
            </a:r>
          </a:p>
        </p:txBody>
      </p:sp>
      <p:sp>
        <p:nvSpPr>
          <p:cNvPr id="7175" name="Rectangle 4"/>
          <p:cNvSpPr txBox="1">
            <a:spLocks noChangeArrowheads="1"/>
          </p:cNvSpPr>
          <p:nvPr/>
        </p:nvSpPr>
        <p:spPr bwMode="auto">
          <a:xfrm>
            <a:off x="1800226" y="1174750"/>
            <a:ext cx="8639175" cy="537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000" b="1" dirty="0">
                <a:latin typeface="Calibri" panose="020F0502020204030204" pitchFamily="34" charset="0"/>
              </a:rPr>
              <a:t>The address field of an instruction can represent either</a:t>
            </a:r>
          </a:p>
          <a:p>
            <a:pPr lvl="1" eaLnBrk="1" hangingPunct="1">
              <a:lnSpc>
                <a:spcPct val="80000"/>
              </a:lnSpc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en-US" altLang="ko-KR" sz="1600" b="1" dirty="0">
                <a:latin typeface="Calibri" panose="020F0502020204030204" pitchFamily="34" charset="0"/>
              </a:rPr>
              <a:t>Direct address: the address in memory of the data to use (the address of the operand), or</a:t>
            </a:r>
          </a:p>
          <a:p>
            <a:pPr lvl="1" eaLnBrk="1" hangingPunct="1">
              <a:lnSpc>
                <a:spcPct val="80000"/>
              </a:lnSpc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en-US" altLang="ko-KR" sz="1600" b="1" dirty="0">
                <a:latin typeface="Calibri" panose="020F0502020204030204" pitchFamily="34" charset="0"/>
              </a:rPr>
              <a:t>Indirect address: the address in memory of the address in memory of the data to use </a:t>
            </a:r>
          </a:p>
          <a:p>
            <a:pPr lvl="1" eaLnBrk="1" hangingPunct="1">
              <a:lnSpc>
                <a:spcPct val="80000"/>
              </a:lnSpc>
              <a:spcBef>
                <a:spcPct val="20000"/>
              </a:spcBef>
              <a:buFont typeface="Arial" panose="020B0604020202020204" pitchFamily="34" charset="0"/>
              <a:buChar char="–"/>
            </a:pPr>
            <a:endParaRPr lang="en-US" altLang="ko-KR" sz="1600" b="1" dirty="0">
              <a:latin typeface="Calibri" panose="020F0502020204030204" pitchFamily="34" charset="0"/>
            </a:endParaRPr>
          </a:p>
          <a:p>
            <a:pPr lvl="1" eaLnBrk="1" hangingPunct="1">
              <a:lnSpc>
                <a:spcPct val="80000"/>
              </a:lnSpc>
              <a:spcBef>
                <a:spcPct val="20000"/>
              </a:spcBef>
              <a:buFont typeface="Arial" panose="020B0604020202020204" pitchFamily="34" charset="0"/>
              <a:buChar char="–"/>
            </a:pPr>
            <a:endParaRPr lang="en-US" altLang="ko-KR" sz="1600" b="1" dirty="0">
              <a:latin typeface="Calibri" panose="020F0502020204030204" pitchFamily="34" charset="0"/>
            </a:endParaRPr>
          </a:p>
          <a:p>
            <a:pPr lvl="1" eaLnBrk="1" hangingPunct="1">
              <a:lnSpc>
                <a:spcPct val="80000"/>
              </a:lnSpc>
              <a:spcBef>
                <a:spcPct val="20000"/>
              </a:spcBef>
              <a:buFont typeface="Arial" panose="020B0604020202020204" pitchFamily="34" charset="0"/>
              <a:buChar char="–"/>
            </a:pPr>
            <a:endParaRPr lang="en-US" altLang="ko-KR" sz="1600" b="1" dirty="0">
              <a:latin typeface="Calibri" panose="020F0502020204030204" pitchFamily="34" charset="0"/>
            </a:endParaRPr>
          </a:p>
          <a:p>
            <a:pPr lvl="1" eaLnBrk="1" hangingPunct="1">
              <a:lnSpc>
                <a:spcPct val="80000"/>
              </a:lnSpc>
              <a:spcBef>
                <a:spcPct val="20000"/>
              </a:spcBef>
              <a:buFont typeface="Arial" panose="020B0604020202020204" pitchFamily="34" charset="0"/>
              <a:buChar char="–"/>
            </a:pPr>
            <a:endParaRPr lang="en-US" altLang="ko-KR" sz="1600" b="1" dirty="0">
              <a:latin typeface="Calibri" panose="020F0502020204030204" pitchFamily="34" charset="0"/>
            </a:endParaRPr>
          </a:p>
          <a:p>
            <a:pPr lvl="1" eaLnBrk="1" hangingPunct="1">
              <a:lnSpc>
                <a:spcPct val="80000"/>
              </a:lnSpc>
              <a:spcBef>
                <a:spcPct val="20000"/>
              </a:spcBef>
              <a:buFont typeface="Arial" panose="020B0604020202020204" pitchFamily="34" charset="0"/>
              <a:buChar char="–"/>
            </a:pPr>
            <a:endParaRPr lang="en-US" altLang="ko-KR" sz="1600" b="1" dirty="0">
              <a:latin typeface="Calibri" panose="020F0502020204030204" pitchFamily="34" charset="0"/>
            </a:endParaRPr>
          </a:p>
          <a:p>
            <a:pPr lvl="1" eaLnBrk="1" hangingPunct="1">
              <a:lnSpc>
                <a:spcPct val="80000"/>
              </a:lnSpc>
              <a:spcBef>
                <a:spcPct val="20000"/>
              </a:spcBef>
              <a:buFont typeface="Arial" panose="020B0604020202020204" pitchFamily="34" charset="0"/>
              <a:buChar char="–"/>
            </a:pPr>
            <a:endParaRPr lang="en-US" altLang="ko-KR" sz="1600" b="1" dirty="0">
              <a:latin typeface="Calibri" panose="020F0502020204030204" pitchFamily="34" charset="0"/>
            </a:endParaRPr>
          </a:p>
          <a:p>
            <a:pPr lvl="1" eaLnBrk="1" hangingPunct="1">
              <a:lnSpc>
                <a:spcPct val="80000"/>
              </a:lnSpc>
              <a:spcBef>
                <a:spcPct val="20000"/>
              </a:spcBef>
              <a:buFont typeface="Arial" panose="020B0604020202020204" pitchFamily="34" charset="0"/>
              <a:buChar char="–"/>
            </a:pPr>
            <a:endParaRPr lang="en-US" altLang="ko-KR" sz="1600" b="1" dirty="0">
              <a:latin typeface="Calibri" panose="020F0502020204030204" pitchFamily="34" charset="0"/>
            </a:endParaRPr>
          </a:p>
          <a:p>
            <a:pPr lvl="1" eaLnBrk="1" hangingPunct="1">
              <a:lnSpc>
                <a:spcPct val="80000"/>
              </a:lnSpc>
              <a:spcBef>
                <a:spcPct val="20000"/>
              </a:spcBef>
              <a:buFont typeface="Arial" panose="020B0604020202020204" pitchFamily="34" charset="0"/>
              <a:buChar char="–"/>
            </a:pPr>
            <a:endParaRPr lang="en-US" altLang="ko-KR" sz="1600" b="1" dirty="0">
              <a:latin typeface="Calibri" panose="020F0502020204030204" pitchFamily="34" charset="0"/>
            </a:endParaRPr>
          </a:p>
          <a:p>
            <a:pPr lvl="1" eaLnBrk="1" hangingPunct="1">
              <a:lnSpc>
                <a:spcPct val="80000"/>
              </a:lnSpc>
              <a:spcBef>
                <a:spcPct val="20000"/>
              </a:spcBef>
              <a:buFont typeface="Arial" panose="020B0604020202020204" pitchFamily="34" charset="0"/>
              <a:buChar char="–"/>
            </a:pPr>
            <a:endParaRPr lang="en-US" altLang="ko-KR" sz="1600" b="1" dirty="0">
              <a:latin typeface="Calibri" panose="020F0502020204030204" pitchFamily="34" charset="0"/>
            </a:endParaRPr>
          </a:p>
          <a:p>
            <a:pPr lvl="1" eaLnBrk="1" hangingPunct="1">
              <a:lnSpc>
                <a:spcPct val="80000"/>
              </a:lnSpc>
              <a:spcBef>
                <a:spcPct val="20000"/>
              </a:spcBef>
              <a:buFont typeface="Arial" panose="020B0604020202020204" pitchFamily="34" charset="0"/>
              <a:buChar char="–"/>
            </a:pPr>
            <a:endParaRPr lang="en-US" altLang="ko-KR" sz="1600" b="1" dirty="0">
              <a:latin typeface="Calibri" panose="020F0502020204030204" pitchFamily="34" charset="0"/>
            </a:endParaRPr>
          </a:p>
          <a:p>
            <a:pPr lvl="1" eaLnBrk="1" hangingPunct="1">
              <a:lnSpc>
                <a:spcPct val="80000"/>
              </a:lnSpc>
              <a:spcBef>
                <a:spcPct val="20000"/>
              </a:spcBef>
              <a:buFont typeface="Arial" panose="020B0604020202020204" pitchFamily="34" charset="0"/>
              <a:buChar char="–"/>
            </a:pPr>
            <a:endParaRPr lang="en-US" altLang="ko-KR" sz="1600" b="1" dirty="0">
              <a:latin typeface="Calibri" panose="020F0502020204030204" pitchFamily="34" charset="0"/>
            </a:endParaRPr>
          </a:p>
          <a:p>
            <a:pPr lvl="1" eaLnBrk="1" hangingPunct="1">
              <a:lnSpc>
                <a:spcPct val="80000"/>
              </a:lnSpc>
              <a:spcBef>
                <a:spcPct val="20000"/>
              </a:spcBef>
              <a:buFont typeface="Arial" panose="020B0604020202020204" pitchFamily="34" charset="0"/>
              <a:buChar char="–"/>
            </a:pPr>
            <a:endParaRPr lang="en-US" altLang="ko-KR" sz="1600" b="1" dirty="0">
              <a:latin typeface="Calibri" panose="020F0502020204030204" pitchFamily="34" charset="0"/>
            </a:endParaRPr>
          </a:p>
          <a:p>
            <a:pPr lvl="1" eaLnBrk="1" hangingPunct="1">
              <a:lnSpc>
                <a:spcPct val="80000"/>
              </a:lnSpc>
              <a:spcBef>
                <a:spcPct val="20000"/>
              </a:spcBef>
              <a:buFont typeface="Arial" panose="020B0604020202020204" pitchFamily="34" charset="0"/>
              <a:buChar char="–"/>
            </a:pPr>
            <a:endParaRPr lang="en-US" altLang="ko-KR" sz="1600" b="1" dirty="0">
              <a:latin typeface="Calibri" panose="020F0502020204030204" pitchFamily="34" charset="0"/>
            </a:endParaRPr>
          </a:p>
          <a:p>
            <a:pPr lvl="1" eaLnBrk="1" hangingPunct="1">
              <a:lnSpc>
                <a:spcPct val="80000"/>
              </a:lnSpc>
              <a:spcBef>
                <a:spcPct val="20000"/>
              </a:spcBef>
              <a:buFont typeface="Arial" panose="020B0604020202020204" pitchFamily="34" charset="0"/>
              <a:buChar char="–"/>
            </a:pPr>
            <a:endParaRPr lang="en-US" altLang="ko-KR" sz="1600" b="1" dirty="0">
              <a:latin typeface="Calibri" panose="020F0502020204030204" pitchFamily="34" charset="0"/>
            </a:endParaRPr>
          </a:p>
          <a:p>
            <a:pPr lvl="1" eaLnBrk="1" hangingPunct="1">
              <a:lnSpc>
                <a:spcPct val="80000"/>
              </a:lnSpc>
              <a:spcBef>
                <a:spcPct val="20000"/>
              </a:spcBef>
            </a:pPr>
            <a:endParaRPr lang="en-US" altLang="ko-KR" sz="1600" b="1" dirty="0">
              <a:latin typeface="Calibri" panose="020F0502020204030204" pitchFamily="34" charset="0"/>
            </a:endParaRP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000" b="1" dirty="0">
                <a:latin typeface="Calibri" panose="020F0502020204030204" pitchFamily="34" charset="0"/>
              </a:rPr>
              <a:t>Effective Address (EA)</a:t>
            </a:r>
          </a:p>
          <a:p>
            <a:pPr lvl="1" eaLnBrk="1" hangingPunct="1">
              <a:lnSpc>
                <a:spcPct val="80000"/>
              </a:lnSpc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en-US" altLang="ko-KR" sz="1600" b="1" dirty="0">
                <a:latin typeface="Calibri" panose="020F0502020204030204" pitchFamily="34" charset="0"/>
              </a:rPr>
              <a:t>The address, that can be directly used without modification to access an operand for a computation-type instruction, or as the target address for a branch-type instruction</a:t>
            </a:r>
          </a:p>
        </p:txBody>
      </p:sp>
      <p:grpSp>
        <p:nvGrpSpPr>
          <p:cNvPr id="7176" name="Group 80"/>
          <p:cNvGrpSpPr>
            <a:grpSpLocks/>
          </p:cNvGrpSpPr>
          <p:nvPr/>
        </p:nvGrpSpPr>
        <p:grpSpPr bwMode="auto">
          <a:xfrm>
            <a:off x="4918075" y="2041525"/>
            <a:ext cx="4972050" cy="3378200"/>
            <a:chOff x="830" y="1178"/>
            <a:chExt cx="3132" cy="2128"/>
          </a:xfrm>
        </p:grpSpPr>
        <p:sp>
          <p:nvSpPr>
            <p:cNvPr id="7177" name="Line 20"/>
            <p:cNvSpPr>
              <a:spLocks noChangeShapeType="1"/>
            </p:cNvSpPr>
            <p:nvPr/>
          </p:nvSpPr>
          <p:spPr bwMode="auto">
            <a:xfrm>
              <a:off x="1118" y="1521"/>
              <a:ext cx="111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8" name="Rectangle 21"/>
            <p:cNvSpPr>
              <a:spLocks noChangeArrowheads="1"/>
            </p:cNvSpPr>
            <p:nvPr/>
          </p:nvSpPr>
          <p:spPr bwMode="auto">
            <a:xfrm>
              <a:off x="1100" y="1384"/>
              <a:ext cx="165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>
                  <a:solidFill>
                    <a:srgbClr val="000000"/>
                  </a:solidFill>
                  <a:latin typeface="Calibri" panose="020F0502020204030204" pitchFamily="34" charset="0"/>
                </a:rPr>
                <a:t>0</a:t>
              </a:r>
            </a:p>
          </p:txBody>
        </p:sp>
        <p:sp>
          <p:nvSpPr>
            <p:cNvPr id="7179" name="Line 22"/>
            <p:cNvSpPr>
              <a:spLocks noChangeShapeType="1"/>
            </p:cNvSpPr>
            <p:nvPr/>
          </p:nvSpPr>
          <p:spPr bwMode="auto">
            <a:xfrm>
              <a:off x="1249" y="1416"/>
              <a:ext cx="0" cy="11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80" name="Rectangle 23"/>
            <p:cNvSpPr>
              <a:spLocks noChangeArrowheads="1"/>
            </p:cNvSpPr>
            <p:nvPr/>
          </p:nvSpPr>
          <p:spPr bwMode="auto">
            <a:xfrm>
              <a:off x="1236" y="1384"/>
              <a:ext cx="291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>
                  <a:solidFill>
                    <a:srgbClr val="000000"/>
                  </a:solidFill>
                  <a:latin typeface="Calibri" panose="020F0502020204030204" pitchFamily="34" charset="0"/>
                </a:rPr>
                <a:t>ADD</a:t>
              </a:r>
            </a:p>
          </p:txBody>
        </p:sp>
        <p:sp>
          <p:nvSpPr>
            <p:cNvPr id="7181" name="Rectangle 24"/>
            <p:cNvSpPr>
              <a:spLocks noChangeArrowheads="1"/>
            </p:cNvSpPr>
            <p:nvPr/>
          </p:nvSpPr>
          <p:spPr bwMode="auto">
            <a:xfrm>
              <a:off x="1778" y="1390"/>
              <a:ext cx="26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>
                  <a:solidFill>
                    <a:srgbClr val="000000"/>
                  </a:solidFill>
                  <a:latin typeface="Calibri" panose="020F0502020204030204" pitchFamily="34" charset="0"/>
                </a:rPr>
                <a:t>457</a:t>
              </a:r>
            </a:p>
          </p:txBody>
        </p:sp>
        <p:sp>
          <p:nvSpPr>
            <p:cNvPr id="7182" name="Line 25"/>
            <p:cNvSpPr>
              <a:spLocks noChangeShapeType="1"/>
            </p:cNvSpPr>
            <p:nvPr/>
          </p:nvSpPr>
          <p:spPr bwMode="auto">
            <a:xfrm>
              <a:off x="1568" y="1416"/>
              <a:ext cx="0" cy="10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83" name="Rectangle 26"/>
            <p:cNvSpPr>
              <a:spLocks noChangeArrowheads="1"/>
            </p:cNvSpPr>
            <p:nvPr/>
          </p:nvSpPr>
          <p:spPr bwMode="auto">
            <a:xfrm>
              <a:off x="870" y="1414"/>
              <a:ext cx="21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>
                  <a:solidFill>
                    <a:srgbClr val="000000"/>
                  </a:solidFill>
                  <a:latin typeface="Calibri" panose="020F0502020204030204" pitchFamily="34" charset="0"/>
                </a:rPr>
                <a:t>22</a:t>
              </a:r>
            </a:p>
          </p:txBody>
        </p:sp>
        <p:sp>
          <p:nvSpPr>
            <p:cNvPr id="7184" name="Line 27"/>
            <p:cNvSpPr>
              <a:spLocks noChangeShapeType="1"/>
            </p:cNvSpPr>
            <p:nvPr/>
          </p:nvSpPr>
          <p:spPr bwMode="auto">
            <a:xfrm>
              <a:off x="1118" y="1957"/>
              <a:ext cx="111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85" name="Line 28"/>
            <p:cNvSpPr>
              <a:spLocks noChangeShapeType="1"/>
            </p:cNvSpPr>
            <p:nvPr/>
          </p:nvSpPr>
          <p:spPr bwMode="auto">
            <a:xfrm>
              <a:off x="1118" y="2065"/>
              <a:ext cx="111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86" name="Rectangle 29"/>
            <p:cNvSpPr>
              <a:spLocks noChangeArrowheads="1"/>
            </p:cNvSpPr>
            <p:nvPr/>
          </p:nvSpPr>
          <p:spPr bwMode="auto">
            <a:xfrm>
              <a:off x="1367" y="1934"/>
              <a:ext cx="457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>
                  <a:solidFill>
                    <a:srgbClr val="000000"/>
                  </a:solidFill>
                  <a:latin typeface="Calibri" panose="020F0502020204030204" pitchFamily="34" charset="0"/>
                </a:rPr>
                <a:t>Operand</a:t>
              </a:r>
            </a:p>
          </p:txBody>
        </p:sp>
        <p:sp>
          <p:nvSpPr>
            <p:cNvPr id="7187" name="Rectangle 30"/>
            <p:cNvSpPr>
              <a:spLocks noChangeArrowheads="1"/>
            </p:cNvSpPr>
            <p:nvPr/>
          </p:nvSpPr>
          <p:spPr bwMode="auto">
            <a:xfrm>
              <a:off x="830" y="1958"/>
              <a:ext cx="26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>
                  <a:solidFill>
                    <a:srgbClr val="000000"/>
                  </a:solidFill>
                  <a:latin typeface="Calibri" panose="020F0502020204030204" pitchFamily="34" charset="0"/>
                </a:rPr>
                <a:t>457</a:t>
              </a:r>
            </a:p>
          </p:txBody>
        </p:sp>
        <p:grpSp>
          <p:nvGrpSpPr>
            <p:cNvPr id="7188" name="Group 31"/>
            <p:cNvGrpSpPr>
              <a:grpSpLocks/>
            </p:cNvGrpSpPr>
            <p:nvPr/>
          </p:nvGrpSpPr>
          <p:grpSpPr bwMode="auto">
            <a:xfrm>
              <a:off x="1118" y="2472"/>
              <a:ext cx="1115" cy="57"/>
              <a:chOff x="937" y="3785"/>
              <a:chExt cx="1119" cy="71"/>
            </a:xfrm>
          </p:grpSpPr>
          <p:sp>
            <p:nvSpPr>
              <p:cNvPr id="7233" name="Arc 32"/>
              <p:cNvSpPr>
                <a:spLocks/>
              </p:cNvSpPr>
              <p:nvPr/>
            </p:nvSpPr>
            <p:spPr bwMode="auto">
              <a:xfrm>
                <a:off x="937" y="3785"/>
                <a:ext cx="312" cy="3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0" y="21600"/>
                    </a:moveTo>
                    <a:cubicBezTo>
                      <a:pt x="0" y="9697"/>
                      <a:pt x="9628" y="38"/>
                      <a:pt x="21531" y="0"/>
                    </a:cubicBezTo>
                  </a:path>
                  <a:path w="21600" h="21600" stroke="0" extrusionOk="0">
                    <a:moveTo>
                      <a:pt x="0" y="21600"/>
                    </a:moveTo>
                    <a:cubicBezTo>
                      <a:pt x="0" y="9697"/>
                      <a:pt x="9628" y="38"/>
                      <a:pt x="21531" y="0"/>
                    </a:cubicBez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7234" name="Arc 33"/>
              <p:cNvSpPr>
                <a:spLocks/>
              </p:cNvSpPr>
              <p:nvPr/>
            </p:nvSpPr>
            <p:spPr bwMode="auto">
              <a:xfrm>
                <a:off x="1247" y="3785"/>
                <a:ext cx="265" cy="36"/>
              </a:xfrm>
              <a:custGeom>
                <a:avLst/>
                <a:gdLst>
                  <a:gd name="T0" fmla="*/ 0 w 21682"/>
                  <a:gd name="T1" fmla="*/ 0 h 21600"/>
                  <a:gd name="T2" fmla="*/ 0 w 21682"/>
                  <a:gd name="T3" fmla="*/ 0 h 21600"/>
                  <a:gd name="T4" fmla="*/ 0 w 21682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82"/>
                  <a:gd name="T10" fmla="*/ 0 h 21600"/>
                  <a:gd name="T11" fmla="*/ 21682 w 21682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82" h="21600" fill="none" extrusionOk="0">
                    <a:moveTo>
                      <a:pt x="0" y="0"/>
                    </a:moveTo>
                    <a:cubicBezTo>
                      <a:pt x="27" y="0"/>
                      <a:pt x="54" y="-1"/>
                      <a:pt x="82" y="0"/>
                    </a:cubicBezTo>
                    <a:cubicBezTo>
                      <a:pt x="12011" y="0"/>
                      <a:pt x="21682" y="9670"/>
                      <a:pt x="21682" y="21600"/>
                    </a:cubicBezTo>
                  </a:path>
                  <a:path w="21682" h="21600" stroke="0" extrusionOk="0">
                    <a:moveTo>
                      <a:pt x="0" y="0"/>
                    </a:moveTo>
                    <a:cubicBezTo>
                      <a:pt x="27" y="0"/>
                      <a:pt x="54" y="-1"/>
                      <a:pt x="82" y="0"/>
                    </a:cubicBezTo>
                    <a:cubicBezTo>
                      <a:pt x="12011" y="0"/>
                      <a:pt x="21682" y="9670"/>
                      <a:pt x="21682" y="21600"/>
                    </a:cubicBezTo>
                    <a:lnTo>
                      <a:pt x="82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7235" name="Arc 34"/>
              <p:cNvSpPr>
                <a:spLocks/>
              </p:cNvSpPr>
              <p:nvPr/>
            </p:nvSpPr>
            <p:spPr bwMode="auto">
              <a:xfrm>
                <a:off x="1529" y="3820"/>
                <a:ext cx="264" cy="3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21600" y="21600"/>
                    </a:moveTo>
                    <a:cubicBezTo>
                      <a:pt x="9670" y="21600"/>
                      <a:pt x="0" y="11929"/>
                      <a:pt x="0" y="0"/>
                    </a:cubicBezTo>
                  </a:path>
                  <a:path w="21600" h="21600" stroke="0" extrusionOk="0">
                    <a:moveTo>
                      <a:pt x="21600" y="21600"/>
                    </a:moveTo>
                    <a:cubicBezTo>
                      <a:pt x="9670" y="21600"/>
                      <a:pt x="0" y="11929"/>
                      <a:pt x="0" y="0"/>
                    </a:cubicBezTo>
                    <a:lnTo>
                      <a:pt x="21600" y="0"/>
                    </a:lnTo>
                    <a:lnTo>
                      <a:pt x="21600" y="2160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7236" name="Arc 35"/>
              <p:cNvSpPr>
                <a:spLocks/>
              </p:cNvSpPr>
              <p:nvPr/>
            </p:nvSpPr>
            <p:spPr bwMode="auto">
              <a:xfrm>
                <a:off x="1792" y="3820"/>
                <a:ext cx="264" cy="3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</a:path>
                  <a:path w="21600" h="21600" stroke="0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  <a:lnTo>
                      <a:pt x="0" y="0"/>
                    </a:lnTo>
                    <a:lnTo>
                      <a:pt x="21600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7189" name="Line 36"/>
            <p:cNvSpPr>
              <a:spLocks noChangeShapeType="1"/>
            </p:cNvSpPr>
            <p:nvPr/>
          </p:nvSpPr>
          <p:spPr bwMode="auto">
            <a:xfrm>
              <a:off x="1113" y="1416"/>
              <a:ext cx="0" cy="1074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90" name="Freeform 37"/>
            <p:cNvSpPr>
              <a:spLocks/>
            </p:cNvSpPr>
            <p:nvPr/>
          </p:nvSpPr>
          <p:spPr bwMode="auto">
            <a:xfrm>
              <a:off x="1110" y="1409"/>
              <a:ext cx="1131" cy="1089"/>
            </a:xfrm>
            <a:custGeom>
              <a:avLst/>
              <a:gdLst>
                <a:gd name="T0" fmla="*/ 0 w 1137"/>
                <a:gd name="T1" fmla="*/ 0 h 1361"/>
                <a:gd name="T2" fmla="*/ 1100 w 1137"/>
                <a:gd name="T3" fmla="*/ 0 h 1361"/>
                <a:gd name="T4" fmla="*/ 1100 w 1137"/>
                <a:gd name="T5" fmla="*/ 357 h 1361"/>
                <a:gd name="T6" fmla="*/ 0 60000 65536"/>
                <a:gd name="T7" fmla="*/ 0 60000 65536"/>
                <a:gd name="T8" fmla="*/ 0 60000 65536"/>
                <a:gd name="T9" fmla="*/ 0 w 1137"/>
                <a:gd name="T10" fmla="*/ 0 h 1361"/>
                <a:gd name="T11" fmla="*/ 1137 w 1137"/>
                <a:gd name="T12" fmla="*/ 1361 h 13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37" h="1361">
                  <a:moveTo>
                    <a:pt x="0" y="0"/>
                  </a:moveTo>
                  <a:lnTo>
                    <a:pt x="1136" y="0"/>
                  </a:lnTo>
                  <a:lnTo>
                    <a:pt x="1136" y="1360"/>
                  </a:lnTo>
                </a:path>
              </a:pathLst>
            </a:custGeom>
            <a:noFill/>
            <a:ln w="254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7191" name="Line 38"/>
            <p:cNvSpPr>
              <a:spLocks noChangeShapeType="1"/>
            </p:cNvSpPr>
            <p:nvPr/>
          </p:nvSpPr>
          <p:spPr bwMode="auto">
            <a:xfrm>
              <a:off x="2838" y="1521"/>
              <a:ext cx="111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92" name="Rectangle 39"/>
            <p:cNvSpPr>
              <a:spLocks noChangeArrowheads="1"/>
            </p:cNvSpPr>
            <p:nvPr/>
          </p:nvSpPr>
          <p:spPr bwMode="auto">
            <a:xfrm>
              <a:off x="2812" y="1384"/>
              <a:ext cx="165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>
                  <a:solidFill>
                    <a:srgbClr val="000000"/>
                  </a:solidFill>
                  <a:latin typeface="Calibri" panose="020F0502020204030204" pitchFamily="34" charset="0"/>
                </a:rPr>
                <a:t>1</a:t>
              </a:r>
            </a:p>
          </p:txBody>
        </p:sp>
        <p:sp>
          <p:nvSpPr>
            <p:cNvPr id="7193" name="Line 40"/>
            <p:cNvSpPr>
              <a:spLocks noChangeShapeType="1"/>
            </p:cNvSpPr>
            <p:nvPr/>
          </p:nvSpPr>
          <p:spPr bwMode="auto">
            <a:xfrm>
              <a:off x="2969" y="1404"/>
              <a:ext cx="0" cy="11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94" name="Rectangle 41"/>
            <p:cNvSpPr>
              <a:spLocks noChangeArrowheads="1"/>
            </p:cNvSpPr>
            <p:nvPr/>
          </p:nvSpPr>
          <p:spPr bwMode="auto">
            <a:xfrm>
              <a:off x="2948" y="1384"/>
              <a:ext cx="291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>
                  <a:solidFill>
                    <a:srgbClr val="000000"/>
                  </a:solidFill>
                  <a:latin typeface="Calibri" panose="020F0502020204030204" pitchFamily="34" charset="0"/>
                </a:rPr>
                <a:t>ADD</a:t>
              </a:r>
            </a:p>
          </p:txBody>
        </p:sp>
        <p:sp>
          <p:nvSpPr>
            <p:cNvPr id="7195" name="Rectangle 42"/>
            <p:cNvSpPr>
              <a:spLocks noChangeArrowheads="1"/>
            </p:cNvSpPr>
            <p:nvPr/>
          </p:nvSpPr>
          <p:spPr bwMode="auto">
            <a:xfrm>
              <a:off x="3490" y="1390"/>
              <a:ext cx="26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>
                  <a:solidFill>
                    <a:srgbClr val="000000"/>
                  </a:solidFill>
                  <a:latin typeface="Calibri" panose="020F0502020204030204" pitchFamily="34" charset="0"/>
                </a:rPr>
                <a:t>300</a:t>
              </a:r>
            </a:p>
          </p:txBody>
        </p:sp>
        <p:sp>
          <p:nvSpPr>
            <p:cNvPr id="7196" name="Line 43"/>
            <p:cNvSpPr>
              <a:spLocks noChangeShapeType="1"/>
            </p:cNvSpPr>
            <p:nvPr/>
          </p:nvSpPr>
          <p:spPr bwMode="auto">
            <a:xfrm>
              <a:off x="3280" y="1404"/>
              <a:ext cx="0" cy="114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97" name="Rectangle 44"/>
            <p:cNvSpPr>
              <a:spLocks noChangeArrowheads="1"/>
            </p:cNvSpPr>
            <p:nvPr/>
          </p:nvSpPr>
          <p:spPr bwMode="auto">
            <a:xfrm>
              <a:off x="2600" y="1390"/>
              <a:ext cx="21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>
                  <a:solidFill>
                    <a:srgbClr val="000000"/>
                  </a:solidFill>
                  <a:latin typeface="Calibri" panose="020F0502020204030204" pitchFamily="34" charset="0"/>
                </a:rPr>
                <a:t>35</a:t>
              </a:r>
            </a:p>
          </p:txBody>
        </p:sp>
        <p:sp>
          <p:nvSpPr>
            <p:cNvPr id="7198" name="Line 45"/>
            <p:cNvSpPr>
              <a:spLocks noChangeShapeType="1"/>
            </p:cNvSpPr>
            <p:nvPr/>
          </p:nvSpPr>
          <p:spPr bwMode="auto">
            <a:xfrm>
              <a:off x="2838" y="1740"/>
              <a:ext cx="111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99" name="Line 46"/>
            <p:cNvSpPr>
              <a:spLocks noChangeShapeType="1"/>
            </p:cNvSpPr>
            <p:nvPr/>
          </p:nvSpPr>
          <p:spPr bwMode="auto">
            <a:xfrm>
              <a:off x="2838" y="1848"/>
              <a:ext cx="111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00" name="Rectangle 47"/>
            <p:cNvSpPr>
              <a:spLocks noChangeArrowheads="1"/>
            </p:cNvSpPr>
            <p:nvPr/>
          </p:nvSpPr>
          <p:spPr bwMode="auto">
            <a:xfrm>
              <a:off x="3219" y="1717"/>
              <a:ext cx="313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>
                  <a:solidFill>
                    <a:srgbClr val="000000"/>
                  </a:solidFill>
                  <a:latin typeface="Calibri" panose="020F0502020204030204" pitchFamily="34" charset="0"/>
                </a:rPr>
                <a:t>1350</a:t>
              </a:r>
            </a:p>
          </p:txBody>
        </p:sp>
        <p:sp>
          <p:nvSpPr>
            <p:cNvPr id="7201" name="Rectangle 48"/>
            <p:cNvSpPr>
              <a:spLocks noChangeArrowheads="1"/>
            </p:cNvSpPr>
            <p:nvPr/>
          </p:nvSpPr>
          <p:spPr bwMode="auto">
            <a:xfrm>
              <a:off x="2541" y="1723"/>
              <a:ext cx="26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>
                  <a:solidFill>
                    <a:srgbClr val="000000"/>
                  </a:solidFill>
                  <a:latin typeface="Calibri" panose="020F0502020204030204" pitchFamily="34" charset="0"/>
                </a:rPr>
                <a:t>300</a:t>
              </a:r>
            </a:p>
          </p:txBody>
        </p:sp>
        <p:grpSp>
          <p:nvGrpSpPr>
            <p:cNvPr id="7202" name="Group 49"/>
            <p:cNvGrpSpPr>
              <a:grpSpLocks/>
            </p:cNvGrpSpPr>
            <p:nvPr/>
          </p:nvGrpSpPr>
          <p:grpSpPr bwMode="auto">
            <a:xfrm>
              <a:off x="2841" y="2472"/>
              <a:ext cx="1115" cy="57"/>
              <a:chOff x="2665" y="3785"/>
              <a:chExt cx="1119" cy="71"/>
            </a:xfrm>
          </p:grpSpPr>
          <p:sp>
            <p:nvSpPr>
              <p:cNvPr id="7229" name="Arc 50"/>
              <p:cNvSpPr>
                <a:spLocks/>
              </p:cNvSpPr>
              <p:nvPr/>
            </p:nvSpPr>
            <p:spPr bwMode="auto">
              <a:xfrm>
                <a:off x="2665" y="3785"/>
                <a:ext cx="308" cy="3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0" y="21600"/>
                    </a:moveTo>
                    <a:cubicBezTo>
                      <a:pt x="0" y="9697"/>
                      <a:pt x="9628" y="38"/>
                      <a:pt x="21530" y="0"/>
                    </a:cubicBezTo>
                  </a:path>
                  <a:path w="21600" h="21600" stroke="0" extrusionOk="0">
                    <a:moveTo>
                      <a:pt x="0" y="21600"/>
                    </a:moveTo>
                    <a:cubicBezTo>
                      <a:pt x="0" y="9697"/>
                      <a:pt x="9628" y="38"/>
                      <a:pt x="21530" y="0"/>
                    </a:cubicBez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7230" name="Arc 51"/>
              <p:cNvSpPr>
                <a:spLocks/>
              </p:cNvSpPr>
              <p:nvPr/>
            </p:nvSpPr>
            <p:spPr bwMode="auto">
              <a:xfrm>
                <a:off x="2967" y="3785"/>
                <a:ext cx="265" cy="36"/>
              </a:xfrm>
              <a:custGeom>
                <a:avLst/>
                <a:gdLst>
                  <a:gd name="T0" fmla="*/ 0 w 21682"/>
                  <a:gd name="T1" fmla="*/ 0 h 21600"/>
                  <a:gd name="T2" fmla="*/ 0 w 21682"/>
                  <a:gd name="T3" fmla="*/ 0 h 21600"/>
                  <a:gd name="T4" fmla="*/ 0 w 21682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82"/>
                  <a:gd name="T10" fmla="*/ 0 h 21600"/>
                  <a:gd name="T11" fmla="*/ 21682 w 21682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82" h="21600" fill="none" extrusionOk="0">
                    <a:moveTo>
                      <a:pt x="0" y="0"/>
                    </a:moveTo>
                    <a:cubicBezTo>
                      <a:pt x="27" y="0"/>
                      <a:pt x="54" y="-1"/>
                      <a:pt x="82" y="0"/>
                    </a:cubicBezTo>
                    <a:cubicBezTo>
                      <a:pt x="12011" y="0"/>
                      <a:pt x="21682" y="9670"/>
                      <a:pt x="21682" y="21600"/>
                    </a:cubicBezTo>
                  </a:path>
                  <a:path w="21682" h="21600" stroke="0" extrusionOk="0">
                    <a:moveTo>
                      <a:pt x="0" y="0"/>
                    </a:moveTo>
                    <a:cubicBezTo>
                      <a:pt x="27" y="0"/>
                      <a:pt x="54" y="-1"/>
                      <a:pt x="82" y="0"/>
                    </a:cubicBezTo>
                    <a:cubicBezTo>
                      <a:pt x="12011" y="0"/>
                      <a:pt x="21682" y="9670"/>
                      <a:pt x="21682" y="21600"/>
                    </a:cubicBezTo>
                    <a:lnTo>
                      <a:pt x="82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7231" name="Arc 52"/>
              <p:cNvSpPr>
                <a:spLocks/>
              </p:cNvSpPr>
              <p:nvPr/>
            </p:nvSpPr>
            <p:spPr bwMode="auto">
              <a:xfrm>
                <a:off x="3249" y="3820"/>
                <a:ext cx="268" cy="3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21600" y="21600"/>
                    </a:moveTo>
                    <a:cubicBezTo>
                      <a:pt x="9670" y="21600"/>
                      <a:pt x="0" y="11929"/>
                      <a:pt x="0" y="0"/>
                    </a:cubicBezTo>
                  </a:path>
                  <a:path w="21600" h="21600" stroke="0" extrusionOk="0">
                    <a:moveTo>
                      <a:pt x="21600" y="21600"/>
                    </a:moveTo>
                    <a:cubicBezTo>
                      <a:pt x="9670" y="21600"/>
                      <a:pt x="0" y="11929"/>
                      <a:pt x="0" y="0"/>
                    </a:cubicBezTo>
                    <a:lnTo>
                      <a:pt x="21600" y="0"/>
                    </a:lnTo>
                    <a:lnTo>
                      <a:pt x="21600" y="2160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7232" name="Arc 53"/>
              <p:cNvSpPr>
                <a:spLocks/>
              </p:cNvSpPr>
              <p:nvPr/>
            </p:nvSpPr>
            <p:spPr bwMode="auto">
              <a:xfrm>
                <a:off x="3516" y="3820"/>
                <a:ext cx="268" cy="3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</a:path>
                  <a:path w="21600" h="21600" stroke="0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  <a:lnTo>
                      <a:pt x="0" y="0"/>
                    </a:lnTo>
                    <a:lnTo>
                      <a:pt x="21600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7203" name="Line 54"/>
            <p:cNvSpPr>
              <a:spLocks noChangeShapeType="1"/>
            </p:cNvSpPr>
            <p:nvPr/>
          </p:nvSpPr>
          <p:spPr bwMode="auto">
            <a:xfrm>
              <a:off x="2834" y="1416"/>
              <a:ext cx="0" cy="1074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04" name="Freeform 55"/>
            <p:cNvSpPr>
              <a:spLocks/>
            </p:cNvSpPr>
            <p:nvPr/>
          </p:nvSpPr>
          <p:spPr bwMode="auto">
            <a:xfrm>
              <a:off x="2830" y="1409"/>
              <a:ext cx="1132" cy="1089"/>
            </a:xfrm>
            <a:custGeom>
              <a:avLst/>
              <a:gdLst>
                <a:gd name="T0" fmla="*/ 0 w 1137"/>
                <a:gd name="T1" fmla="*/ 0 h 1361"/>
                <a:gd name="T2" fmla="*/ 1106 w 1137"/>
                <a:gd name="T3" fmla="*/ 0 h 1361"/>
                <a:gd name="T4" fmla="*/ 1106 w 1137"/>
                <a:gd name="T5" fmla="*/ 357 h 1361"/>
                <a:gd name="T6" fmla="*/ 0 60000 65536"/>
                <a:gd name="T7" fmla="*/ 0 60000 65536"/>
                <a:gd name="T8" fmla="*/ 0 60000 65536"/>
                <a:gd name="T9" fmla="*/ 0 w 1137"/>
                <a:gd name="T10" fmla="*/ 0 h 1361"/>
                <a:gd name="T11" fmla="*/ 1137 w 1137"/>
                <a:gd name="T12" fmla="*/ 1361 h 13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37" h="1361">
                  <a:moveTo>
                    <a:pt x="0" y="0"/>
                  </a:moveTo>
                  <a:lnTo>
                    <a:pt x="1136" y="0"/>
                  </a:lnTo>
                  <a:lnTo>
                    <a:pt x="1136" y="1360"/>
                  </a:lnTo>
                </a:path>
              </a:pathLst>
            </a:custGeom>
            <a:noFill/>
            <a:ln w="254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7205" name="Line 56"/>
            <p:cNvSpPr>
              <a:spLocks noChangeShapeType="1"/>
            </p:cNvSpPr>
            <p:nvPr/>
          </p:nvSpPr>
          <p:spPr bwMode="auto">
            <a:xfrm>
              <a:off x="2838" y="2141"/>
              <a:ext cx="111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06" name="Line 57"/>
            <p:cNvSpPr>
              <a:spLocks noChangeShapeType="1"/>
            </p:cNvSpPr>
            <p:nvPr/>
          </p:nvSpPr>
          <p:spPr bwMode="auto">
            <a:xfrm>
              <a:off x="2838" y="2251"/>
              <a:ext cx="111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07" name="Rectangle 58"/>
            <p:cNvSpPr>
              <a:spLocks noChangeArrowheads="1"/>
            </p:cNvSpPr>
            <p:nvPr/>
          </p:nvSpPr>
          <p:spPr bwMode="auto">
            <a:xfrm>
              <a:off x="3074" y="2125"/>
              <a:ext cx="457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>
                  <a:solidFill>
                    <a:srgbClr val="000000"/>
                  </a:solidFill>
                  <a:latin typeface="Calibri" panose="020F0502020204030204" pitchFamily="34" charset="0"/>
                </a:rPr>
                <a:t>Operand</a:t>
              </a:r>
            </a:p>
          </p:txBody>
        </p:sp>
        <p:sp>
          <p:nvSpPr>
            <p:cNvPr id="7208" name="Rectangle 59"/>
            <p:cNvSpPr>
              <a:spLocks noChangeArrowheads="1"/>
            </p:cNvSpPr>
            <p:nvPr/>
          </p:nvSpPr>
          <p:spPr bwMode="auto">
            <a:xfrm>
              <a:off x="2508" y="2125"/>
              <a:ext cx="313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>
                  <a:solidFill>
                    <a:srgbClr val="000000"/>
                  </a:solidFill>
                  <a:latin typeface="Calibri" panose="020F0502020204030204" pitchFamily="34" charset="0"/>
                </a:rPr>
                <a:t>1350</a:t>
              </a:r>
            </a:p>
          </p:txBody>
        </p:sp>
        <p:sp>
          <p:nvSpPr>
            <p:cNvPr id="7209" name="Oval 60"/>
            <p:cNvSpPr>
              <a:spLocks noChangeArrowheads="1"/>
            </p:cNvSpPr>
            <p:nvPr/>
          </p:nvSpPr>
          <p:spPr bwMode="auto">
            <a:xfrm>
              <a:off x="1571" y="2689"/>
              <a:ext cx="207" cy="166"/>
            </a:xfrm>
            <a:prstGeom prst="ellips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200">
                <a:latin typeface="Calibri" panose="020F0502020204030204" pitchFamily="34" charset="0"/>
              </a:endParaRPr>
            </a:p>
          </p:txBody>
        </p:sp>
        <p:sp>
          <p:nvSpPr>
            <p:cNvPr id="7210" name="Rectangle 61"/>
            <p:cNvSpPr>
              <a:spLocks noChangeArrowheads="1"/>
            </p:cNvSpPr>
            <p:nvPr/>
          </p:nvSpPr>
          <p:spPr bwMode="auto">
            <a:xfrm>
              <a:off x="1571" y="2659"/>
              <a:ext cx="18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600">
                  <a:solidFill>
                    <a:srgbClr val="000000"/>
                  </a:solidFill>
                  <a:latin typeface="Calibri" panose="020F0502020204030204" pitchFamily="34" charset="0"/>
                </a:rPr>
                <a:t>+</a:t>
              </a:r>
            </a:p>
          </p:txBody>
        </p:sp>
        <p:sp>
          <p:nvSpPr>
            <p:cNvPr id="7211" name="Rectangle 62"/>
            <p:cNvSpPr>
              <a:spLocks noChangeArrowheads="1"/>
            </p:cNvSpPr>
            <p:nvPr/>
          </p:nvSpPr>
          <p:spPr bwMode="auto">
            <a:xfrm>
              <a:off x="1118" y="3054"/>
              <a:ext cx="1115" cy="12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200">
                <a:latin typeface="Calibri" panose="020F0502020204030204" pitchFamily="34" charset="0"/>
              </a:endParaRPr>
            </a:p>
          </p:txBody>
        </p:sp>
        <p:sp>
          <p:nvSpPr>
            <p:cNvPr id="7212" name="Rectangle 63"/>
            <p:cNvSpPr>
              <a:spLocks noChangeArrowheads="1"/>
            </p:cNvSpPr>
            <p:nvPr/>
          </p:nvSpPr>
          <p:spPr bwMode="auto">
            <a:xfrm>
              <a:off x="1525" y="3028"/>
              <a:ext cx="22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>
                  <a:solidFill>
                    <a:srgbClr val="000000"/>
                  </a:solidFill>
                  <a:latin typeface="Calibri" panose="020F0502020204030204" pitchFamily="34" charset="0"/>
                </a:rPr>
                <a:t>AC</a:t>
              </a:r>
            </a:p>
          </p:txBody>
        </p:sp>
        <p:sp>
          <p:nvSpPr>
            <p:cNvPr id="7213" name="Freeform 64"/>
            <p:cNvSpPr>
              <a:spLocks/>
            </p:cNvSpPr>
            <p:nvPr/>
          </p:nvSpPr>
          <p:spPr bwMode="auto">
            <a:xfrm>
              <a:off x="905" y="3179"/>
              <a:ext cx="766" cy="110"/>
            </a:xfrm>
            <a:custGeom>
              <a:avLst/>
              <a:gdLst>
                <a:gd name="T0" fmla="*/ 750 w 769"/>
                <a:gd name="T1" fmla="*/ 0 h 137"/>
                <a:gd name="T2" fmla="*/ 750 w 769"/>
                <a:gd name="T3" fmla="*/ 37 h 137"/>
                <a:gd name="T4" fmla="*/ 0 w 769"/>
                <a:gd name="T5" fmla="*/ 37 h 137"/>
                <a:gd name="T6" fmla="*/ 0 60000 65536"/>
                <a:gd name="T7" fmla="*/ 0 60000 65536"/>
                <a:gd name="T8" fmla="*/ 0 60000 65536"/>
                <a:gd name="T9" fmla="*/ 0 w 769"/>
                <a:gd name="T10" fmla="*/ 0 h 137"/>
                <a:gd name="T11" fmla="*/ 769 w 769"/>
                <a:gd name="T12" fmla="*/ 137 h 13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69" h="137">
                  <a:moveTo>
                    <a:pt x="768" y="0"/>
                  </a:moveTo>
                  <a:lnTo>
                    <a:pt x="768" y="136"/>
                  </a:lnTo>
                  <a:lnTo>
                    <a:pt x="0" y="136"/>
                  </a:lnTo>
                </a:path>
              </a:pathLst>
            </a:custGeom>
            <a:noFill/>
            <a:ln w="254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7214" name="Line 65"/>
            <p:cNvSpPr>
              <a:spLocks noChangeShapeType="1"/>
            </p:cNvSpPr>
            <p:nvPr/>
          </p:nvSpPr>
          <p:spPr bwMode="auto">
            <a:xfrm>
              <a:off x="902" y="2797"/>
              <a:ext cx="0" cy="50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15" name="Line 66"/>
            <p:cNvSpPr>
              <a:spLocks noChangeShapeType="1"/>
            </p:cNvSpPr>
            <p:nvPr/>
          </p:nvSpPr>
          <p:spPr bwMode="auto">
            <a:xfrm>
              <a:off x="895" y="2794"/>
              <a:ext cx="669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16" name="Oval 67"/>
            <p:cNvSpPr>
              <a:spLocks noChangeArrowheads="1"/>
            </p:cNvSpPr>
            <p:nvPr/>
          </p:nvSpPr>
          <p:spPr bwMode="auto">
            <a:xfrm>
              <a:off x="3284" y="2689"/>
              <a:ext cx="215" cy="166"/>
            </a:xfrm>
            <a:prstGeom prst="ellips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200">
                <a:latin typeface="Calibri" panose="020F0502020204030204" pitchFamily="34" charset="0"/>
              </a:endParaRPr>
            </a:p>
          </p:txBody>
        </p:sp>
        <p:sp>
          <p:nvSpPr>
            <p:cNvPr id="7217" name="Rectangle 68"/>
            <p:cNvSpPr>
              <a:spLocks noChangeArrowheads="1"/>
            </p:cNvSpPr>
            <p:nvPr/>
          </p:nvSpPr>
          <p:spPr bwMode="auto">
            <a:xfrm>
              <a:off x="3297" y="2659"/>
              <a:ext cx="18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600">
                  <a:solidFill>
                    <a:srgbClr val="000000"/>
                  </a:solidFill>
                  <a:latin typeface="Calibri" panose="020F0502020204030204" pitchFamily="34" charset="0"/>
                </a:rPr>
                <a:t>+</a:t>
              </a:r>
            </a:p>
          </p:txBody>
        </p:sp>
        <p:sp>
          <p:nvSpPr>
            <p:cNvPr id="7218" name="Rectangle 69"/>
            <p:cNvSpPr>
              <a:spLocks noChangeArrowheads="1"/>
            </p:cNvSpPr>
            <p:nvPr/>
          </p:nvSpPr>
          <p:spPr bwMode="auto">
            <a:xfrm>
              <a:off x="2838" y="3054"/>
              <a:ext cx="1115" cy="12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200">
                <a:latin typeface="Calibri" panose="020F0502020204030204" pitchFamily="34" charset="0"/>
              </a:endParaRPr>
            </a:p>
          </p:txBody>
        </p:sp>
        <p:sp>
          <p:nvSpPr>
            <p:cNvPr id="7219" name="Rectangle 70"/>
            <p:cNvSpPr>
              <a:spLocks noChangeArrowheads="1"/>
            </p:cNvSpPr>
            <p:nvPr/>
          </p:nvSpPr>
          <p:spPr bwMode="auto">
            <a:xfrm>
              <a:off x="3267" y="3028"/>
              <a:ext cx="22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>
                  <a:solidFill>
                    <a:srgbClr val="000000"/>
                  </a:solidFill>
                  <a:latin typeface="Calibri" panose="020F0502020204030204" pitchFamily="34" charset="0"/>
                </a:rPr>
                <a:t>AC</a:t>
              </a:r>
            </a:p>
          </p:txBody>
        </p:sp>
        <p:sp>
          <p:nvSpPr>
            <p:cNvPr id="7220" name="Freeform 71"/>
            <p:cNvSpPr>
              <a:spLocks/>
            </p:cNvSpPr>
            <p:nvPr/>
          </p:nvSpPr>
          <p:spPr bwMode="auto">
            <a:xfrm>
              <a:off x="2617" y="3173"/>
              <a:ext cx="773" cy="110"/>
            </a:xfrm>
            <a:custGeom>
              <a:avLst/>
              <a:gdLst>
                <a:gd name="T0" fmla="*/ 752 w 777"/>
                <a:gd name="T1" fmla="*/ 0 h 137"/>
                <a:gd name="T2" fmla="*/ 752 w 777"/>
                <a:gd name="T3" fmla="*/ 37 h 137"/>
                <a:gd name="T4" fmla="*/ 0 w 777"/>
                <a:gd name="T5" fmla="*/ 37 h 137"/>
                <a:gd name="T6" fmla="*/ 0 60000 65536"/>
                <a:gd name="T7" fmla="*/ 0 60000 65536"/>
                <a:gd name="T8" fmla="*/ 0 60000 65536"/>
                <a:gd name="T9" fmla="*/ 0 w 777"/>
                <a:gd name="T10" fmla="*/ 0 h 137"/>
                <a:gd name="T11" fmla="*/ 777 w 777"/>
                <a:gd name="T12" fmla="*/ 137 h 13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77" h="137">
                  <a:moveTo>
                    <a:pt x="776" y="0"/>
                  </a:moveTo>
                  <a:lnTo>
                    <a:pt x="776" y="136"/>
                  </a:lnTo>
                  <a:lnTo>
                    <a:pt x="0" y="136"/>
                  </a:lnTo>
                </a:path>
              </a:pathLst>
            </a:custGeom>
            <a:noFill/>
            <a:ln w="254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7221" name="Line 72"/>
            <p:cNvSpPr>
              <a:spLocks noChangeShapeType="1"/>
            </p:cNvSpPr>
            <p:nvPr/>
          </p:nvSpPr>
          <p:spPr bwMode="auto">
            <a:xfrm>
              <a:off x="2609" y="2797"/>
              <a:ext cx="0" cy="48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22" name="Rectangle 73"/>
            <p:cNvSpPr>
              <a:spLocks noChangeArrowheads="1"/>
            </p:cNvSpPr>
            <p:nvPr/>
          </p:nvSpPr>
          <p:spPr bwMode="auto">
            <a:xfrm>
              <a:off x="1175" y="1178"/>
              <a:ext cx="92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400" b="1">
                  <a:solidFill>
                    <a:srgbClr val="000000"/>
                  </a:solidFill>
                  <a:latin typeface="Calibri" panose="020F0502020204030204" pitchFamily="34" charset="0"/>
                </a:rPr>
                <a:t>Direct addressing</a:t>
              </a:r>
            </a:p>
          </p:txBody>
        </p:sp>
        <p:sp>
          <p:nvSpPr>
            <p:cNvPr id="7223" name="Rectangle 74"/>
            <p:cNvSpPr>
              <a:spLocks noChangeArrowheads="1"/>
            </p:cNvSpPr>
            <p:nvPr/>
          </p:nvSpPr>
          <p:spPr bwMode="auto">
            <a:xfrm>
              <a:off x="2889" y="1188"/>
              <a:ext cx="100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400" b="1">
                  <a:solidFill>
                    <a:srgbClr val="000000"/>
                  </a:solidFill>
                  <a:latin typeface="Calibri" panose="020F0502020204030204" pitchFamily="34" charset="0"/>
                </a:rPr>
                <a:t>Indirect addressing</a:t>
              </a:r>
            </a:p>
          </p:txBody>
        </p:sp>
        <p:sp>
          <p:nvSpPr>
            <p:cNvPr id="7224" name="Line 75"/>
            <p:cNvSpPr>
              <a:spLocks noChangeShapeType="1"/>
            </p:cNvSpPr>
            <p:nvPr/>
          </p:nvSpPr>
          <p:spPr bwMode="auto">
            <a:xfrm>
              <a:off x="2611" y="2800"/>
              <a:ext cx="669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25" name="Line 76"/>
            <p:cNvSpPr>
              <a:spLocks noChangeShapeType="1"/>
            </p:cNvSpPr>
            <p:nvPr/>
          </p:nvSpPr>
          <p:spPr bwMode="auto">
            <a:xfrm>
              <a:off x="3384" y="2250"/>
              <a:ext cx="0" cy="42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26" name="Line 77"/>
            <p:cNvSpPr>
              <a:spLocks noChangeShapeType="1"/>
            </p:cNvSpPr>
            <p:nvPr/>
          </p:nvSpPr>
          <p:spPr bwMode="auto">
            <a:xfrm>
              <a:off x="1668" y="2076"/>
              <a:ext cx="0" cy="59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27" name="Line 78"/>
            <p:cNvSpPr>
              <a:spLocks noChangeShapeType="1"/>
            </p:cNvSpPr>
            <p:nvPr/>
          </p:nvSpPr>
          <p:spPr bwMode="auto">
            <a:xfrm>
              <a:off x="1674" y="2856"/>
              <a:ext cx="0" cy="18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28" name="Line 79"/>
            <p:cNvSpPr>
              <a:spLocks noChangeShapeType="1"/>
            </p:cNvSpPr>
            <p:nvPr/>
          </p:nvSpPr>
          <p:spPr bwMode="auto">
            <a:xfrm>
              <a:off x="3390" y="2862"/>
              <a:ext cx="0" cy="2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395639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196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          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98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Processor Register</a:t>
            </a:r>
          </a:p>
        </p:txBody>
      </p:sp>
      <p:sp>
        <p:nvSpPr>
          <p:cNvPr id="8199" name="Rectangle 4"/>
          <p:cNvSpPr txBox="1">
            <a:spLocks noChangeArrowheads="1"/>
          </p:cNvSpPr>
          <p:nvPr/>
        </p:nvSpPr>
        <p:spPr bwMode="auto">
          <a:xfrm>
            <a:off x="1895475" y="1327150"/>
            <a:ext cx="8115300" cy="537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</a:endParaRP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A processor has many registers to hold instructions, addresses, data, </a:t>
            </a:r>
            <a:r>
              <a:rPr lang="en-US" altLang="ko-KR" sz="2000" b="1" dirty="0" err="1">
                <a:latin typeface="Calibri" panose="020F0502020204030204" pitchFamily="34" charset="0"/>
              </a:rPr>
              <a:t>etc</a:t>
            </a:r>
            <a:endParaRPr lang="en-US" altLang="ko-KR" sz="2000" b="1" dirty="0">
              <a:latin typeface="Calibri" panose="020F0502020204030204" pitchFamily="34" charset="0"/>
            </a:endParaRP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</a:endParaRP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The processor has a register, the </a:t>
            </a:r>
            <a:r>
              <a:rPr lang="en-US" altLang="ko-KR" sz="2000" b="1" u="sng" dirty="0">
                <a:solidFill>
                  <a:schemeClr val="tx2"/>
                </a:solidFill>
                <a:latin typeface="Calibri" panose="020F0502020204030204" pitchFamily="34" charset="0"/>
              </a:rPr>
              <a:t>Program Counter (PC)</a:t>
            </a:r>
            <a:r>
              <a:rPr lang="en-US" altLang="ko-KR" sz="2000" b="1" dirty="0">
                <a:latin typeface="Calibri" panose="020F0502020204030204" pitchFamily="34" charset="0"/>
              </a:rPr>
              <a:t> that holds the memory address of the next instruction to get</a:t>
            </a: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</a:endParaRP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Since the memory in the Basic Computer only has 4096 locations, the PC only needs 12 bits</a:t>
            </a: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u="sng" dirty="0">
              <a:solidFill>
                <a:schemeClr val="tx2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44520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196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          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98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Processor Register</a:t>
            </a:r>
          </a:p>
        </p:txBody>
      </p:sp>
      <p:sp>
        <p:nvSpPr>
          <p:cNvPr id="8199" name="Rectangle 4"/>
          <p:cNvSpPr txBox="1">
            <a:spLocks noChangeArrowheads="1"/>
          </p:cNvSpPr>
          <p:nvPr/>
        </p:nvSpPr>
        <p:spPr bwMode="auto">
          <a:xfrm>
            <a:off x="1895475" y="1327150"/>
            <a:ext cx="8115300" cy="537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</a:endParaRP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In a direct or indirect addressing, the processor needs to keep track of what locations in memory it is addressing: </a:t>
            </a:r>
          </a:p>
          <a:p>
            <a:pPr lvl="1" algn="just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The </a:t>
            </a:r>
            <a:r>
              <a:rPr lang="en-US" altLang="ko-KR" sz="2000" b="1" u="sng" dirty="0">
                <a:solidFill>
                  <a:schemeClr val="tx2"/>
                </a:solidFill>
                <a:latin typeface="Calibri" panose="020F0502020204030204" pitchFamily="34" charset="0"/>
              </a:rPr>
              <a:t>Address Register (AR)</a:t>
            </a:r>
            <a:r>
              <a:rPr lang="en-US" altLang="ko-KR" sz="2000" b="1" dirty="0">
                <a:latin typeface="Calibri" panose="020F0502020204030204" pitchFamily="34" charset="0"/>
              </a:rPr>
              <a:t> is used for this</a:t>
            </a:r>
          </a:p>
          <a:p>
            <a:pPr lvl="1" algn="just" eaLnBrk="1" hangingPunct="1">
              <a:spcBef>
                <a:spcPct val="20000"/>
              </a:spcBef>
            </a:pPr>
            <a:r>
              <a:rPr lang="en-US" altLang="ko-KR" sz="2000" b="1" dirty="0">
                <a:latin typeface="Calibri" panose="020F0502020204030204" pitchFamily="34" charset="0"/>
              </a:rPr>
              <a:t>	The AR is a 12 bit register in the Basic Computer</a:t>
            </a: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</a:endParaRP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When an operand is found, using either direct or indirect addressing, it is placed in the </a:t>
            </a:r>
            <a:r>
              <a:rPr lang="en-US" altLang="ko-KR" sz="2000" b="1" u="sng" dirty="0">
                <a:solidFill>
                  <a:schemeClr val="tx2"/>
                </a:solidFill>
                <a:latin typeface="Calibri" panose="020F0502020204030204" pitchFamily="34" charset="0"/>
              </a:rPr>
              <a:t>Data Register (DR)</a:t>
            </a:r>
            <a:r>
              <a:rPr lang="en-US" altLang="ko-KR" sz="2000" b="1" dirty="0">
                <a:latin typeface="Calibri" panose="020F0502020204030204" pitchFamily="34" charset="0"/>
              </a:rPr>
              <a:t>. </a:t>
            </a:r>
          </a:p>
          <a:p>
            <a:pPr lvl="1" algn="just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The processor then uses this value as data for its operation</a:t>
            </a: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</a:endParaRP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The Basic Computer has a single general purpose register – the </a:t>
            </a:r>
            <a:r>
              <a:rPr lang="en-US" altLang="ko-KR" sz="2000" b="1" u="sng" dirty="0">
                <a:solidFill>
                  <a:schemeClr val="tx2"/>
                </a:solidFill>
                <a:latin typeface="Calibri" panose="020F0502020204030204" pitchFamily="34" charset="0"/>
              </a:rPr>
              <a:t>Accumulator (AC)</a:t>
            </a:r>
          </a:p>
        </p:txBody>
      </p:sp>
    </p:spTree>
    <p:extLst>
      <p:ext uri="{BB962C8B-B14F-4D97-AF65-F5344CB8AC3E}">
        <p14:creationId xmlns:p14="http://schemas.microsoft.com/office/powerpoint/2010/main" val="28862802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220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22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Processor Register</a:t>
            </a:r>
          </a:p>
        </p:txBody>
      </p:sp>
      <p:sp>
        <p:nvSpPr>
          <p:cNvPr id="9223" name="Rectangle 4"/>
          <p:cNvSpPr txBox="1">
            <a:spLocks noChangeArrowheads="1"/>
          </p:cNvSpPr>
          <p:nvPr/>
        </p:nvSpPr>
        <p:spPr bwMode="auto">
          <a:xfrm>
            <a:off x="1895475" y="1327150"/>
            <a:ext cx="8401050" cy="537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</a:endParaRP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The significance of a general purpose register is that it can be referred to in instructions</a:t>
            </a:r>
          </a:p>
          <a:p>
            <a:pPr lvl="1" algn="just" eaLnBrk="1" hangingPunct="1">
              <a:spcBef>
                <a:spcPct val="20000"/>
              </a:spcBef>
            </a:pPr>
            <a:r>
              <a:rPr lang="en-US" altLang="ko-KR" sz="1600" b="1" dirty="0">
                <a:latin typeface="Calibri" panose="020F0502020204030204" pitchFamily="34" charset="0"/>
              </a:rPr>
              <a:t>	e.g. load AC with the contents of a specific memory location; store the contents of AC into a specified memory location</a:t>
            </a: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</a:endParaRP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Often a processor will need a scratch register to store intermediate results or other temporary data; </a:t>
            </a: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</a:endParaRPr>
          </a:p>
          <a:p>
            <a:pPr lvl="1" algn="just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in the Basic Computer this is the </a:t>
            </a:r>
            <a:r>
              <a:rPr lang="en-US" altLang="ko-KR" sz="2000" b="1" u="sng" dirty="0">
                <a:solidFill>
                  <a:schemeClr val="tx2"/>
                </a:solidFill>
                <a:latin typeface="Calibri" panose="020F0502020204030204" pitchFamily="34" charset="0"/>
              </a:rPr>
              <a:t>Temporary Register (TR)</a:t>
            </a:r>
          </a:p>
        </p:txBody>
      </p:sp>
    </p:spTree>
    <p:extLst>
      <p:ext uri="{BB962C8B-B14F-4D97-AF65-F5344CB8AC3E}">
        <p14:creationId xmlns:p14="http://schemas.microsoft.com/office/powerpoint/2010/main" val="18988074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220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22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Processor Register</a:t>
            </a:r>
          </a:p>
        </p:txBody>
      </p:sp>
      <p:sp>
        <p:nvSpPr>
          <p:cNvPr id="9223" name="Rectangle 4"/>
          <p:cNvSpPr txBox="1">
            <a:spLocks noChangeArrowheads="1"/>
          </p:cNvSpPr>
          <p:nvPr/>
        </p:nvSpPr>
        <p:spPr bwMode="auto">
          <a:xfrm>
            <a:off x="1895475" y="1327150"/>
            <a:ext cx="8401050" cy="537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</a:endParaRP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The Basic Computer uses a very simple model of input/output (I/O) operations</a:t>
            </a:r>
          </a:p>
          <a:p>
            <a:pPr lvl="1" algn="just" eaLnBrk="1" hangingPunct="1">
              <a:spcBef>
                <a:spcPct val="20000"/>
              </a:spcBef>
            </a:pPr>
            <a:r>
              <a:rPr lang="en-US" altLang="ko-KR" sz="1600" b="1" dirty="0">
                <a:latin typeface="Calibri" panose="020F0502020204030204" pitchFamily="34" charset="0"/>
              </a:rPr>
              <a:t>	Input devices are considered to send 8 bits of character data to the processor</a:t>
            </a:r>
          </a:p>
          <a:p>
            <a:pPr lvl="1" algn="just" eaLnBrk="1" hangingPunct="1">
              <a:spcBef>
                <a:spcPct val="20000"/>
              </a:spcBef>
            </a:pPr>
            <a:r>
              <a:rPr lang="en-US" altLang="ko-KR" sz="1600" b="1" dirty="0">
                <a:latin typeface="Calibri" panose="020F0502020204030204" pitchFamily="34" charset="0"/>
              </a:rPr>
              <a:t>	The processor can send 8 bits of character data to output devices</a:t>
            </a: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</a:endParaRP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The </a:t>
            </a:r>
            <a:r>
              <a:rPr lang="en-US" altLang="ko-KR" sz="2000" b="1" u="sng" dirty="0">
                <a:solidFill>
                  <a:schemeClr val="tx2"/>
                </a:solidFill>
                <a:latin typeface="Calibri" panose="020F0502020204030204" pitchFamily="34" charset="0"/>
              </a:rPr>
              <a:t>Input Register (INPR)</a:t>
            </a:r>
            <a:r>
              <a:rPr lang="en-US" altLang="ko-KR" sz="2000" b="1" dirty="0">
                <a:latin typeface="Calibri" panose="020F0502020204030204" pitchFamily="34" charset="0"/>
              </a:rPr>
              <a:t> holds an 8 bit character gotten from an input device</a:t>
            </a: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</a:endParaRP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The </a:t>
            </a:r>
            <a:r>
              <a:rPr lang="en-US" altLang="ko-KR" sz="2000" b="1" u="sng" dirty="0">
                <a:solidFill>
                  <a:schemeClr val="tx2"/>
                </a:solidFill>
                <a:latin typeface="Calibri" panose="020F0502020204030204" pitchFamily="34" charset="0"/>
              </a:rPr>
              <a:t>Output Register (OUTR)</a:t>
            </a:r>
            <a:r>
              <a:rPr lang="en-US" altLang="ko-KR" sz="2000" b="1" dirty="0">
                <a:latin typeface="Calibri" panose="020F0502020204030204" pitchFamily="34" charset="0"/>
              </a:rPr>
              <a:t> holds an 8 bit character to be send to an output device</a:t>
            </a:r>
          </a:p>
        </p:txBody>
      </p:sp>
    </p:spTree>
    <p:extLst>
      <p:ext uri="{BB962C8B-B14F-4D97-AF65-F5344CB8AC3E}">
        <p14:creationId xmlns:p14="http://schemas.microsoft.com/office/powerpoint/2010/main" val="37520928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9584"/>
          <a:stretch>
            <a:fillRect/>
          </a:stretch>
        </p:blipFill>
        <p:spPr bwMode="auto">
          <a:xfrm>
            <a:off x="1981200" y="53975"/>
            <a:ext cx="8305800" cy="675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709994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3539" y="82550"/>
            <a:ext cx="8924925" cy="669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40605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2292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94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Processor Register</a:t>
            </a:r>
          </a:p>
        </p:txBody>
      </p:sp>
      <p:grpSp>
        <p:nvGrpSpPr>
          <p:cNvPr id="12295" name="Group 57"/>
          <p:cNvGrpSpPr>
            <a:grpSpLocks/>
          </p:cNvGrpSpPr>
          <p:nvPr/>
        </p:nvGrpSpPr>
        <p:grpSpPr bwMode="auto">
          <a:xfrm>
            <a:off x="2133601" y="1066801"/>
            <a:ext cx="8125895" cy="5726113"/>
            <a:chOff x="622300" y="792163"/>
            <a:chExt cx="6712328" cy="5925272"/>
          </a:xfrm>
        </p:grpSpPr>
        <p:sp>
          <p:nvSpPr>
            <p:cNvPr id="12296" name="Rectangle 3"/>
            <p:cNvSpPr>
              <a:spLocks noChangeArrowheads="1"/>
            </p:cNvSpPr>
            <p:nvPr/>
          </p:nvSpPr>
          <p:spPr bwMode="auto">
            <a:xfrm>
              <a:off x="2971800" y="4210940"/>
              <a:ext cx="1583892" cy="2967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85000"/>
                </a:lnSpc>
              </a:pPr>
              <a:r>
                <a:rPr lang="en-US" altLang="ko-KR" b="1">
                  <a:latin typeface="Calibri" panose="020F0502020204030204" pitchFamily="34" charset="0"/>
                </a:rPr>
                <a:t>List of BC Registers</a:t>
              </a:r>
            </a:p>
          </p:txBody>
        </p:sp>
        <p:sp>
          <p:nvSpPr>
            <p:cNvPr id="12297" name="Rectangle 4"/>
            <p:cNvSpPr>
              <a:spLocks noChangeArrowheads="1"/>
            </p:cNvSpPr>
            <p:nvPr/>
          </p:nvSpPr>
          <p:spPr bwMode="auto">
            <a:xfrm>
              <a:off x="999966" y="4497685"/>
              <a:ext cx="5902325" cy="197102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b="1">
                <a:latin typeface="Calibri" panose="020F0502020204030204" pitchFamily="34" charset="0"/>
              </a:endParaRPr>
            </a:p>
          </p:txBody>
        </p:sp>
        <p:sp>
          <p:nvSpPr>
            <p:cNvPr id="12298" name="Rectangle 5"/>
            <p:cNvSpPr>
              <a:spLocks noChangeArrowheads="1"/>
            </p:cNvSpPr>
            <p:nvPr/>
          </p:nvSpPr>
          <p:spPr bwMode="auto">
            <a:xfrm>
              <a:off x="857250" y="4497685"/>
              <a:ext cx="5081443" cy="2219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lvl="1" eaLnBrk="1" hangingPunct="1">
                <a:lnSpc>
                  <a:spcPct val="91000"/>
                </a:lnSpc>
                <a:spcBef>
                  <a:spcPct val="18000"/>
                </a:spcBef>
              </a:pPr>
              <a:r>
                <a:rPr lang="en-US" altLang="ko-KR" sz="1400" b="1">
                  <a:latin typeface="Calibri" panose="020F0502020204030204" pitchFamily="34" charset="0"/>
                </a:rPr>
                <a:t>DR            16        Data Register		 Holds memory operand</a:t>
              </a:r>
            </a:p>
            <a:p>
              <a:pPr lvl="1" eaLnBrk="1" hangingPunct="1">
                <a:lnSpc>
                  <a:spcPct val="91000"/>
                </a:lnSpc>
                <a:spcBef>
                  <a:spcPct val="18000"/>
                </a:spcBef>
              </a:pPr>
              <a:r>
                <a:rPr lang="en-US" altLang="ko-KR" sz="1400" b="1">
                  <a:latin typeface="Calibri" panose="020F0502020204030204" pitchFamily="34" charset="0"/>
                </a:rPr>
                <a:t>AR            12        Address Register        	 Holds address for memory</a:t>
              </a:r>
            </a:p>
            <a:p>
              <a:pPr lvl="1" eaLnBrk="1" hangingPunct="1">
                <a:lnSpc>
                  <a:spcPct val="91000"/>
                </a:lnSpc>
                <a:spcBef>
                  <a:spcPct val="18000"/>
                </a:spcBef>
              </a:pPr>
              <a:r>
                <a:rPr lang="en-US" altLang="ko-KR" sz="1400" b="1">
                  <a:latin typeface="Calibri" panose="020F0502020204030204" pitchFamily="34" charset="0"/>
                </a:rPr>
                <a:t>AC            16        Accumulator	 	 Processor register</a:t>
              </a:r>
            </a:p>
            <a:p>
              <a:pPr lvl="1" eaLnBrk="1" hangingPunct="1">
                <a:lnSpc>
                  <a:spcPct val="91000"/>
                </a:lnSpc>
                <a:spcBef>
                  <a:spcPct val="18000"/>
                </a:spcBef>
              </a:pPr>
              <a:r>
                <a:rPr lang="en-US" altLang="ko-KR" sz="1400" b="1">
                  <a:latin typeface="Calibri" panose="020F0502020204030204" pitchFamily="34" charset="0"/>
                </a:rPr>
                <a:t>IR	            16        Instruction Register     	Holds instruction code</a:t>
              </a:r>
            </a:p>
            <a:p>
              <a:pPr lvl="1" eaLnBrk="1" hangingPunct="1">
                <a:lnSpc>
                  <a:spcPct val="91000"/>
                </a:lnSpc>
                <a:spcBef>
                  <a:spcPct val="18000"/>
                </a:spcBef>
              </a:pPr>
              <a:r>
                <a:rPr lang="en-US" altLang="ko-KR" sz="1400" b="1">
                  <a:latin typeface="Calibri" panose="020F0502020204030204" pitchFamily="34" charset="0"/>
                </a:rPr>
                <a:t>PC            12        Program Counter		 Holds address of instruction</a:t>
              </a:r>
            </a:p>
            <a:p>
              <a:pPr lvl="1" eaLnBrk="1" hangingPunct="1">
                <a:lnSpc>
                  <a:spcPct val="91000"/>
                </a:lnSpc>
                <a:spcBef>
                  <a:spcPct val="18000"/>
                </a:spcBef>
              </a:pPr>
              <a:r>
                <a:rPr lang="en-US" altLang="ko-KR" sz="1400" b="1">
                  <a:latin typeface="Calibri" panose="020F0502020204030204" pitchFamily="34" charset="0"/>
                </a:rPr>
                <a:t>TR            16        Temporary Register    	 Holds temporary data</a:t>
              </a:r>
            </a:p>
            <a:p>
              <a:pPr lvl="1" eaLnBrk="1" hangingPunct="1">
                <a:lnSpc>
                  <a:spcPct val="91000"/>
                </a:lnSpc>
                <a:spcBef>
                  <a:spcPct val="18000"/>
                </a:spcBef>
              </a:pPr>
              <a:r>
                <a:rPr lang="en-US" altLang="ko-KR" sz="1400" b="1">
                  <a:latin typeface="Calibri" panose="020F0502020204030204" pitchFamily="34" charset="0"/>
                </a:rPr>
                <a:t>INPR         8         Input Register            	 Holds input character</a:t>
              </a:r>
            </a:p>
            <a:p>
              <a:pPr lvl="1" eaLnBrk="1" hangingPunct="1">
                <a:lnSpc>
                  <a:spcPct val="91000"/>
                </a:lnSpc>
                <a:spcBef>
                  <a:spcPct val="18000"/>
                </a:spcBef>
              </a:pPr>
              <a:r>
                <a:rPr lang="en-US" altLang="ko-KR" sz="1400" b="1">
                  <a:latin typeface="Calibri" panose="020F0502020204030204" pitchFamily="34" charset="0"/>
                </a:rPr>
                <a:t>OUTR       8	     Output Register          	 Holds output character</a:t>
              </a:r>
            </a:p>
            <a:p>
              <a:pPr eaLnBrk="1" latinLnBrk="1" hangingPunct="1"/>
              <a:endParaRPr lang="en-US" altLang="ko-KR" sz="1400" b="1">
                <a:latin typeface="Calibri" panose="020F0502020204030204" pitchFamily="34" charset="0"/>
              </a:endParaRPr>
            </a:p>
          </p:txBody>
        </p:sp>
        <p:sp>
          <p:nvSpPr>
            <p:cNvPr id="12299" name="Rectangle 7"/>
            <p:cNvSpPr>
              <a:spLocks noChangeArrowheads="1"/>
            </p:cNvSpPr>
            <p:nvPr/>
          </p:nvSpPr>
          <p:spPr bwMode="auto">
            <a:xfrm>
              <a:off x="622300" y="792163"/>
              <a:ext cx="2637702" cy="3795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b="1">
                  <a:latin typeface="Calibri" panose="020F0502020204030204" pitchFamily="34" charset="0"/>
                </a:rPr>
                <a:t>Registers in the Basic Computer</a:t>
              </a:r>
            </a:p>
          </p:txBody>
        </p:sp>
        <p:sp>
          <p:nvSpPr>
            <p:cNvPr id="12300" name="Rectangle 8"/>
            <p:cNvSpPr>
              <a:spLocks noChangeArrowheads="1"/>
            </p:cNvSpPr>
            <p:nvPr/>
          </p:nvSpPr>
          <p:spPr bwMode="auto">
            <a:xfrm>
              <a:off x="2070100" y="1538288"/>
              <a:ext cx="1582738" cy="223837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b="1">
                <a:latin typeface="Calibri" panose="020F0502020204030204" pitchFamily="34" charset="0"/>
              </a:endParaRPr>
            </a:p>
          </p:txBody>
        </p:sp>
        <p:sp>
          <p:nvSpPr>
            <p:cNvPr id="12301" name="Rectangle 9"/>
            <p:cNvSpPr>
              <a:spLocks noChangeArrowheads="1"/>
            </p:cNvSpPr>
            <p:nvPr/>
          </p:nvSpPr>
          <p:spPr bwMode="auto">
            <a:xfrm>
              <a:off x="1939925" y="1335088"/>
              <a:ext cx="280720" cy="2839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11</a:t>
              </a:r>
            </a:p>
          </p:txBody>
        </p:sp>
        <p:sp>
          <p:nvSpPr>
            <p:cNvPr id="12302" name="Rectangle 10"/>
            <p:cNvSpPr>
              <a:spLocks noChangeArrowheads="1"/>
            </p:cNvSpPr>
            <p:nvPr/>
          </p:nvSpPr>
          <p:spPr bwMode="auto">
            <a:xfrm>
              <a:off x="3494088" y="1335088"/>
              <a:ext cx="215837" cy="2839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0</a:t>
              </a:r>
            </a:p>
          </p:txBody>
        </p:sp>
        <p:sp>
          <p:nvSpPr>
            <p:cNvPr id="12303" name="Rectangle 11"/>
            <p:cNvSpPr>
              <a:spLocks noChangeArrowheads="1"/>
            </p:cNvSpPr>
            <p:nvPr/>
          </p:nvSpPr>
          <p:spPr bwMode="auto">
            <a:xfrm>
              <a:off x="2682875" y="1519238"/>
              <a:ext cx="308527" cy="3158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400" b="1">
                  <a:solidFill>
                    <a:srgbClr val="000000"/>
                  </a:solidFill>
                  <a:latin typeface="Calibri" panose="020F0502020204030204" pitchFamily="34" charset="0"/>
                </a:rPr>
                <a:t>PC</a:t>
              </a:r>
            </a:p>
          </p:txBody>
        </p:sp>
        <p:sp>
          <p:nvSpPr>
            <p:cNvPr id="12304" name="Rectangle 12"/>
            <p:cNvSpPr>
              <a:spLocks noChangeArrowheads="1"/>
            </p:cNvSpPr>
            <p:nvPr/>
          </p:nvSpPr>
          <p:spPr bwMode="auto">
            <a:xfrm>
              <a:off x="1500188" y="2624138"/>
              <a:ext cx="2152650" cy="22225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b="1">
                <a:latin typeface="Calibri" panose="020F0502020204030204" pitchFamily="34" charset="0"/>
              </a:endParaRPr>
            </a:p>
          </p:txBody>
        </p:sp>
        <p:sp>
          <p:nvSpPr>
            <p:cNvPr id="12305" name="Rectangle 13"/>
            <p:cNvSpPr>
              <a:spLocks noChangeArrowheads="1"/>
            </p:cNvSpPr>
            <p:nvPr/>
          </p:nvSpPr>
          <p:spPr bwMode="auto">
            <a:xfrm>
              <a:off x="1384300" y="2430463"/>
              <a:ext cx="280720" cy="2839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15</a:t>
              </a:r>
            </a:p>
          </p:txBody>
        </p:sp>
        <p:sp>
          <p:nvSpPr>
            <p:cNvPr id="12306" name="Rectangle 14"/>
            <p:cNvSpPr>
              <a:spLocks noChangeArrowheads="1"/>
            </p:cNvSpPr>
            <p:nvPr/>
          </p:nvSpPr>
          <p:spPr bwMode="auto">
            <a:xfrm>
              <a:off x="3494088" y="2430463"/>
              <a:ext cx="215837" cy="2839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0</a:t>
              </a:r>
            </a:p>
          </p:txBody>
        </p:sp>
        <p:sp>
          <p:nvSpPr>
            <p:cNvPr id="12307" name="Rectangle 15"/>
            <p:cNvSpPr>
              <a:spLocks noChangeArrowheads="1"/>
            </p:cNvSpPr>
            <p:nvPr/>
          </p:nvSpPr>
          <p:spPr bwMode="auto">
            <a:xfrm>
              <a:off x="2282825" y="2605088"/>
              <a:ext cx="274100" cy="3158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400" b="1">
                  <a:solidFill>
                    <a:srgbClr val="000000"/>
                  </a:solidFill>
                  <a:latin typeface="Calibri" panose="020F0502020204030204" pitchFamily="34" charset="0"/>
                </a:rPr>
                <a:t>IR</a:t>
              </a:r>
            </a:p>
          </p:txBody>
        </p:sp>
        <p:sp>
          <p:nvSpPr>
            <p:cNvPr id="12308" name="Rectangle 16"/>
            <p:cNvSpPr>
              <a:spLocks noChangeArrowheads="1"/>
            </p:cNvSpPr>
            <p:nvPr/>
          </p:nvSpPr>
          <p:spPr bwMode="auto">
            <a:xfrm>
              <a:off x="1500188" y="3165475"/>
              <a:ext cx="2152650" cy="22542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b="1">
                <a:latin typeface="Calibri" panose="020F0502020204030204" pitchFamily="34" charset="0"/>
              </a:endParaRPr>
            </a:p>
          </p:txBody>
        </p:sp>
        <p:sp>
          <p:nvSpPr>
            <p:cNvPr id="12309" name="Rectangle 17"/>
            <p:cNvSpPr>
              <a:spLocks noChangeArrowheads="1"/>
            </p:cNvSpPr>
            <p:nvPr/>
          </p:nvSpPr>
          <p:spPr bwMode="auto">
            <a:xfrm>
              <a:off x="1384300" y="2952750"/>
              <a:ext cx="280720" cy="2839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15</a:t>
              </a:r>
            </a:p>
          </p:txBody>
        </p:sp>
        <p:sp>
          <p:nvSpPr>
            <p:cNvPr id="12310" name="Rectangle 18"/>
            <p:cNvSpPr>
              <a:spLocks noChangeArrowheads="1"/>
            </p:cNvSpPr>
            <p:nvPr/>
          </p:nvSpPr>
          <p:spPr bwMode="auto">
            <a:xfrm>
              <a:off x="3494088" y="2952750"/>
              <a:ext cx="215837" cy="2839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0</a:t>
              </a:r>
            </a:p>
          </p:txBody>
        </p:sp>
        <p:sp>
          <p:nvSpPr>
            <p:cNvPr id="12311" name="Rectangle 19"/>
            <p:cNvSpPr>
              <a:spLocks noChangeArrowheads="1"/>
            </p:cNvSpPr>
            <p:nvPr/>
          </p:nvSpPr>
          <p:spPr bwMode="auto">
            <a:xfrm>
              <a:off x="2282825" y="3146425"/>
              <a:ext cx="307203" cy="3158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400" b="1">
                  <a:solidFill>
                    <a:srgbClr val="000000"/>
                  </a:solidFill>
                  <a:latin typeface="Calibri" panose="020F0502020204030204" pitchFamily="34" charset="0"/>
                </a:rPr>
                <a:t>TR</a:t>
              </a:r>
            </a:p>
          </p:txBody>
        </p:sp>
        <p:sp>
          <p:nvSpPr>
            <p:cNvPr id="12312" name="Rectangle 20"/>
            <p:cNvSpPr>
              <a:spLocks noChangeArrowheads="1"/>
            </p:cNvSpPr>
            <p:nvPr/>
          </p:nvSpPr>
          <p:spPr bwMode="auto">
            <a:xfrm>
              <a:off x="1500188" y="3709988"/>
              <a:ext cx="941387" cy="22225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b="1">
                <a:latin typeface="Calibri" panose="020F0502020204030204" pitchFamily="34" charset="0"/>
              </a:endParaRPr>
            </a:p>
          </p:txBody>
        </p:sp>
        <p:sp>
          <p:nvSpPr>
            <p:cNvPr id="12313" name="Rectangle 21"/>
            <p:cNvSpPr>
              <a:spLocks noChangeArrowheads="1"/>
            </p:cNvSpPr>
            <p:nvPr/>
          </p:nvSpPr>
          <p:spPr bwMode="auto">
            <a:xfrm>
              <a:off x="1384300" y="3486150"/>
              <a:ext cx="215837" cy="2839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7</a:t>
              </a:r>
            </a:p>
          </p:txBody>
        </p:sp>
        <p:sp>
          <p:nvSpPr>
            <p:cNvPr id="12314" name="Rectangle 22"/>
            <p:cNvSpPr>
              <a:spLocks noChangeArrowheads="1"/>
            </p:cNvSpPr>
            <p:nvPr/>
          </p:nvSpPr>
          <p:spPr bwMode="auto">
            <a:xfrm>
              <a:off x="3494088" y="3486150"/>
              <a:ext cx="215837" cy="2839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0</a:t>
              </a:r>
            </a:p>
          </p:txBody>
        </p:sp>
        <p:sp>
          <p:nvSpPr>
            <p:cNvPr id="12315" name="Rectangle 23"/>
            <p:cNvSpPr>
              <a:spLocks noChangeArrowheads="1"/>
            </p:cNvSpPr>
            <p:nvPr/>
          </p:nvSpPr>
          <p:spPr bwMode="auto">
            <a:xfrm>
              <a:off x="1625600" y="3687763"/>
              <a:ext cx="504502" cy="3158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400" b="1">
                  <a:solidFill>
                    <a:srgbClr val="000000"/>
                  </a:solidFill>
                  <a:latin typeface="Calibri" panose="020F0502020204030204" pitchFamily="34" charset="0"/>
                </a:rPr>
                <a:t>OUTR</a:t>
              </a:r>
            </a:p>
          </p:txBody>
        </p:sp>
        <p:sp>
          <p:nvSpPr>
            <p:cNvPr id="12316" name="Rectangle 24"/>
            <p:cNvSpPr>
              <a:spLocks noChangeArrowheads="1"/>
            </p:cNvSpPr>
            <p:nvPr/>
          </p:nvSpPr>
          <p:spPr bwMode="auto">
            <a:xfrm>
              <a:off x="4410075" y="3165475"/>
              <a:ext cx="2154238" cy="22542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b="1">
                <a:latin typeface="Calibri" panose="020F0502020204030204" pitchFamily="34" charset="0"/>
              </a:endParaRPr>
            </a:p>
          </p:txBody>
        </p:sp>
        <p:sp>
          <p:nvSpPr>
            <p:cNvPr id="12317" name="Rectangle 25"/>
            <p:cNvSpPr>
              <a:spLocks noChangeArrowheads="1"/>
            </p:cNvSpPr>
            <p:nvPr/>
          </p:nvSpPr>
          <p:spPr bwMode="auto">
            <a:xfrm>
              <a:off x="4294188" y="2943225"/>
              <a:ext cx="280720" cy="2839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15</a:t>
              </a:r>
            </a:p>
          </p:txBody>
        </p:sp>
        <p:sp>
          <p:nvSpPr>
            <p:cNvPr id="12318" name="Rectangle 26"/>
            <p:cNvSpPr>
              <a:spLocks noChangeArrowheads="1"/>
            </p:cNvSpPr>
            <p:nvPr/>
          </p:nvSpPr>
          <p:spPr bwMode="auto">
            <a:xfrm>
              <a:off x="6405563" y="2943225"/>
              <a:ext cx="215837" cy="2839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0</a:t>
              </a:r>
            </a:p>
          </p:txBody>
        </p:sp>
        <p:sp>
          <p:nvSpPr>
            <p:cNvPr id="12319" name="Rectangle 27"/>
            <p:cNvSpPr>
              <a:spLocks noChangeArrowheads="1"/>
            </p:cNvSpPr>
            <p:nvPr/>
          </p:nvSpPr>
          <p:spPr bwMode="auto">
            <a:xfrm>
              <a:off x="5191125" y="3146425"/>
              <a:ext cx="328390" cy="3158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400" b="1">
                  <a:solidFill>
                    <a:srgbClr val="000000"/>
                  </a:solidFill>
                  <a:latin typeface="Calibri" panose="020F0502020204030204" pitchFamily="34" charset="0"/>
                </a:rPr>
                <a:t>DR</a:t>
              </a:r>
            </a:p>
          </p:txBody>
        </p:sp>
        <p:sp>
          <p:nvSpPr>
            <p:cNvPr id="12320" name="Rectangle 28"/>
            <p:cNvSpPr>
              <a:spLocks noChangeArrowheads="1"/>
            </p:cNvSpPr>
            <p:nvPr/>
          </p:nvSpPr>
          <p:spPr bwMode="auto">
            <a:xfrm>
              <a:off x="4410075" y="3709988"/>
              <a:ext cx="2154238" cy="22225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b="1">
                <a:latin typeface="Calibri" panose="020F0502020204030204" pitchFamily="34" charset="0"/>
              </a:endParaRPr>
            </a:p>
          </p:txBody>
        </p:sp>
        <p:sp>
          <p:nvSpPr>
            <p:cNvPr id="12321" name="Rectangle 29"/>
            <p:cNvSpPr>
              <a:spLocks noChangeArrowheads="1"/>
            </p:cNvSpPr>
            <p:nvPr/>
          </p:nvSpPr>
          <p:spPr bwMode="auto">
            <a:xfrm>
              <a:off x="4294188" y="3505200"/>
              <a:ext cx="280720" cy="2839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15</a:t>
              </a:r>
            </a:p>
          </p:txBody>
        </p:sp>
        <p:sp>
          <p:nvSpPr>
            <p:cNvPr id="12322" name="Rectangle 30"/>
            <p:cNvSpPr>
              <a:spLocks noChangeArrowheads="1"/>
            </p:cNvSpPr>
            <p:nvPr/>
          </p:nvSpPr>
          <p:spPr bwMode="auto">
            <a:xfrm>
              <a:off x="6407150" y="3505200"/>
              <a:ext cx="215837" cy="2839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0</a:t>
              </a:r>
            </a:p>
          </p:txBody>
        </p:sp>
        <p:sp>
          <p:nvSpPr>
            <p:cNvPr id="12323" name="Rectangle 31"/>
            <p:cNvSpPr>
              <a:spLocks noChangeArrowheads="1"/>
            </p:cNvSpPr>
            <p:nvPr/>
          </p:nvSpPr>
          <p:spPr bwMode="auto">
            <a:xfrm>
              <a:off x="5191125" y="3687763"/>
              <a:ext cx="317373" cy="3158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400" b="1">
                  <a:solidFill>
                    <a:srgbClr val="000000"/>
                  </a:solidFill>
                  <a:latin typeface="Calibri" panose="020F0502020204030204" pitchFamily="34" charset="0"/>
                </a:rPr>
                <a:t>AC</a:t>
              </a:r>
            </a:p>
          </p:txBody>
        </p:sp>
        <p:sp>
          <p:nvSpPr>
            <p:cNvPr id="12324" name="Rectangle 32"/>
            <p:cNvSpPr>
              <a:spLocks noChangeArrowheads="1"/>
            </p:cNvSpPr>
            <p:nvPr/>
          </p:nvSpPr>
          <p:spPr bwMode="auto">
            <a:xfrm>
              <a:off x="2070100" y="2079625"/>
              <a:ext cx="1582738" cy="22542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b="1">
                <a:latin typeface="Calibri" panose="020F0502020204030204" pitchFamily="34" charset="0"/>
              </a:endParaRPr>
            </a:p>
          </p:txBody>
        </p:sp>
        <p:sp>
          <p:nvSpPr>
            <p:cNvPr id="12325" name="Rectangle 33"/>
            <p:cNvSpPr>
              <a:spLocks noChangeArrowheads="1"/>
            </p:cNvSpPr>
            <p:nvPr/>
          </p:nvSpPr>
          <p:spPr bwMode="auto">
            <a:xfrm>
              <a:off x="1939925" y="1866900"/>
              <a:ext cx="280720" cy="2839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11</a:t>
              </a:r>
            </a:p>
          </p:txBody>
        </p:sp>
        <p:sp>
          <p:nvSpPr>
            <p:cNvPr id="12326" name="Rectangle 34"/>
            <p:cNvSpPr>
              <a:spLocks noChangeArrowheads="1"/>
            </p:cNvSpPr>
            <p:nvPr/>
          </p:nvSpPr>
          <p:spPr bwMode="auto">
            <a:xfrm>
              <a:off x="3494088" y="1866900"/>
              <a:ext cx="215837" cy="2839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0</a:t>
              </a:r>
            </a:p>
          </p:txBody>
        </p:sp>
        <p:sp>
          <p:nvSpPr>
            <p:cNvPr id="12327" name="Rectangle 35"/>
            <p:cNvSpPr>
              <a:spLocks noChangeArrowheads="1"/>
            </p:cNvSpPr>
            <p:nvPr/>
          </p:nvSpPr>
          <p:spPr bwMode="auto">
            <a:xfrm>
              <a:off x="2682875" y="2060575"/>
              <a:ext cx="324417" cy="3158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400" b="1">
                  <a:solidFill>
                    <a:srgbClr val="000000"/>
                  </a:solidFill>
                  <a:latin typeface="Calibri" panose="020F0502020204030204" pitchFamily="34" charset="0"/>
                </a:rPr>
                <a:t>AR</a:t>
              </a:r>
            </a:p>
          </p:txBody>
        </p:sp>
        <p:sp>
          <p:nvSpPr>
            <p:cNvPr id="12328" name="Rectangle 36"/>
            <p:cNvSpPr>
              <a:spLocks noChangeArrowheads="1"/>
            </p:cNvSpPr>
            <p:nvPr/>
          </p:nvSpPr>
          <p:spPr bwMode="auto">
            <a:xfrm>
              <a:off x="2711450" y="3709988"/>
              <a:ext cx="941388" cy="22225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b="1">
                <a:latin typeface="Calibri" panose="020F0502020204030204" pitchFamily="34" charset="0"/>
              </a:endParaRPr>
            </a:p>
          </p:txBody>
        </p:sp>
        <p:sp>
          <p:nvSpPr>
            <p:cNvPr id="12329" name="Rectangle 37"/>
            <p:cNvSpPr>
              <a:spLocks noChangeArrowheads="1"/>
            </p:cNvSpPr>
            <p:nvPr/>
          </p:nvSpPr>
          <p:spPr bwMode="auto">
            <a:xfrm>
              <a:off x="2767013" y="3687763"/>
              <a:ext cx="451536" cy="3158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400" b="1">
                  <a:solidFill>
                    <a:srgbClr val="000000"/>
                  </a:solidFill>
                  <a:latin typeface="Calibri" panose="020F0502020204030204" pitchFamily="34" charset="0"/>
                </a:rPr>
                <a:t>INPR</a:t>
              </a:r>
            </a:p>
          </p:txBody>
        </p:sp>
        <p:sp>
          <p:nvSpPr>
            <p:cNvPr id="12330" name="Rectangle 38"/>
            <p:cNvSpPr>
              <a:spLocks noChangeArrowheads="1"/>
            </p:cNvSpPr>
            <p:nvPr/>
          </p:nvSpPr>
          <p:spPr bwMode="auto">
            <a:xfrm>
              <a:off x="2282825" y="3486150"/>
              <a:ext cx="215837" cy="2839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0</a:t>
              </a:r>
            </a:p>
          </p:txBody>
        </p:sp>
        <p:sp>
          <p:nvSpPr>
            <p:cNvPr id="12331" name="Rectangle 39"/>
            <p:cNvSpPr>
              <a:spLocks noChangeArrowheads="1"/>
            </p:cNvSpPr>
            <p:nvPr/>
          </p:nvSpPr>
          <p:spPr bwMode="auto">
            <a:xfrm>
              <a:off x="2595563" y="3486150"/>
              <a:ext cx="215837" cy="2839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7</a:t>
              </a:r>
            </a:p>
          </p:txBody>
        </p:sp>
        <p:sp>
          <p:nvSpPr>
            <p:cNvPr id="12332" name="Rectangle 40"/>
            <p:cNvSpPr>
              <a:spLocks noChangeArrowheads="1"/>
            </p:cNvSpPr>
            <p:nvPr/>
          </p:nvSpPr>
          <p:spPr bwMode="auto">
            <a:xfrm>
              <a:off x="4410075" y="1439863"/>
              <a:ext cx="2154238" cy="106362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b="1">
                <a:latin typeface="Calibri" panose="020F0502020204030204" pitchFamily="34" charset="0"/>
              </a:endParaRPr>
            </a:p>
          </p:txBody>
        </p:sp>
        <p:sp>
          <p:nvSpPr>
            <p:cNvPr id="12333" name="Rectangle 41"/>
            <p:cNvSpPr>
              <a:spLocks noChangeArrowheads="1"/>
            </p:cNvSpPr>
            <p:nvPr/>
          </p:nvSpPr>
          <p:spPr bwMode="auto">
            <a:xfrm>
              <a:off x="4964113" y="1663700"/>
              <a:ext cx="678600" cy="5387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400" b="1">
                  <a:solidFill>
                    <a:srgbClr val="000000"/>
                  </a:solidFill>
                  <a:latin typeface="Calibri" panose="020F0502020204030204" pitchFamily="34" charset="0"/>
                </a:rPr>
                <a:t>Memory</a:t>
              </a:r>
            </a:p>
            <a:p>
              <a:pPr eaLnBrk="1" hangingPunct="1"/>
              <a:endParaRPr lang="en-US" altLang="ko-KR" sz="1400" b="1">
                <a:solidFill>
                  <a:srgbClr val="000000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2334" name="Rectangle 42"/>
            <p:cNvSpPr>
              <a:spLocks noChangeArrowheads="1"/>
            </p:cNvSpPr>
            <p:nvPr/>
          </p:nvSpPr>
          <p:spPr bwMode="auto">
            <a:xfrm>
              <a:off x="5359400" y="2166938"/>
              <a:ext cx="151007" cy="5387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ko-KR" sz="1400" b="1">
                <a:solidFill>
                  <a:srgbClr val="000000"/>
                </a:solidFill>
                <a:latin typeface="Calibri" panose="020F0502020204030204" pitchFamily="34" charset="0"/>
              </a:endParaRPr>
            </a:p>
            <a:p>
              <a:pPr eaLnBrk="1" hangingPunct="1"/>
              <a:endParaRPr lang="en-US" altLang="ko-KR" sz="1400" b="1">
                <a:solidFill>
                  <a:srgbClr val="000000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2335" name="Rectangle 43"/>
            <p:cNvSpPr>
              <a:spLocks noChangeArrowheads="1"/>
            </p:cNvSpPr>
            <p:nvPr/>
          </p:nvSpPr>
          <p:spPr bwMode="auto">
            <a:xfrm>
              <a:off x="4965700" y="1957388"/>
              <a:ext cx="737551" cy="3158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400" b="1">
                  <a:solidFill>
                    <a:srgbClr val="000000"/>
                  </a:solidFill>
                  <a:latin typeface="Calibri" panose="020F0502020204030204" pitchFamily="34" charset="0"/>
                </a:rPr>
                <a:t>4096 x 16</a:t>
              </a:r>
            </a:p>
          </p:txBody>
        </p:sp>
        <p:sp>
          <p:nvSpPr>
            <p:cNvPr id="12336" name="Line 46"/>
            <p:cNvSpPr>
              <a:spLocks noChangeShapeType="1"/>
            </p:cNvSpPr>
            <p:nvPr/>
          </p:nvSpPr>
          <p:spPr bwMode="auto">
            <a:xfrm>
              <a:off x="1171575" y="1200150"/>
              <a:ext cx="0" cy="2943225"/>
            </a:xfrm>
            <a:prstGeom prst="line">
              <a:avLst/>
            </a:prstGeom>
            <a:noFill/>
            <a:ln w="38100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2337" name="Line 47"/>
            <p:cNvSpPr>
              <a:spLocks noChangeShapeType="1"/>
            </p:cNvSpPr>
            <p:nvPr/>
          </p:nvSpPr>
          <p:spPr bwMode="auto">
            <a:xfrm rot="-5400000">
              <a:off x="4078288" y="1316038"/>
              <a:ext cx="0" cy="5791200"/>
            </a:xfrm>
            <a:prstGeom prst="line">
              <a:avLst/>
            </a:prstGeom>
            <a:noFill/>
            <a:ln w="38100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2338" name="Line 48"/>
            <p:cNvSpPr>
              <a:spLocks noChangeShapeType="1"/>
            </p:cNvSpPr>
            <p:nvPr/>
          </p:nvSpPr>
          <p:spPr bwMode="auto">
            <a:xfrm rot="-5400000">
              <a:off x="2584450" y="-168275"/>
              <a:ext cx="0" cy="2762250"/>
            </a:xfrm>
            <a:prstGeom prst="line">
              <a:avLst/>
            </a:prstGeom>
            <a:noFill/>
            <a:ln w="38100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2339" name="Line 49"/>
            <p:cNvSpPr>
              <a:spLocks noChangeShapeType="1"/>
            </p:cNvSpPr>
            <p:nvPr/>
          </p:nvSpPr>
          <p:spPr bwMode="auto">
            <a:xfrm>
              <a:off x="3968750" y="1254125"/>
              <a:ext cx="0" cy="1619250"/>
            </a:xfrm>
            <a:prstGeom prst="line">
              <a:avLst/>
            </a:prstGeom>
            <a:noFill/>
            <a:ln w="38100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2340" name="Line 50"/>
            <p:cNvSpPr>
              <a:spLocks noChangeShapeType="1"/>
            </p:cNvSpPr>
            <p:nvPr/>
          </p:nvSpPr>
          <p:spPr bwMode="auto">
            <a:xfrm rot="-5400000">
              <a:off x="5456238" y="1417638"/>
              <a:ext cx="0" cy="2933700"/>
            </a:xfrm>
            <a:prstGeom prst="line">
              <a:avLst/>
            </a:prstGeom>
            <a:noFill/>
            <a:ln w="38100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2341" name="Line 51"/>
            <p:cNvSpPr>
              <a:spLocks noChangeShapeType="1"/>
            </p:cNvSpPr>
            <p:nvPr/>
          </p:nvSpPr>
          <p:spPr bwMode="auto">
            <a:xfrm>
              <a:off x="6940550" y="2892425"/>
              <a:ext cx="0" cy="1228725"/>
            </a:xfrm>
            <a:prstGeom prst="line">
              <a:avLst/>
            </a:prstGeom>
            <a:noFill/>
            <a:ln w="38100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2342" name="Text Box 52"/>
            <p:cNvSpPr txBox="1">
              <a:spLocks noChangeArrowheads="1"/>
            </p:cNvSpPr>
            <p:nvPr/>
          </p:nvSpPr>
          <p:spPr bwMode="auto">
            <a:xfrm>
              <a:off x="6927850" y="2676525"/>
              <a:ext cx="406778" cy="3184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400" b="1">
                  <a:latin typeface="Calibri" panose="020F0502020204030204" pitchFamily="34" charset="0"/>
                </a:rPr>
                <a:t>CPU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79838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3316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18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Common Bus System</a:t>
            </a:r>
          </a:p>
        </p:txBody>
      </p:sp>
      <p:sp>
        <p:nvSpPr>
          <p:cNvPr id="13319" name="Rectangle 166"/>
          <p:cNvSpPr txBox="1">
            <a:spLocks noChangeArrowheads="1"/>
          </p:cNvSpPr>
          <p:nvPr/>
        </p:nvSpPr>
        <p:spPr bwMode="auto">
          <a:xfrm>
            <a:off x="2173288" y="1654176"/>
            <a:ext cx="7656512" cy="169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>
                <a:latin typeface="Calibri" panose="020F0502020204030204" pitchFamily="34" charset="0"/>
              </a:rPr>
              <a:t>The registers in the Basic Computer are connected using a bus</a:t>
            </a: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>
                <a:latin typeface="Calibri" panose="020F0502020204030204" pitchFamily="34" charset="0"/>
              </a:rPr>
              <a:t>This gives a savings in circuitry over complete connections between registers</a:t>
            </a:r>
          </a:p>
        </p:txBody>
      </p:sp>
    </p:spTree>
    <p:extLst>
      <p:ext uri="{BB962C8B-B14F-4D97-AF65-F5344CB8AC3E}">
        <p14:creationId xmlns:p14="http://schemas.microsoft.com/office/powerpoint/2010/main" val="22047882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4340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42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Common Bus System</a:t>
            </a:r>
          </a:p>
        </p:txBody>
      </p:sp>
      <p:grpSp>
        <p:nvGrpSpPr>
          <p:cNvPr id="14343" name="Group 156"/>
          <p:cNvGrpSpPr>
            <a:grpSpLocks/>
          </p:cNvGrpSpPr>
          <p:nvPr/>
        </p:nvGrpSpPr>
        <p:grpSpPr bwMode="auto">
          <a:xfrm>
            <a:off x="3744914" y="1128714"/>
            <a:ext cx="4256087" cy="5272087"/>
            <a:chOff x="1611313" y="823913"/>
            <a:chExt cx="4681537" cy="5670550"/>
          </a:xfrm>
        </p:grpSpPr>
        <p:sp>
          <p:nvSpPr>
            <p:cNvPr id="14344" name="Arc 4"/>
            <p:cNvSpPr>
              <a:spLocks/>
            </p:cNvSpPr>
            <p:nvPr/>
          </p:nvSpPr>
          <p:spPr bwMode="auto">
            <a:xfrm>
              <a:off x="5649913" y="828675"/>
              <a:ext cx="106362" cy="74613"/>
            </a:xfrm>
            <a:custGeom>
              <a:avLst/>
              <a:gdLst>
                <a:gd name="T0" fmla="*/ 122572509 w 21600"/>
                <a:gd name="T1" fmla="*/ 487765997 h 17255"/>
                <a:gd name="T2" fmla="*/ 129871225 w 21600"/>
                <a:gd name="T3" fmla="*/ 0 h 17255"/>
                <a:gd name="T4" fmla="*/ 1516291712 w 21600"/>
                <a:gd name="T5" fmla="*/ 247233962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345" name="Line 5"/>
            <p:cNvSpPr>
              <a:spLocks noChangeShapeType="1"/>
            </p:cNvSpPr>
            <p:nvPr/>
          </p:nvSpPr>
          <p:spPr bwMode="auto">
            <a:xfrm>
              <a:off x="5507038" y="866775"/>
              <a:ext cx="14763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46" name="Arc 6"/>
            <p:cNvSpPr>
              <a:spLocks/>
            </p:cNvSpPr>
            <p:nvPr/>
          </p:nvSpPr>
          <p:spPr bwMode="auto">
            <a:xfrm>
              <a:off x="5649913" y="939800"/>
              <a:ext cx="106362" cy="76200"/>
            </a:xfrm>
            <a:custGeom>
              <a:avLst/>
              <a:gdLst>
                <a:gd name="T0" fmla="*/ 122572509 w 21600"/>
                <a:gd name="T1" fmla="*/ 565190905 h 17255"/>
                <a:gd name="T2" fmla="*/ 129871225 w 21600"/>
                <a:gd name="T3" fmla="*/ 0 h 17255"/>
                <a:gd name="T4" fmla="*/ 1516291712 w 21600"/>
                <a:gd name="T5" fmla="*/ 286473432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347" name="Line 7"/>
            <p:cNvSpPr>
              <a:spLocks noChangeShapeType="1"/>
            </p:cNvSpPr>
            <p:nvPr/>
          </p:nvSpPr>
          <p:spPr bwMode="auto">
            <a:xfrm>
              <a:off x="5507038" y="982663"/>
              <a:ext cx="14763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48" name="Arc 8"/>
            <p:cNvSpPr>
              <a:spLocks/>
            </p:cNvSpPr>
            <p:nvPr/>
          </p:nvSpPr>
          <p:spPr bwMode="auto">
            <a:xfrm>
              <a:off x="5649913" y="1047750"/>
              <a:ext cx="106362" cy="74613"/>
            </a:xfrm>
            <a:custGeom>
              <a:avLst/>
              <a:gdLst>
                <a:gd name="T0" fmla="*/ 122572509 w 21600"/>
                <a:gd name="T1" fmla="*/ 487765997 h 17255"/>
                <a:gd name="T2" fmla="*/ 129871225 w 21600"/>
                <a:gd name="T3" fmla="*/ 0 h 17255"/>
                <a:gd name="T4" fmla="*/ 1516291712 w 21600"/>
                <a:gd name="T5" fmla="*/ 247233962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349" name="Line 9"/>
            <p:cNvSpPr>
              <a:spLocks noChangeShapeType="1"/>
            </p:cNvSpPr>
            <p:nvPr/>
          </p:nvSpPr>
          <p:spPr bwMode="auto">
            <a:xfrm>
              <a:off x="5507038" y="1089025"/>
              <a:ext cx="14763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50" name="Rectangle 11"/>
            <p:cNvSpPr>
              <a:spLocks noChangeArrowheads="1"/>
            </p:cNvSpPr>
            <p:nvPr/>
          </p:nvSpPr>
          <p:spPr bwMode="auto">
            <a:xfrm>
              <a:off x="5138738" y="868363"/>
              <a:ext cx="354413" cy="278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latin typeface="Calibri" panose="020F0502020204030204" pitchFamily="34" charset="0"/>
                </a:rPr>
                <a:t>S1</a:t>
              </a:r>
            </a:p>
          </p:txBody>
        </p:sp>
        <p:sp>
          <p:nvSpPr>
            <p:cNvPr id="14351" name="Rectangle 12"/>
            <p:cNvSpPr>
              <a:spLocks noChangeArrowheads="1"/>
            </p:cNvSpPr>
            <p:nvPr/>
          </p:nvSpPr>
          <p:spPr bwMode="auto">
            <a:xfrm>
              <a:off x="5153025" y="976313"/>
              <a:ext cx="354413" cy="278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latin typeface="Calibri" panose="020F0502020204030204" pitchFamily="34" charset="0"/>
                </a:rPr>
                <a:t>S0</a:t>
              </a:r>
            </a:p>
          </p:txBody>
        </p:sp>
        <p:sp>
          <p:nvSpPr>
            <p:cNvPr id="14352" name="Line 13"/>
            <p:cNvSpPr>
              <a:spLocks noChangeShapeType="1"/>
            </p:cNvSpPr>
            <p:nvPr/>
          </p:nvSpPr>
          <p:spPr bwMode="auto">
            <a:xfrm>
              <a:off x="5761038" y="831850"/>
              <a:ext cx="51911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53" name="Freeform 14"/>
            <p:cNvSpPr>
              <a:spLocks/>
            </p:cNvSpPr>
            <p:nvPr/>
          </p:nvSpPr>
          <p:spPr bwMode="auto">
            <a:xfrm>
              <a:off x="5749925" y="1190625"/>
              <a:ext cx="176213" cy="5130800"/>
            </a:xfrm>
            <a:custGeom>
              <a:avLst/>
              <a:gdLst>
                <a:gd name="T0" fmla="*/ 0 w 125"/>
                <a:gd name="T1" fmla="*/ 0 h 4233"/>
                <a:gd name="T2" fmla="*/ 2147483647 w 125"/>
                <a:gd name="T3" fmla="*/ 0 h 4233"/>
                <a:gd name="T4" fmla="*/ 2147483647 w 125"/>
                <a:gd name="T5" fmla="*/ 2147483647 h 4233"/>
                <a:gd name="T6" fmla="*/ 0 60000 65536"/>
                <a:gd name="T7" fmla="*/ 0 60000 65536"/>
                <a:gd name="T8" fmla="*/ 0 60000 65536"/>
                <a:gd name="T9" fmla="*/ 0 w 125"/>
                <a:gd name="T10" fmla="*/ 0 h 4233"/>
                <a:gd name="T11" fmla="*/ 125 w 125"/>
                <a:gd name="T12" fmla="*/ 4233 h 423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5" h="4233">
                  <a:moveTo>
                    <a:pt x="0" y="0"/>
                  </a:moveTo>
                  <a:lnTo>
                    <a:pt x="124" y="0"/>
                  </a:lnTo>
                  <a:lnTo>
                    <a:pt x="124" y="4232"/>
                  </a:lnTo>
                </a:path>
              </a:pathLst>
            </a:custGeom>
            <a:noFill/>
            <a:ln w="254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354" name="Line 15"/>
            <p:cNvSpPr>
              <a:spLocks noChangeShapeType="1"/>
            </p:cNvSpPr>
            <p:nvPr/>
          </p:nvSpPr>
          <p:spPr bwMode="auto">
            <a:xfrm>
              <a:off x="6138863" y="1185863"/>
              <a:ext cx="0" cy="528955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55" name="Freeform 16"/>
            <p:cNvSpPr>
              <a:spLocks/>
            </p:cNvSpPr>
            <p:nvPr/>
          </p:nvSpPr>
          <p:spPr bwMode="auto">
            <a:xfrm>
              <a:off x="6134100" y="830263"/>
              <a:ext cx="158750" cy="349250"/>
            </a:xfrm>
            <a:custGeom>
              <a:avLst/>
              <a:gdLst>
                <a:gd name="T0" fmla="*/ 0 w 113"/>
                <a:gd name="T1" fmla="*/ 2147483647 h 289"/>
                <a:gd name="T2" fmla="*/ 2147483647 w 113"/>
                <a:gd name="T3" fmla="*/ 2147483647 h 289"/>
                <a:gd name="T4" fmla="*/ 2147483647 w 113"/>
                <a:gd name="T5" fmla="*/ 0 h 289"/>
                <a:gd name="T6" fmla="*/ 0 60000 65536"/>
                <a:gd name="T7" fmla="*/ 0 60000 65536"/>
                <a:gd name="T8" fmla="*/ 0 60000 65536"/>
                <a:gd name="T9" fmla="*/ 0 w 113"/>
                <a:gd name="T10" fmla="*/ 0 h 289"/>
                <a:gd name="T11" fmla="*/ 113 w 113"/>
                <a:gd name="T12" fmla="*/ 289 h 28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3" h="289">
                  <a:moveTo>
                    <a:pt x="0" y="288"/>
                  </a:moveTo>
                  <a:lnTo>
                    <a:pt x="112" y="288"/>
                  </a:lnTo>
                  <a:lnTo>
                    <a:pt x="112" y="0"/>
                  </a:lnTo>
                </a:path>
              </a:pathLst>
            </a:custGeom>
            <a:noFill/>
            <a:ln w="254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356" name="Rectangle 17"/>
            <p:cNvSpPr>
              <a:spLocks noChangeArrowheads="1"/>
            </p:cNvSpPr>
            <p:nvPr/>
          </p:nvSpPr>
          <p:spPr bwMode="auto">
            <a:xfrm>
              <a:off x="5781675" y="868363"/>
              <a:ext cx="431996" cy="278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latin typeface="Calibri" panose="020F0502020204030204" pitchFamily="34" charset="0"/>
                </a:rPr>
                <a:t>Bus</a:t>
              </a:r>
            </a:p>
          </p:txBody>
        </p:sp>
        <p:sp>
          <p:nvSpPr>
            <p:cNvPr id="14357" name="Rectangle 18"/>
            <p:cNvSpPr>
              <a:spLocks noChangeArrowheads="1"/>
            </p:cNvSpPr>
            <p:nvPr/>
          </p:nvSpPr>
          <p:spPr bwMode="auto">
            <a:xfrm>
              <a:off x="3622675" y="1198563"/>
              <a:ext cx="1047368" cy="4606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latin typeface="Calibri" panose="020F0502020204030204" pitchFamily="34" charset="0"/>
                </a:rPr>
                <a:t>Memory unit</a:t>
              </a:r>
            </a:p>
            <a:p>
              <a:pPr eaLnBrk="1" latinLnBrk="1" hangingPunct="1"/>
              <a:endParaRPr lang="en-US" altLang="ko-KR" sz="1100" b="1">
                <a:solidFill>
                  <a:srgbClr val="000000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4358" name="Rectangle 19"/>
            <p:cNvSpPr>
              <a:spLocks noChangeArrowheads="1"/>
            </p:cNvSpPr>
            <p:nvPr/>
          </p:nvSpPr>
          <p:spPr bwMode="auto">
            <a:xfrm>
              <a:off x="3716338" y="1335088"/>
              <a:ext cx="814619" cy="278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latin typeface="Calibri" panose="020F0502020204030204" pitchFamily="34" charset="0"/>
                </a:rPr>
                <a:t>4096 x 16</a:t>
              </a:r>
            </a:p>
          </p:txBody>
        </p:sp>
        <p:sp>
          <p:nvSpPr>
            <p:cNvPr id="14359" name="Rectangle 20"/>
            <p:cNvSpPr>
              <a:spLocks noChangeArrowheads="1"/>
            </p:cNvSpPr>
            <p:nvPr/>
          </p:nvSpPr>
          <p:spPr bwMode="auto">
            <a:xfrm>
              <a:off x="3446463" y="1152525"/>
              <a:ext cx="1389062" cy="41592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latin typeface="Calibri" panose="020F0502020204030204" pitchFamily="34" charset="0"/>
              </a:endParaRPr>
            </a:p>
          </p:txBody>
        </p:sp>
        <p:sp>
          <p:nvSpPr>
            <p:cNvPr id="14360" name="Rectangle 21"/>
            <p:cNvSpPr>
              <a:spLocks noChangeArrowheads="1"/>
            </p:cNvSpPr>
            <p:nvPr/>
          </p:nvSpPr>
          <p:spPr bwMode="auto">
            <a:xfrm>
              <a:off x="3535363" y="2255838"/>
              <a:ext cx="971549" cy="278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latin typeface="Calibri" panose="020F0502020204030204" pitchFamily="34" charset="0"/>
                </a:rPr>
                <a:t>LD  INR  CLR</a:t>
              </a:r>
            </a:p>
          </p:txBody>
        </p:sp>
        <p:sp>
          <p:nvSpPr>
            <p:cNvPr id="14361" name="Arc 22"/>
            <p:cNvSpPr>
              <a:spLocks/>
            </p:cNvSpPr>
            <p:nvPr/>
          </p:nvSpPr>
          <p:spPr bwMode="auto">
            <a:xfrm>
              <a:off x="5830888" y="1266825"/>
              <a:ext cx="106362" cy="73025"/>
            </a:xfrm>
            <a:custGeom>
              <a:avLst/>
              <a:gdLst>
                <a:gd name="T0" fmla="*/ 122572509 w 21600"/>
                <a:gd name="T1" fmla="*/ 419577092 h 17255"/>
                <a:gd name="T2" fmla="*/ 129871225 w 21600"/>
                <a:gd name="T3" fmla="*/ 0 h 17255"/>
                <a:gd name="T4" fmla="*/ 1516291712 w 21600"/>
                <a:gd name="T5" fmla="*/ 212669356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362" name="Line 23"/>
            <p:cNvSpPr>
              <a:spLocks noChangeShapeType="1"/>
            </p:cNvSpPr>
            <p:nvPr/>
          </p:nvSpPr>
          <p:spPr bwMode="auto">
            <a:xfrm>
              <a:off x="4840288" y="1311275"/>
              <a:ext cx="10001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63" name="Rectangle 24"/>
            <p:cNvSpPr>
              <a:spLocks noChangeArrowheads="1"/>
            </p:cNvSpPr>
            <p:nvPr/>
          </p:nvSpPr>
          <p:spPr bwMode="auto">
            <a:xfrm>
              <a:off x="4814888" y="1470025"/>
              <a:ext cx="715878" cy="278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latin typeface="Calibri" panose="020F0502020204030204" pitchFamily="34" charset="0"/>
                </a:rPr>
                <a:t>Address</a:t>
              </a:r>
            </a:p>
          </p:txBody>
        </p:sp>
        <p:sp>
          <p:nvSpPr>
            <p:cNvPr id="14364" name="Arc 25"/>
            <p:cNvSpPr>
              <a:spLocks/>
            </p:cNvSpPr>
            <p:nvPr/>
          </p:nvSpPr>
          <p:spPr bwMode="auto">
            <a:xfrm>
              <a:off x="4846638" y="1436688"/>
              <a:ext cx="106362" cy="73025"/>
            </a:xfrm>
            <a:custGeom>
              <a:avLst/>
              <a:gdLst>
                <a:gd name="T0" fmla="*/ 1383128427 w 21600"/>
                <a:gd name="T1" fmla="*/ 0 h 17464"/>
                <a:gd name="T2" fmla="*/ 1390568406 w 21600"/>
                <a:gd name="T3" fmla="*/ 390335745 h 17464"/>
                <a:gd name="T4" fmla="*/ 0 w 21600"/>
                <a:gd name="T5" fmla="*/ 197849090 h 17464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464"/>
                <a:gd name="T11" fmla="*/ 21600 w 21600"/>
                <a:gd name="T12" fmla="*/ 17464 h 1746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464" fill="none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</a:path>
                <a:path w="21600" h="17464" stroke="0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  <a:lnTo>
                    <a:pt x="0" y="8852"/>
                  </a:lnTo>
                  <a:lnTo>
                    <a:pt x="1970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365" name="Freeform 26"/>
            <p:cNvSpPr>
              <a:spLocks/>
            </p:cNvSpPr>
            <p:nvPr/>
          </p:nvSpPr>
          <p:spPr bwMode="auto">
            <a:xfrm>
              <a:off x="4937125" y="1473200"/>
              <a:ext cx="611188" cy="582613"/>
            </a:xfrm>
            <a:custGeom>
              <a:avLst/>
              <a:gdLst>
                <a:gd name="T0" fmla="*/ 0 w 433"/>
                <a:gd name="T1" fmla="*/ 0 h 481"/>
                <a:gd name="T2" fmla="*/ 2147483647 w 433"/>
                <a:gd name="T3" fmla="*/ 0 h 481"/>
                <a:gd name="T4" fmla="*/ 2147483647 w 433"/>
                <a:gd name="T5" fmla="*/ 2147483647 h 481"/>
                <a:gd name="T6" fmla="*/ 0 60000 65536"/>
                <a:gd name="T7" fmla="*/ 0 60000 65536"/>
                <a:gd name="T8" fmla="*/ 0 60000 65536"/>
                <a:gd name="T9" fmla="*/ 0 w 433"/>
                <a:gd name="T10" fmla="*/ 0 h 481"/>
                <a:gd name="T11" fmla="*/ 433 w 433"/>
                <a:gd name="T12" fmla="*/ 481 h 48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3" h="481">
                  <a:moveTo>
                    <a:pt x="0" y="0"/>
                  </a:moveTo>
                  <a:lnTo>
                    <a:pt x="432" y="0"/>
                  </a:lnTo>
                  <a:lnTo>
                    <a:pt x="432" y="480"/>
                  </a:lnTo>
                </a:path>
              </a:pathLst>
            </a:custGeom>
            <a:noFill/>
            <a:ln w="254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366" name="Line 27"/>
            <p:cNvSpPr>
              <a:spLocks noChangeShapeType="1"/>
            </p:cNvSpPr>
            <p:nvPr/>
          </p:nvSpPr>
          <p:spPr bwMode="auto">
            <a:xfrm>
              <a:off x="4468813" y="1574800"/>
              <a:ext cx="0" cy="1016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67" name="Rectangle 28"/>
            <p:cNvSpPr>
              <a:spLocks noChangeArrowheads="1"/>
            </p:cNvSpPr>
            <p:nvPr/>
          </p:nvSpPr>
          <p:spPr bwMode="auto">
            <a:xfrm>
              <a:off x="4192588" y="1693863"/>
              <a:ext cx="525448" cy="278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latin typeface="Calibri" panose="020F0502020204030204" pitchFamily="34" charset="0"/>
                </a:rPr>
                <a:t>Read</a:t>
              </a:r>
            </a:p>
          </p:txBody>
        </p:sp>
        <p:sp>
          <p:nvSpPr>
            <p:cNvPr id="14368" name="Rectangle 29"/>
            <p:cNvSpPr>
              <a:spLocks noChangeArrowheads="1"/>
            </p:cNvSpPr>
            <p:nvPr/>
          </p:nvSpPr>
          <p:spPr bwMode="auto">
            <a:xfrm>
              <a:off x="3478213" y="1693863"/>
              <a:ext cx="567766" cy="278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latin typeface="Calibri" panose="020F0502020204030204" pitchFamily="34" charset="0"/>
                </a:rPr>
                <a:t>Write</a:t>
              </a:r>
            </a:p>
          </p:txBody>
        </p:sp>
        <p:sp>
          <p:nvSpPr>
            <p:cNvPr id="14369" name="Rectangle 30"/>
            <p:cNvSpPr>
              <a:spLocks noChangeArrowheads="1"/>
            </p:cNvSpPr>
            <p:nvPr/>
          </p:nvSpPr>
          <p:spPr bwMode="auto">
            <a:xfrm>
              <a:off x="3598863" y="1960563"/>
              <a:ext cx="1252537" cy="195262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latin typeface="Calibri" panose="020F0502020204030204" pitchFamily="34" charset="0"/>
              </a:endParaRPr>
            </a:p>
          </p:txBody>
        </p:sp>
        <p:sp>
          <p:nvSpPr>
            <p:cNvPr id="14370" name="Line 31"/>
            <p:cNvSpPr>
              <a:spLocks noChangeShapeType="1"/>
            </p:cNvSpPr>
            <p:nvPr/>
          </p:nvSpPr>
          <p:spPr bwMode="auto">
            <a:xfrm flipH="1">
              <a:off x="4033838" y="2160588"/>
              <a:ext cx="0" cy="11271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71" name="Line 32"/>
            <p:cNvSpPr>
              <a:spLocks noChangeShapeType="1"/>
            </p:cNvSpPr>
            <p:nvPr/>
          </p:nvSpPr>
          <p:spPr bwMode="auto">
            <a:xfrm>
              <a:off x="4360863" y="2155825"/>
              <a:ext cx="0" cy="1174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72" name="Freeform 33"/>
            <p:cNvSpPr>
              <a:spLocks/>
            </p:cNvSpPr>
            <p:nvPr/>
          </p:nvSpPr>
          <p:spPr bwMode="auto">
            <a:xfrm>
              <a:off x="4670425" y="2165350"/>
              <a:ext cx="498475" cy="117475"/>
            </a:xfrm>
            <a:custGeom>
              <a:avLst/>
              <a:gdLst>
                <a:gd name="T0" fmla="*/ 0 w 353"/>
                <a:gd name="T1" fmla="*/ 0 h 97"/>
                <a:gd name="T2" fmla="*/ 0 w 353"/>
                <a:gd name="T3" fmla="*/ 2147483647 h 97"/>
                <a:gd name="T4" fmla="*/ 2147483647 w 353"/>
                <a:gd name="T5" fmla="*/ 2147483647 h 97"/>
                <a:gd name="T6" fmla="*/ 0 60000 65536"/>
                <a:gd name="T7" fmla="*/ 0 60000 65536"/>
                <a:gd name="T8" fmla="*/ 0 60000 65536"/>
                <a:gd name="T9" fmla="*/ 0 w 353"/>
                <a:gd name="T10" fmla="*/ 0 h 97"/>
                <a:gd name="T11" fmla="*/ 353 w 353"/>
                <a:gd name="T12" fmla="*/ 97 h 9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53" h="97">
                  <a:moveTo>
                    <a:pt x="0" y="0"/>
                  </a:moveTo>
                  <a:lnTo>
                    <a:pt x="0" y="96"/>
                  </a:lnTo>
                  <a:lnTo>
                    <a:pt x="352" y="96"/>
                  </a:lnTo>
                </a:path>
              </a:pathLst>
            </a:custGeom>
            <a:noFill/>
            <a:ln w="254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373" name="Arc 34"/>
            <p:cNvSpPr>
              <a:spLocks/>
            </p:cNvSpPr>
            <p:nvPr/>
          </p:nvSpPr>
          <p:spPr bwMode="auto">
            <a:xfrm>
              <a:off x="5835650" y="2027238"/>
              <a:ext cx="107950" cy="73025"/>
            </a:xfrm>
            <a:custGeom>
              <a:avLst/>
              <a:gdLst>
                <a:gd name="T0" fmla="*/ 135965974 w 21600"/>
                <a:gd name="T1" fmla="*/ 419577092 h 17255"/>
                <a:gd name="T2" fmla="*/ 144069098 w 21600"/>
                <a:gd name="T3" fmla="*/ 0 h 17255"/>
                <a:gd name="T4" fmla="*/ 1682036950 w 21600"/>
                <a:gd name="T5" fmla="*/ 212669356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374" name="Line 35"/>
            <p:cNvSpPr>
              <a:spLocks noChangeShapeType="1"/>
            </p:cNvSpPr>
            <p:nvPr/>
          </p:nvSpPr>
          <p:spPr bwMode="auto">
            <a:xfrm>
              <a:off x="4875213" y="2063750"/>
              <a:ext cx="9810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75" name="Rectangle 36"/>
            <p:cNvSpPr>
              <a:spLocks noChangeArrowheads="1"/>
            </p:cNvSpPr>
            <p:nvPr/>
          </p:nvSpPr>
          <p:spPr bwMode="auto">
            <a:xfrm>
              <a:off x="4016375" y="1933575"/>
              <a:ext cx="382625" cy="278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latin typeface="Calibri" panose="020F0502020204030204" pitchFamily="34" charset="0"/>
                </a:rPr>
                <a:t>AR</a:t>
              </a:r>
            </a:p>
          </p:txBody>
        </p:sp>
        <p:sp>
          <p:nvSpPr>
            <p:cNvPr id="14376" name="Freeform 37"/>
            <p:cNvSpPr>
              <a:spLocks/>
            </p:cNvSpPr>
            <p:nvPr/>
          </p:nvSpPr>
          <p:spPr bwMode="auto">
            <a:xfrm>
              <a:off x="4608513" y="2092325"/>
              <a:ext cx="138112" cy="50800"/>
            </a:xfrm>
            <a:custGeom>
              <a:avLst/>
              <a:gdLst>
                <a:gd name="T0" fmla="*/ 0 w 97"/>
                <a:gd name="T1" fmla="*/ 2147483647 h 41"/>
                <a:gd name="T2" fmla="*/ 2147483647 w 97"/>
                <a:gd name="T3" fmla="*/ 0 h 41"/>
                <a:gd name="T4" fmla="*/ 2147483647 w 97"/>
                <a:gd name="T5" fmla="*/ 2147483647 h 41"/>
                <a:gd name="T6" fmla="*/ 0 60000 65536"/>
                <a:gd name="T7" fmla="*/ 0 60000 65536"/>
                <a:gd name="T8" fmla="*/ 0 60000 65536"/>
                <a:gd name="T9" fmla="*/ 0 w 97"/>
                <a:gd name="T10" fmla="*/ 0 h 41"/>
                <a:gd name="T11" fmla="*/ 97 w 97"/>
                <a:gd name="T12" fmla="*/ 41 h 4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7" h="41">
                  <a:moveTo>
                    <a:pt x="0" y="40"/>
                  </a:moveTo>
                  <a:lnTo>
                    <a:pt x="48" y="0"/>
                  </a:lnTo>
                  <a:lnTo>
                    <a:pt x="96" y="40"/>
                  </a:lnTo>
                </a:path>
              </a:pathLst>
            </a:custGeom>
            <a:noFill/>
            <a:ln w="254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377" name="Rectangle 38"/>
            <p:cNvSpPr>
              <a:spLocks noChangeArrowheads="1"/>
            </p:cNvSpPr>
            <p:nvPr/>
          </p:nvSpPr>
          <p:spPr bwMode="auto">
            <a:xfrm>
              <a:off x="3548064" y="2811463"/>
              <a:ext cx="971549" cy="278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latin typeface="Calibri" panose="020F0502020204030204" pitchFamily="34" charset="0"/>
                </a:rPr>
                <a:t>LD  INR  CLR</a:t>
              </a:r>
            </a:p>
          </p:txBody>
        </p:sp>
        <p:sp>
          <p:nvSpPr>
            <p:cNvPr id="14378" name="Rectangle 39"/>
            <p:cNvSpPr>
              <a:spLocks noChangeArrowheads="1"/>
            </p:cNvSpPr>
            <p:nvPr/>
          </p:nvSpPr>
          <p:spPr bwMode="auto">
            <a:xfrm>
              <a:off x="3598863" y="2519363"/>
              <a:ext cx="1252537" cy="20320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latin typeface="Calibri" panose="020F0502020204030204" pitchFamily="34" charset="0"/>
              </a:endParaRPr>
            </a:p>
          </p:txBody>
        </p:sp>
        <p:sp>
          <p:nvSpPr>
            <p:cNvPr id="14379" name="Line 40"/>
            <p:cNvSpPr>
              <a:spLocks noChangeShapeType="1"/>
            </p:cNvSpPr>
            <p:nvPr/>
          </p:nvSpPr>
          <p:spPr bwMode="auto">
            <a:xfrm>
              <a:off x="4033838" y="2727325"/>
              <a:ext cx="0" cy="1016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80" name="Line 41"/>
            <p:cNvSpPr>
              <a:spLocks noChangeShapeType="1"/>
            </p:cNvSpPr>
            <p:nvPr/>
          </p:nvSpPr>
          <p:spPr bwMode="auto">
            <a:xfrm>
              <a:off x="4360863" y="2727325"/>
              <a:ext cx="0" cy="1016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81" name="Freeform 42"/>
            <p:cNvSpPr>
              <a:spLocks/>
            </p:cNvSpPr>
            <p:nvPr/>
          </p:nvSpPr>
          <p:spPr bwMode="auto">
            <a:xfrm>
              <a:off x="4670425" y="2733675"/>
              <a:ext cx="487363" cy="106363"/>
            </a:xfrm>
            <a:custGeom>
              <a:avLst/>
              <a:gdLst>
                <a:gd name="T0" fmla="*/ 0 w 345"/>
                <a:gd name="T1" fmla="*/ 0 h 89"/>
                <a:gd name="T2" fmla="*/ 0 w 345"/>
                <a:gd name="T3" fmla="*/ 2147483647 h 89"/>
                <a:gd name="T4" fmla="*/ 2147483647 w 345"/>
                <a:gd name="T5" fmla="*/ 2147483647 h 89"/>
                <a:gd name="T6" fmla="*/ 0 60000 65536"/>
                <a:gd name="T7" fmla="*/ 0 60000 65536"/>
                <a:gd name="T8" fmla="*/ 0 60000 65536"/>
                <a:gd name="T9" fmla="*/ 0 w 345"/>
                <a:gd name="T10" fmla="*/ 0 h 89"/>
                <a:gd name="T11" fmla="*/ 345 w 345"/>
                <a:gd name="T12" fmla="*/ 89 h 8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45" h="89">
                  <a:moveTo>
                    <a:pt x="0" y="0"/>
                  </a:moveTo>
                  <a:lnTo>
                    <a:pt x="0" y="88"/>
                  </a:lnTo>
                  <a:lnTo>
                    <a:pt x="344" y="88"/>
                  </a:lnTo>
                </a:path>
              </a:pathLst>
            </a:custGeom>
            <a:noFill/>
            <a:ln w="254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382" name="Rectangle 43"/>
            <p:cNvSpPr>
              <a:spLocks noChangeArrowheads="1"/>
            </p:cNvSpPr>
            <p:nvPr/>
          </p:nvSpPr>
          <p:spPr bwMode="auto">
            <a:xfrm>
              <a:off x="4016375" y="2501900"/>
              <a:ext cx="363230" cy="278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latin typeface="Calibri" panose="020F0502020204030204" pitchFamily="34" charset="0"/>
                </a:rPr>
                <a:t>PC</a:t>
              </a:r>
            </a:p>
          </p:txBody>
        </p:sp>
        <p:sp>
          <p:nvSpPr>
            <p:cNvPr id="14383" name="Freeform 44"/>
            <p:cNvSpPr>
              <a:spLocks/>
            </p:cNvSpPr>
            <p:nvPr/>
          </p:nvSpPr>
          <p:spPr bwMode="auto">
            <a:xfrm>
              <a:off x="4603750" y="2659063"/>
              <a:ext cx="136525" cy="60325"/>
            </a:xfrm>
            <a:custGeom>
              <a:avLst/>
              <a:gdLst>
                <a:gd name="T0" fmla="*/ 0 w 97"/>
                <a:gd name="T1" fmla="*/ 2147483647 h 49"/>
                <a:gd name="T2" fmla="*/ 2147483647 w 97"/>
                <a:gd name="T3" fmla="*/ 0 h 49"/>
                <a:gd name="T4" fmla="*/ 2147483647 w 97"/>
                <a:gd name="T5" fmla="*/ 2147483647 h 49"/>
                <a:gd name="T6" fmla="*/ 0 60000 65536"/>
                <a:gd name="T7" fmla="*/ 0 60000 65536"/>
                <a:gd name="T8" fmla="*/ 0 60000 65536"/>
                <a:gd name="T9" fmla="*/ 0 w 97"/>
                <a:gd name="T10" fmla="*/ 0 h 49"/>
                <a:gd name="T11" fmla="*/ 97 w 97"/>
                <a:gd name="T12" fmla="*/ 49 h 4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7" h="49">
                  <a:moveTo>
                    <a:pt x="0" y="48"/>
                  </a:moveTo>
                  <a:lnTo>
                    <a:pt x="48" y="0"/>
                  </a:lnTo>
                  <a:lnTo>
                    <a:pt x="96" y="48"/>
                  </a:lnTo>
                </a:path>
              </a:pathLst>
            </a:custGeom>
            <a:noFill/>
            <a:ln w="254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384" name="Rectangle 45"/>
            <p:cNvSpPr>
              <a:spLocks noChangeArrowheads="1"/>
            </p:cNvSpPr>
            <p:nvPr/>
          </p:nvSpPr>
          <p:spPr bwMode="auto">
            <a:xfrm>
              <a:off x="3424239" y="3433763"/>
              <a:ext cx="1042078" cy="278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latin typeface="Calibri" panose="020F0502020204030204" pitchFamily="34" charset="0"/>
                </a:rPr>
                <a:t>LD   INR   CLR</a:t>
              </a:r>
            </a:p>
          </p:txBody>
        </p:sp>
        <p:sp>
          <p:nvSpPr>
            <p:cNvPr id="14385" name="Rectangle 46"/>
            <p:cNvSpPr>
              <a:spLocks noChangeArrowheads="1"/>
            </p:cNvSpPr>
            <p:nvPr/>
          </p:nvSpPr>
          <p:spPr bwMode="auto">
            <a:xfrm>
              <a:off x="3389313" y="3119438"/>
              <a:ext cx="1446212" cy="204787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latin typeface="Calibri" panose="020F0502020204030204" pitchFamily="34" charset="0"/>
              </a:endParaRPr>
            </a:p>
          </p:txBody>
        </p:sp>
        <p:sp>
          <p:nvSpPr>
            <p:cNvPr id="14386" name="Line 47"/>
            <p:cNvSpPr>
              <a:spLocks noChangeShapeType="1"/>
            </p:cNvSpPr>
            <p:nvPr/>
          </p:nvSpPr>
          <p:spPr bwMode="auto">
            <a:xfrm>
              <a:off x="3576638" y="3333750"/>
              <a:ext cx="0" cy="9683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87" name="Line 48"/>
            <p:cNvSpPr>
              <a:spLocks noChangeShapeType="1"/>
            </p:cNvSpPr>
            <p:nvPr/>
          </p:nvSpPr>
          <p:spPr bwMode="auto">
            <a:xfrm>
              <a:off x="4343400" y="3328988"/>
              <a:ext cx="0" cy="1016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88" name="Freeform 49"/>
            <p:cNvSpPr>
              <a:spLocks/>
            </p:cNvSpPr>
            <p:nvPr/>
          </p:nvSpPr>
          <p:spPr bwMode="auto">
            <a:xfrm>
              <a:off x="4654550" y="3333750"/>
              <a:ext cx="509588" cy="107950"/>
            </a:xfrm>
            <a:custGeom>
              <a:avLst/>
              <a:gdLst>
                <a:gd name="T0" fmla="*/ 0 w 361"/>
                <a:gd name="T1" fmla="*/ 0 h 89"/>
                <a:gd name="T2" fmla="*/ 0 w 361"/>
                <a:gd name="T3" fmla="*/ 2147483647 h 89"/>
                <a:gd name="T4" fmla="*/ 2147483647 w 361"/>
                <a:gd name="T5" fmla="*/ 2147483647 h 89"/>
                <a:gd name="T6" fmla="*/ 0 60000 65536"/>
                <a:gd name="T7" fmla="*/ 0 60000 65536"/>
                <a:gd name="T8" fmla="*/ 0 60000 65536"/>
                <a:gd name="T9" fmla="*/ 0 w 361"/>
                <a:gd name="T10" fmla="*/ 0 h 89"/>
                <a:gd name="T11" fmla="*/ 361 w 361"/>
                <a:gd name="T12" fmla="*/ 89 h 8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61" h="89">
                  <a:moveTo>
                    <a:pt x="0" y="0"/>
                  </a:moveTo>
                  <a:lnTo>
                    <a:pt x="0" y="88"/>
                  </a:lnTo>
                  <a:lnTo>
                    <a:pt x="360" y="88"/>
                  </a:lnTo>
                </a:path>
              </a:pathLst>
            </a:custGeom>
            <a:noFill/>
            <a:ln w="254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389" name="Rectangle 50"/>
            <p:cNvSpPr>
              <a:spLocks noChangeArrowheads="1"/>
            </p:cNvSpPr>
            <p:nvPr/>
          </p:nvSpPr>
          <p:spPr bwMode="auto">
            <a:xfrm>
              <a:off x="3892550" y="3101975"/>
              <a:ext cx="386152" cy="278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latin typeface="Calibri" panose="020F0502020204030204" pitchFamily="34" charset="0"/>
                </a:rPr>
                <a:t>DR</a:t>
              </a:r>
            </a:p>
          </p:txBody>
        </p:sp>
        <p:sp>
          <p:nvSpPr>
            <p:cNvPr id="14390" name="Freeform 51"/>
            <p:cNvSpPr>
              <a:spLocks/>
            </p:cNvSpPr>
            <p:nvPr/>
          </p:nvSpPr>
          <p:spPr bwMode="auto">
            <a:xfrm>
              <a:off x="4586288" y="3262313"/>
              <a:ext cx="136525" cy="57150"/>
            </a:xfrm>
            <a:custGeom>
              <a:avLst/>
              <a:gdLst>
                <a:gd name="T0" fmla="*/ 0 w 97"/>
                <a:gd name="T1" fmla="*/ 2147483647 h 49"/>
                <a:gd name="T2" fmla="*/ 2147483647 w 97"/>
                <a:gd name="T3" fmla="*/ 0 h 49"/>
                <a:gd name="T4" fmla="*/ 2147483647 w 97"/>
                <a:gd name="T5" fmla="*/ 2147483647 h 49"/>
                <a:gd name="T6" fmla="*/ 0 60000 65536"/>
                <a:gd name="T7" fmla="*/ 0 60000 65536"/>
                <a:gd name="T8" fmla="*/ 0 60000 65536"/>
                <a:gd name="T9" fmla="*/ 0 w 97"/>
                <a:gd name="T10" fmla="*/ 0 h 49"/>
                <a:gd name="T11" fmla="*/ 97 w 97"/>
                <a:gd name="T12" fmla="*/ 49 h 4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7" h="49">
                  <a:moveTo>
                    <a:pt x="0" y="48"/>
                  </a:moveTo>
                  <a:lnTo>
                    <a:pt x="48" y="0"/>
                  </a:lnTo>
                  <a:lnTo>
                    <a:pt x="96" y="48"/>
                  </a:lnTo>
                </a:path>
              </a:pathLst>
            </a:custGeom>
            <a:noFill/>
            <a:ln w="254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391" name="Rectangle 52"/>
            <p:cNvSpPr>
              <a:spLocks noChangeArrowheads="1"/>
            </p:cNvSpPr>
            <p:nvPr/>
          </p:nvSpPr>
          <p:spPr bwMode="auto">
            <a:xfrm>
              <a:off x="3405188" y="4198938"/>
              <a:ext cx="1042078" cy="278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latin typeface="Calibri" panose="020F0502020204030204" pitchFamily="34" charset="0"/>
                </a:rPr>
                <a:t>LD   INR   CLR</a:t>
              </a:r>
            </a:p>
          </p:txBody>
        </p:sp>
        <p:sp>
          <p:nvSpPr>
            <p:cNvPr id="14392" name="Rectangle 53"/>
            <p:cNvSpPr>
              <a:spLocks noChangeArrowheads="1"/>
            </p:cNvSpPr>
            <p:nvPr/>
          </p:nvSpPr>
          <p:spPr bwMode="auto">
            <a:xfrm>
              <a:off x="3371850" y="3895725"/>
              <a:ext cx="1446213" cy="204788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latin typeface="Calibri" panose="020F0502020204030204" pitchFamily="34" charset="0"/>
              </a:endParaRPr>
            </a:p>
          </p:txBody>
        </p:sp>
        <p:sp>
          <p:nvSpPr>
            <p:cNvPr id="14393" name="Line 54"/>
            <p:cNvSpPr>
              <a:spLocks noChangeShapeType="1"/>
            </p:cNvSpPr>
            <p:nvPr/>
          </p:nvSpPr>
          <p:spPr bwMode="auto">
            <a:xfrm>
              <a:off x="3943350" y="4108450"/>
              <a:ext cx="0" cy="9842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94" name="Line 55"/>
            <p:cNvSpPr>
              <a:spLocks noChangeShapeType="1"/>
            </p:cNvSpPr>
            <p:nvPr/>
          </p:nvSpPr>
          <p:spPr bwMode="auto">
            <a:xfrm>
              <a:off x="4325938" y="4100513"/>
              <a:ext cx="0" cy="10636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95" name="Freeform 56"/>
            <p:cNvSpPr>
              <a:spLocks/>
            </p:cNvSpPr>
            <p:nvPr/>
          </p:nvSpPr>
          <p:spPr bwMode="auto">
            <a:xfrm>
              <a:off x="4637088" y="4108450"/>
              <a:ext cx="509587" cy="109538"/>
            </a:xfrm>
            <a:custGeom>
              <a:avLst/>
              <a:gdLst>
                <a:gd name="T0" fmla="*/ 0 w 361"/>
                <a:gd name="T1" fmla="*/ 0 h 89"/>
                <a:gd name="T2" fmla="*/ 0 w 361"/>
                <a:gd name="T3" fmla="*/ 2147483647 h 89"/>
                <a:gd name="T4" fmla="*/ 2147483647 w 361"/>
                <a:gd name="T5" fmla="*/ 2147483647 h 89"/>
                <a:gd name="T6" fmla="*/ 0 60000 65536"/>
                <a:gd name="T7" fmla="*/ 0 60000 65536"/>
                <a:gd name="T8" fmla="*/ 0 60000 65536"/>
                <a:gd name="T9" fmla="*/ 0 w 361"/>
                <a:gd name="T10" fmla="*/ 0 h 89"/>
                <a:gd name="T11" fmla="*/ 361 w 361"/>
                <a:gd name="T12" fmla="*/ 89 h 8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61" h="89">
                  <a:moveTo>
                    <a:pt x="0" y="0"/>
                  </a:moveTo>
                  <a:lnTo>
                    <a:pt x="0" y="88"/>
                  </a:lnTo>
                  <a:lnTo>
                    <a:pt x="360" y="88"/>
                  </a:lnTo>
                </a:path>
              </a:pathLst>
            </a:custGeom>
            <a:noFill/>
            <a:ln w="254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396" name="Rectangle 57"/>
            <p:cNvSpPr>
              <a:spLocks noChangeArrowheads="1"/>
            </p:cNvSpPr>
            <p:nvPr/>
          </p:nvSpPr>
          <p:spPr bwMode="auto">
            <a:xfrm>
              <a:off x="3857625" y="3878263"/>
              <a:ext cx="373809" cy="278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latin typeface="Calibri" panose="020F0502020204030204" pitchFamily="34" charset="0"/>
                </a:rPr>
                <a:t>AC</a:t>
              </a:r>
            </a:p>
          </p:txBody>
        </p:sp>
        <p:sp>
          <p:nvSpPr>
            <p:cNvPr id="14397" name="Freeform 58"/>
            <p:cNvSpPr>
              <a:spLocks/>
            </p:cNvSpPr>
            <p:nvPr/>
          </p:nvSpPr>
          <p:spPr bwMode="auto">
            <a:xfrm>
              <a:off x="4570413" y="4040188"/>
              <a:ext cx="136525" cy="60325"/>
            </a:xfrm>
            <a:custGeom>
              <a:avLst/>
              <a:gdLst>
                <a:gd name="T0" fmla="*/ 0 w 97"/>
                <a:gd name="T1" fmla="*/ 2147483647 h 49"/>
                <a:gd name="T2" fmla="*/ 2147483647 w 97"/>
                <a:gd name="T3" fmla="*/ 0 h 49"/>
                <a:gd name="T4" fmla="*/ 2147483647 w 97"/>
                <a:gd name="T5" fmla="*/ 2147483647 h 49"/>
                <a:gd name="T6" fmla="*/ 0 60000 65536"/>
                <a:gd name="T7" fmla="*/ 0 60000 65536"/>
                <a:gd name="T8" fmla="*/ 0 60000 65536"/>
                <a:gd name="T9" fmla="*/ 0 w 97"/>
                <a:gd name="T10" fmla="*/ 0 h 49"/>
                <a:gd name="T11" fmla="*/ 97 w 97"/>
                <a:gd name="T12" fmla="*/ 49 h 4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7" h="49">
                  <a:moveTo>
                    <a:pt x="0" y="48"/>
                  </a:moveTo>
                  <a:lnTo>
                    <a:pt x="48" y="0"/>
                  </a:lnTo>
                  <a:lnTo>
                    <a:pt x="96" y="48"/>
                  </a:lnTo>
                </a:path>
              </a:pathLst>
            </a:custGeom>
            <a:noFill/>
            <a:ln w="254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398" name="Line 59"/>
            <p:cNvSpPr>
              <a:spLocks noChangeShapeType="1"/>
            </p:cNvSpPr>
            <p:nvPr/>
          </p:nvSpPr>
          <p:spPr bwMode="auto">
            <a:xfrm>
              <a:off x="2085975" y="3725863"/>
              <a:ext cx="34258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99" name="Arc 60"/>
            <p:cNvSpPr>
              <a:spLocks/>
            </p:cNvSpPr>
            <p:nvPr/>
          </p:nvSpPr>
          <p:spPr bwMode="auto">
            <a:xfrm>
              <a:off x="5835650" y="2574925"/>
              <a:ext cx="107950" cy="74613"/>
            </a:xfrm>
            <a:custGeom>
              <a:avLst/>
              <a:gdLst>
                <a:gd name="T0" fmla="*/ 135965974 w 21600"/>
                <a:gd name="T1" fmla="*/ 487765997 h 17255"/>
                <a:gd name="T2" fmla="*/ 144069098 w 21600"/>
                <a:gd name="T3" fmla="*/ 0 h 17255"/>
                <a:gd name="T4" fmla="*/ 1682036950 w 21600"/>
                <a:gd name="T5" fmla="*/ 247233962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400" name="Line 61"/>
            <p:cNvSpPr>
              <a:spLocks noChangeShapeType="1"/>
            </p:cNvSpPr>
            <p:nvPr/>
          </p:nvSpPr>
          <p:spPr bwMode="auto">
            <a:xfrm>
              <a:off x="4875213" y="2620963"/>
              <a:ext cx="9810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01" name="Arc 62"/>
            <p:cNvSpPr>
              <a:spLocks/>
            </p:cNvSpPr>
            <p:nvPr/>
          </p:nvSpPr>
          <p:spPr bwMode="auto">
            <a:xfrm>
              <a:off x="5842000" y="3186113"/>
              <a:ext cx="106363" cy="74612"/>
            </a:xfrm>
            <a:custGeom>
              <a:avLst/>
              <a:gdLst>
                <a:gd name="T0" fmla="*/ 122578310 w 21600"/>
                <a:gd name="T1" fmla="*/ 487719609 h 17255"/>
                <a:gd name="T2" fmla="*/ 129880246 w 21600"/>
                <a:gd name="T3" fmla="*/ 0 h 17255"/>
                <a:gd name="T4" fmla="*/ 1516390428 w 21600"/>
                <a:gd name="T5" fmla="*/ 247206848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402" name="Line 63"/>
            <p:cNvSpPr>
              <a:spLocks noChangeShapeType="1"/>
            </p:cNvSpPr>
            <p:nvPr/>
          </p:nvSpPr>
          <p:spPr bwMode="auto">
            <a:xfrm>
              <a:off x="4857750" y="3232150"/>
              <a:ext cx="982663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03" name="Arc 64"/>
            <p:cNvSpPr>
              <a:spLocks/>
            </p:cNvSpPr>
            <p:nvPr/>
          </p:nvSpPr>
          <p:spPr bwMode="auto">
            <a:xfrm>
              <a:off x="5824538" y="3957638"/>
              <a:ext cx="107950" cy="73025"/>
            </a:xfrm>
            <a:custGeom>
              <a:avLst/>
              <a:gdLst>
                <a:gd name="T0" fmla="*/ 135965974 w 21600"/>
                <a:gd name="T1" fmla="*/ 419577092 h 17255"/>
                <a:gd name="T2" fmla="*/ 144069098 w 21600"/>
                <a:gd name="T3" fmla="*/ 0 h 17255"/>
                <a:gd name="T4" fmla="*/ 1682036950 w 21600"/>
                <a:gd name="T5" fmla="*/ 212669356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404" name="Line 65"/>
            <p:cNvSpPr>
              <a:spLocks noChangeShapeType="1"/>
            </p:cNvSpPr>
            <p:nvPr/>
          </p:nvSpPr>
          <p:spPr bwMode="auto">
            <a:xfrm>
              <a:off x="4835525" y="3997325"/>
              <a:ext cx="9874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05" name="Rectangle 66"/>
            <p:cNvSpPr>
              <a:spLocks noChangeArrowheads="1"/>
            </p:cNvSpPr>
            <p:nvPr/>
          </p:nvSpPr>
          <p:spPr bwMode="auto">
            <a:xfrm>
              <a:off x="2305050" y="3930650"/>
              <a:ext cx="460208" cy="3514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70000"/>
                </a:lnSpc>
              </a:pPr>
              <a:r>
                <a:rPr lang="en-US" altLang="ko-KR" sz="1100" b="1">
                  <a:solidFill>
                    <a:srgbClr val="000000"/>
                  </a:solidFill>
                  <a:latin typeface="Calibri" panose="020F0502020204030204" pitchFamily="34" charset="0"/>
                </a:rPr>
                <a:t>ALU</a:t>
              </a:r>
            </a:p>
            <a:p>
              <a:pPr eaLnBrk="1" latinLnBrk="1" hangingPunct="1">
                <a:lnSpc>
                  <a:spcPct val="70000"/>
                </a:lnSpc>
              </a:pPr>
              <a:endParaRPr lang="en-US" altLang="ko-KR" sz="1100" b="1">
                <a:solidFill>
                  <a:srgbClr val="000000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4406" name="Rectangle 68"/>
            <p:cNvSpPr>
              <a:spLocks noChangeArrowheads="1"/>
            </p:cNvSpPr>
            <p:nvPr/>
          </p:nvSpPr>
          <p:spPr bwMode="auto">
            <a:xfrm>
              <a:off x="2278063" y="3789363"/>
              <a:ext cx="534987" cy="53340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latin typeface="Calibri" panose="020F0502020204030204" pitchFamily="34" charset="0"/>
              </a:endParaRPr>
            </a:p>
          </p:txBody>
        </p:sp>
        <p:sp>
          <p:nvSpPr>
            <p:cNvPr id="14407" name="Rectangle 69"/>
            <p:cNvSpPr>
              <a:spLocks noChangeArrowheads="1"/>
            </p:cNvSpPr>
            <p:nvPr/>
          </p:nvSpPr>
          <p:spPr bwMode="auto">
            <a:xfrm>
              <a:off x="2963863" y="3729038"/>
              <a:ext cx="276831" cy="278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latin typeface="Calibri" panose="020F0502020204030204" pitchFamily="34" charset="0"/>
                </a:rPr>
                <a:t>E</a:t>
              </a:r>
            </a:p>
          </p:txBody>
        </p:sp>
        <p:sp>
          <p:nvSpPr>
            <p:cNvPr id="14408" name="Rectangle 70"/>
            <p:cNvSpPr>
              <a:spLocks noChangeArrowheads="1"/>
            </p:cNvSpPr>
            <p:nvPr/>
          </p:nvSpPr>
          <p:spPr bwMode="auto">
            <a:xfrm>
              <a:off x="2989263" y="3760788"/>
              <a:ext cx="225425" cy="192087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latin typeface="Calibri" panose="020F0502020204030204" pitchFamily="34" charset="0"/>
              </a:endParaRPr>
            </a:p>
          </p:txBody>
        </p:sp>
        <p:sp>
          <p:nvSpPr>
            <p:cNvPr id="14409" name="Arc 71"/>
            <p:cNvSpPr>
              <a:spLocks/>
            </p:cNvSpPr>
            <p:nvPr/>
          </p:nvSpPr>
          <p:spPr bwMode="auto">
            <a:xfrm>
              <a:off x="2878138" y="3792538"/>
              <a:ext cx="109537" cy="84137"/>
            </a:xfrm>
            <a:custGeom>
              <a:avLst/>
              <a:gdLst>
                <a:gd name="T0" fmla="*/ 268313056 w 21600"/>
                <a:gd name="T1" fmla="*/ 478583169 h 19914"/>
                <a:gd name="T2" fmla="*/ 159566831 w 21600"/>
                <a:gd name="T3" fmla="*/ 0 h 19914"/>
                <a:gd name="T4" fmla="*/ 1862957237 w 21600"/>
                <a:gd name="T5" fmla="*/ 210188458 h 19914"/>
                <a:gd name="T6" fmla="*/ 0 60000 65536"/>
                <a:gd name="T7" fmla="*/ 0 60000 65536"/>
                <a:gd name="T8" fmla="*/ 0 60000 65536"/>
                <a:gd name="T9" fmla="*/ 0 w 21600"/>
                <a:gd name="T10" fmla="*/ 0 h 19914"/>
                <a:gd name="T11" fmla="*/ 21600 w 21600"/>
                <a:gd name="T12" fmla="*/ 19914 h 1991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9914" fill="none" extrusionOk="0">
                  <a:moveTo>
                    <a:pt x="3111" y="19913"/>
                  </a:moveTo>
                  <a:cubicBezTo>
                    <a:pt x="1075" y="16544"/>
                    <a:pt x="0" y="12682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9914" stroke="0" extrusionOk="0">
                  <a:moveTo>
                    <a:pt x="3111" y="19913"/>
                  </a:moveTo>
                  <a:cubicBezTo>
                    <a:pt x="1075" y="16544"/>
                    <a:pt x="0" y="12682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3111" y="1991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410" name="Line 72"/>
            <p:cNvSpPr>
              <a:spLocks noChangeShapeType="1"/>
            </p:cNvSpPr>
            <p:nvPr/>
          </p:nvSpPr>
          <p:spPr bwMode="auto">
            <a:xfrm>
              <a:off x="2794000" y="3832225"/>
              <a:ext cx="1016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11" name="Arc 73"/>
            <p:cNvSpPr>
              <a:spLocks/>
            </p:cNvSpPr>
            <p:nvPr/>
          </p:nvSpPr>
          <p:spPr bwMode="auto">
            <a:xfrm>
              <a:off x="3262313" y="3967163"/>
              <a:ext cx="106362" cy="73025"/>
            </a:xfrm>
            <a:custGeom>
              <a:avLst/>
              <a:gdLst>
                <a:gd name="T0" fmla="*/ 122572509 w 21600"/>
                <a:gd name="T1" fmla="*/ 419577092 h 17255"/>
                <a:gd name="T2" fmla="*/ 129871225 w 21600"/>
                <a:gd name="T3" fmla="*/ 0 h 17255"/>
                <a:gd name="T4" fmla="*/ 1516291712 w 21600"/>
                <a:gd name="T5" fmla="*/ 212669356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412" name="Line 74"/>
            <p:cNvSpPr>
              <a:spLocks noChangeShapeType="1"/>
            </p:cNvSpPr>
            <p:nvPr/>
          </p:nvSpPr>
          <p:spPr bwMode="auto">
            <a:xfrm>
              <a:off x="2798763" y="3994150"/>
              <a:ext cx="481012" cy="31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13" name="Arc 75"/>
            <p:cNvSpPr>
              <a:spLocks/>
            </p:cNvSpPr>
            <p:nvPr/>
          </p:nvSpPr>
          <p:spPr bwMode="auto">
            <a:xfrm>
              <a:off x="2176463" y="3854450"/>
              <a:ext cx="106362" cy="73025"/>
            </a:xfrm>
            <a:custGeom>
              <a:avLst/>
              <a:gdLst>
                <a:gd name="T0" fmla="*/ 122572509 w 21600"/>
                <a:gd name="T1" fmla="*/ 419577092 h 17255"/>
                <a:gd name="T2" fmla="*/ 129871225 w 21600"/>
                <a:gd name="T3" fmla="*/ 0 h 17255"/>
                <a:gd name="T4" fmla="*/ 1516291712 w 21600"/>
                <a:gd name="T5" fmla="*/ 212669356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414" name="Line 76"/>
            <p:cNvSpPr>
              <a:spLocks noChangeShapeType="1"/>
            </p:cNvSpPr>
            <p:nvPr/>
          </p:nvSpPr>
          <p:spPr bwMode="auto">
            <a:xfrm>
              <a:off x="2085975" y="3892550"/>
              <a:ext cx="984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15" name="Arc 77"/>
            <p:cNvSpPr>
              <a:spLocks/>
            </p:cNvSpPr>
            <p:nvPr/>
          </p:nvSpPr>
          <p:spPr bwMode="auto">
            <a:xfrm>
              <a:off x="2176463" y="4019550"/>
              <a:ext cx="106362" cy="74613"/>
            </a:xfrm>
            <a:custGeom>
              <a:avLst/>
              <a:gdLst>
                <a:gd name="T0" fmla="*/ 122572509 w 21600"/>
                <a:gd name="T1" fmla="*/ 487765997 h 17255"/>
                <a:gd name="T2" fmla="*/ 129871225 w 21600"/>
                <a:gd name="T3" fmla="*/ 0 h 17255"/>
                <a:gd name="T4" fmla="*/ 1516291712 w 21600"/>
                <a:gd name="T5" fmla="*/ 247233962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416" name="Line 78"/>
            <p:cNvSpPr>
              <a:spLocks noChangeShapeType="1"/>
            </p:cNvSpPr>
            <p:nvPr/>
          </p:nvSpPr>
          <p:spPr bwMode="auto">
            <a:xfrm flipV="1">
              <a:off x="1955800" y="4056063"/>
              <a:ext cx="228600" cy="476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17" name="Arc 79"/>
            <p:cNvSpPr>
              <a:spLocks/>
            </p:cNvSpPr>
            <p:nvPr/>
          </p:nvSpPr>
          <p:spPr bwMode="auto">
            <a:xfrm>
              <a:off x="2176463" y="4184650"/>
              <a:ext cx="106362" cy="74613"/>
            </a:xfrm>
            <a:custGeom>
              <a:avLst/>
              <a:gdLst>
                <a:gd name="T0" fmla="*/ 122572509 w 21600"/>
                <a:gd name="T1" fmla="*/ 487765997 h 17255"/>
                <a:gd name="T2" fmla="*/ 129871225 w 21600"/>
                <a:gd name="T3" fmla="*/ 0 h 17255"/>
                <a:gd name="T4" fmla="*/ 1516291712 w 21600"/>
                <a:gd name="T5" fmla="*/ 247233962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418" name="Line 80"/>
            <p:cNvSpPr>
              <a:spLocks noChangeShapeType="1"/>
            </p:cNvSpPr>
            <p:nvPr/>
          </p:nvSpPr>
          <p:spPr bwMode="auto">
            <a:xfrm>
              <a:off x="2085975" y="4221163"/>
              <a:ext cx="984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19" name="Line 81"/>
            <p:cNvSpPr>
              <a:spLocks noChangeShapeType="1"/>
            </p:cNvSpPr>
            <p:nvPr/>
          </p:nvSpPr>
          <p:spPr bwMode="auto">
            <a:xfrm flipV="1">
              <a:off x="2074863" y="3711575"/>
              <a:ext cx="0" cy="19526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20" name="Line 82"/>
            <p:cNvSpPr>
              <a:spLocks noChangeShapeType="1"/>
            </p:cNvSpPr>
            <p:nvPr/>
          </p:nvSpPr>
          <p:spPr bwMode="auto">
            <a:xfrm flipV="1">
              <a:off x="2074863" y="4206875"/>
              <a:ext cx="0" cy="2413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21" name="Line 83"/>
            <p:cNvSpPr>
              <a:spLocks noChangeShapeType="1"/>
            </p:cNvSpPr>
            <p:nvPr/>
          </p:nvSpPr>
          <p:spPr bwMode="auto">
            <a:xfrm>
              <a:off x="2081213" y="4443413"/>
              <a:ext cx="341153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22" name="Line 84"/>
            <p:cNvSpPr>
              <a:spLocks noChangeShapeType="1"/>
            </p:cNvSpPr>
            <p:nvPr/>
          </p:nvSpPr>
          <p:spPr bwMode="auto">
            <a:xfrm>
              <a:off x="5168900" y="2058988"/>
              <a:ext cx="0" cy="411638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23" name="Line 85"/>
            <p:cNvSpPr>
              <a:spLocks noChangeShapeType="1"/>
            </p:cNvSpPr>
            <p:nvPr/>
          </p:nvSpPr>
          <p:spPr bwMode="auto">
            <a:xfrm>
              <a:off x="5500688" y="3236913"/>
              <a:ext cx="0" cy="49371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24" name="Line 86"/>
            <p:cNvSpPr>
              <a:spLocks noChangeShapeType="1"/>
            </p:cNvSpPr>
            <p:nvPr/>
          </p:nvSpPr>
          <p:spPr bwMode="auto">
            <a:xfrm>
              <a:off x="5478463" y="4002088"/>
              <a:ext cx="0" cy="43656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25" name="Rectangle 87"/>
            <p:cNvSpPr>
              <a:spLocks noChangeArrowheads="1"/>
            </p:cNvSpPr>
            <p:nvPr/>
          </p:nvSpPr>
          <p:spPr bwMode="auto">
            <a:xfrm>
              <a:off x="3371850" y="4556125"/>
              <a:ext cx="869950" cy="20320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latin typeface="Calibri" panose="020F0502020204030204" pitchFamily="34" charset="0"/>
              </a:endParaRPr>
            </a:p>
          </p:txBody>
        </p:sp>
        <p:sp>
          <p:nvSpPr>
            <p:cNvPr id="14426" name="Rectangle 88"/>
            <p:cNvSpPr>
              <a:spLocks noChangeArrowheads="1"/>
            </p:cNvSpPr>
            <p:nvPr/>
          </p:nvSpPr>
          <p:spPr bwMode="auto">
            <a:xfrm>
              <a:off x="3543300" y="4538663"/>
              <a:ext cx="514868" cy="278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latin typeface="Calibri" panose="020F0502020204030204" pitchFamily="34" charset="0"/>
                </a:rPr>
                <a:t>INPR</a:t>
              </a:r>
            </a:p>
          </p:txBody>
        </p:sp>
        <p:sp>
          <p:nvSpPr>
            <p:cNvPr id="14427" name="Rectangle 89"/>
            <p:cNvSpPr>
              <a:spLocks noChangeArrowheads="1"/>
            </p:cNvSpPr>
            <p:nvPr/>
          </p:nvSpPr>
          <p:spPr bwMode="auto">
            <a:xfrm>
              <a:off x="3371850" y="4870450"/>
              <a:ext cx="1446213" cy="20320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latin typeface="Calibri" panose="020F0502020204030204" pitchFamily="34" charset="0"/>
              </a:endParaRPr>
            </a:p>
          </p:txBody>
        </p:sp>
        <p:sp>
          <p:nvSpPr>
            <p:cNvPr id="14428" name="Freeform 90"/>
            <p:cNvSpPr>
              <a:spLocks/>
            </p:cNvSpPr>
            <p:nvPr/>
          </p:nvSpPr>
          <p:spPr bwMode="auto">
            <a:xfrm>
              <a:off x="4637088" y="5084763"/>
              <a:ext cx="520700" cy="106362"/>
            </a:xfrm>
            <a:custGeom>
              <a:avLst/>
              <a:gdLst>
                <a:gd name="T0" fmla="*/ 0 w 369"/>
                <a:gd name="T1" fmla="*/ 0 h 89"/>
                <a:gd name="T2" fmla="*/ 0 w 369"/>
                <a:gd name="T3" fmla="*/ 2147483647 h 89"/>
                <a:gd name="T4" fmla="*/ 2147483647 w 369"/>
                <a:gd name="T5" fmla="*/ 2147483647 h 89"/>
                <a:gd name="T6" fmla="*/ 0 60000 65536"/>
                <a:gd name="T7" fmla="*/ 0 60000 65536"/>
                <a:gd name="T8" fmla="*/ 0 60000 65536"/>
                <a:gd name="T9" fmla="*/ 0 w 369"/>
                <a:gd name="T10" fmla="*/ 0 h 89"/>
                <a:gd name="T11" fmla="*/ 369 w 369"/>
                <a:gd name="T12" fmla="*/ 89 h 8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69" h="89">
                  <a:moveTo>
                    <a:pt x="0" y="0"/>
                  </a:moveTo>
                  <a:lnTo>
                    <a:pt x="0" y="88"/>
                  </a:lnTo>
                  <a:lnTo>
                    <a:pt x="368" y="88"/>
                  </a:lnTo>
                </a:path>
              </a:pathLst>
            </a:custGeom>
            <a:noFill/>
            <a:ln w="254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429" name="Rectangle 91"/>
            <p:cNvSpPr>
              <a:spLocks noChangeArrowheads="1"/>
            </p:cNvSpPr>
            <p:nvPr/>
          </p:nvSpPr>
          <p:spPr bwMode="auto">
            <a:xfrm>
              <a:off x="3857625" y="4852988"/>
              <a:ext cx="329728" cy="278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latin typeface="Calibri" panose="020F0502020204030204" pitchFamily="34" charset="0"/>
                </a:rPr>
                <a:t>IR</a:t>
              </a:r>
            </a:p>
          </p:txBody>
        </p:sp>
        <p:sp>
          <p:nvSpPr>
            <p:cNvPr id="14430" name="Freeform 92"/>
            <p:cNvSpPr>
              <a:spLocks/>
            </p:cNvSpPr>
            <p:nvPr/>
          </p:nvSpPr>
          <p:spPr bwMode="auto">
            <a:xfrm>
              <a:off x="4564063" y="5010150"/>
              <a:ext cx="136525" cy="60325"/>
            </a:xfrm>
            <a:custGeom>
              <a:avLst/>
              <a:gdLst>
                <a:gd name="T0" fmla="*/ 0 w 97"/>
                <a:gd name="T1" fmla="*/ 2147483647 h 49"/>
                <a:gd name="T2" fmla="*/ 2147483647 w 97"/>
                <a:gd name="T3" fmla="*/ 0 h 49"/>
                <a:gd name="T4" fmla="*/ 2147483647 w 97"/>
                <a:gd name="T5" fmla="*/ 2147483647 h 49"/>
                <a:gd name="T6" fmla="*/ 0 60000 65536"/>
                <a:gd name="T7" fmla="*/ 0 60000 65536"/>
                <a:gd name="T8" fmla="*/ 0 60000 65536"/>
                <a:gd name="T9" fmla="*/ 0 w 97"/>
                <a:gd name="T10" fmla="*/ 0 h 49"/>
                <a:gd name="T11" fmla="*/ 97 w 97"/>
                <a:gd name="T12" fmla="*/ 49 h 4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7" h="49">
                  <a:moveTo>
                    <a:pt x="0" y="48"/>
                  </a:moveTo>
                  <a:lnTo>
                    <a:pt x="48" y="0"/>
                  </a:lnTo>
                  <a:lnTo>
                    <a:pt x="96" y="48"/>
                  </a:lnTo>
                </a:path>
              </a:pathLst>
            </a:custGeom>
            <a:noFill/>
            <a:ln w="254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431" name="Rectangle 93"/>
            <p:cNvSpPr>
              <a:spLocks noChangeArrowheads="1"/>
            </p:cNvSpPr>
            <p:nvPr/>
          </p:nvSpPr>
          <p:spPr bwMode="auto">
            <a:xfrm>
              <a:off x="3405188" y="5122863"/>
              <a:ext cx="361466" cy="278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latin typeface="Calibri" panose="020F0502020204030204" pitchFamily="34" charset="0"/>
                </a:rPr>
                <a:t>LD</a:t>
              </a:r>
            </a:p>
          </p:txBody>
        </p:sp>
        <p:sp>
          <p:nvSpPr>
            <p:cNvPr id="14432" name="Rectangle 94"/>
            <p:cNvSpPr>
              <a:spLocks noChangeArrowheads="1"/>
            </p:cNvSpPr>
            <p:nvPr/>
          </p:nvSpPr>
          <p:spPr bwMode="auto">
            <a:xfrm>
              <a:off x="3416300" y="5621337"/>
              <a:ext cx="1042078" cy="278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latin typeface="Calibri" panose="020F0502020204030204" pitchFamily="34" charset="0"/>
                </a:rPr>
                <a:t>LD   INR   CLR</a:t>
              </a:r>
            </a:p>
          </p:txBody>
        </p:sp>
        <p:sp>
          <p:nvSpPr>
            <p:cNvPr id="14433" name="Rectangle 95"/>
            <p:cNvSpPr>
              <a:spLocks noChangeArrowheads="1"/>
            </p:cNvSpPr>
            <p:nvPr/>
          </p:nvSpPr>
          <p:spPr bwMode="auto">
            <a:xfrm>
              <a:off x="3389313" y="5335588"/>
              <a:ext cx="1446212" cy="195262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latin typeface="Calibri" panose="020F0502020204030204" pitchFamily="34" charset="0"/>
              </a:endParaRPr>
            </a:p>
          </p:txBody>
        </p:sp>
        <p:sp>
          <p:nvSpPr>
            <p:cNvPr id="14434" name="Line 96"/>
            <p:cNvSpPr>
              <a:spLocks noChangeShapeType="1"/>
            </p:cNvSpPr>
            <p:nvPr/>
          </p:nvSpPr>
          <p:spPr bwMode="auto">
            <a:xfrm>
              <a:off x="3576638" y="5530850"/>
              <a:ext cx="0" cy="11588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35" name="Line 97"/>
            <p:cNvSpPr>
              <a:spLocks noChangeShapeType="1"/>
            </p:cNvSpPr>
            <p:nvPr/>
          </p:nvSpPr>
          <p:spPr bwMode="auto">
            <a:xfrm flipH="1">
              <a:off x="4343400" y="5534025"/>
              <a:ext cx="0" cy="11271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36" name="Freeform 98"/>
            <p:cNvSpPr>
              <a:spLocks/>
            </p:cNvSpPr>
            <p:nvPr/>
          </p:nvSpPr>
          <p:spPr bwMode="auto">
            <a:xfrm>
              <a:off x="4654550" y="5538788"/>
              <a:ext cx="509588" cy="117475"/>
            </a:xfrm>
            <a:custGeom>
              <a:avLst/>
              <a:gdLst>
                <a:gd name="T0" fmla="*/ 0 w 361"/>
                <a:gd name="T1" fmla="*/ 0 h 97"/>
                <a:gd name="T2" fmla="*/ 0 w 361"/>
                <a:gd name="T3" fmla="*/ 2147483647 h 97"/>
                <a:gd name="T4" fmla="*/ 2147483647 w 361"/>
                <a:gd name="T5" fmla="*/ 2147483647 h 97"/>
                <a:gd name="T6" fmla="*/ 0 60000 65536"/>
                <a:gd name="T7" fmla="*/ 0 60000 65536"/>
                <a:gd name="T8" fmla="*/ 0 60000 65536"/>
                <a:gd name="T9" fmla="*/ 0 w 361"/>
                <a:gd name="T10" fmla="*/ 0 h 97"/>
                <a:gd name="T11" fmla="*/ 361 w 361"/>
                <a:gd name="T12" fmla="*/ 97 h 9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61" h="97">
                  <a:moveTo>
                    <a:pt x="0" y="0"/>
                  </a:moveTo>
                  <a:lnTo>
                    <a:pt x="0" y="96"/>
                  </a:lnTo>
                  <a:lnTo>
                    <a:pt x="360" y="96"/>
                  </a:lnTo>
                </a:path>
              </a:pathLst>
            </a:custGeom>
            <a:noFill/>
            <a:ln w="254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437" name="Rectangle 99"/>
            <p:cNvSpPr>
              <a:spLocks noChangeArrowheads="1"/>
            </p:cNvSpPr>
            <p:nvPr/>
          </p:nvSpPr>
          <p:spPr bwMode="auto">
            <a:xfrm>
              <a:off x="3873500" y="5314950"/>
              <a:ext cx="366756" cy="278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latin typeface="Calibri" panose="020F0502020204030204" pitchFamily="34" charset="0"/>
                </a:rPr>
                <a:t>TR</a:t>
              </a:r>
            </a:p>
          </p:txBody>
        </p:sp>
        <p:sp>
          <p:nvSpPr>
            <p:cNvPr id="14438" name="Freeform 100"/>
            <p:cNvSpPr>
              <a:spLocks/>
            </p:cNvSpPr>
            <p:nvPr/>
          </p:nvSpPr>
          <p:spPr bwMode="auto">
            <a:xfrm>
              <a:off x="4586288" y="5470525"/>
              <a:ext cx="136525" cy="50800"/>
            </a:xfrm>
            <a:custGeom>
              <a:avLst/>
              <a:gdLst>
                <a:gd name="T0" fmla="*/ 0 w 97"/>
                <a:gd name="T1" fmla="*/ 2147483647 h 41"/>
                <a:gd name="T2" fmla="*/ 2147483647 w 97"/>
                <a:gd name="T3" fmla="*/ 0 h 41"/>
                <a:gd name="T4" fmla="*/ 2147483647 w 97"/>
                <a:gd name="T5" fmla="*/ 2147483647 h 41"/>
                <a:gd name="T6" fmla="*/ 0 60000 65536"/>
                <a:gd name="T7" fmla="*/ 0 60000 65536"/>
                <a:gd name="T8" fmla="*/ 0 60000 65536"/>
                <a:gd name="T9" fmla="*/ 0 w 97"/>
                <a:gd name="T10" fmla="*/ 0 h 41"/>
                <a:gd name="T11" fmla="*/ 97 w 97"/>
                <a:gd name="T12" fmla="*/ 41 h 4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7" h="41">
                  <a:moveTo>
                    <a:pt x="0" y="40"/>
                  </a:moveTo>
                  <a:lnTo>
                    <a:pt x="48" y="0"/>
                  </a:lnTo>
                  <a:lnTo>
                    <a:pt x="96" y="40"/>
                  </a:lnTo>
                </a:path>
              </a:pathLst>
            </a:custGeom>
            <a:noFill/>
            <a:ln w="254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439" name="Rectangle 101"/>
            <p:cNvSpPr>
              <a:spLocks noChangeArrowheads="1"/>
            </p:cNvSpPr>
            <p:nvPr/>
          </p:nvSpPr>
          <p:spPr bwMode="auto">
            <a:xfrm>
              <a:off x="3406775" y="5864225"/>
              <a:ext cx="869950" cy="20320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latin typeface="Calibri" panose="020F0502020204030204" pitchFamily="34" charset="0"/>
              </a:endParaRPr>
            </a:p>
          </p:txBody>
        </p:sp>
        <p:sp>
          <p:nvSpPr>
            <p:cNvPr id="14440" name="Rectangle 102"/>
            <p:cNvSpPr>
              <a:spLocks noChangeArrowheads="1"/>
            </p:cNvSpPr>
            <p:nvPr/>
          </p:nvSpPr>
          <p:spPr bwMode="auto">
            <a:xfrm>
              <a:off x="3517900" y="5845175"/>
              <a:ext cx="573055" cy="278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latin typeface="Calibri" panose="020F0502020204030204" pitchFamily="34" charset="0"/>
                </a:rPr>
                <a:t>OUTR</a:t>
              </a:r>
            </a:p>
          </p:txBody>
        </p:sp>
        <p:sp>
          <p:nvSpPr>
            <p:cNvPr id="14441" name="Line 103"/>
            <p:cNvSpPr>
              <a:spLocks noChangeShapeType="1"/>
            </p:cNvSpPr>
            <p:nvPr/>
          </p:nvSpPr>
          <p:spPr bwMode="auto">
            <a:xfrm>
              <a:off x="3592513" y="6073775"/>
              <a:ext cx="0" cy="1016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42" name="Rectangle 104"/>
            <p:cNvSpPr>
              <a:spLocks noChangeArrowheads="1"/>
            </p:cNvSpPr>
            <p:nvPr/>
          </p:nvSpPr>
          <p:spPr bwMode="auto">
            <a:xfrm>
              <a:off x="3416300" y="6111875"/>
              <a:ext cx="361466" cy="278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latin typeface="Calibri" panose="020F0502020204030204" pitchFamily="34" charset="0"/>
                </a:rPr>
                <a:t>LD</a:t>
              </a:r>
            </a:p>
          </p:txBody>
        </p:sp>
        <p:sp>
          <p:nvSpPr>
            <p:cNvPr id="14443" name="Freeform 105"/>
            <p:cNvSpPr>
              <a:spLocks/>
            </p:cNvSpPr>
            <p:nvPr/>
          </p:nvSpPr>
          <p:spPr bwMode="auto">
            <a:xfrm>
              <a:off x="4164013" y="6076950"/>
              <a:ext cx="1208087" cy="107950"/>
            </a:xfrm>
            <a:custGeom>
              <a:avLst/>
              <a:gdLst>
                <a:gd name="T0" fmla="*/ 0 w 857"/>
                <a:gd name="T1" fmla="*/ 0 h 89"/>
                <a:gd name="T2" fmla="*/ 0 w 857"/>
                <a:gd name="T3" fmla="*/ 2147483647 h 89"/>
                <a:gd name="T4" fmla="*/ 2147483647 w 857"/>
                <a:gd name="T5" fmla="*/ 2147483647 h 89"/>
                <a:gd name="T6" fmla="*/ 0 60000 65536"/>
                <a:gd name="T7" fmla="*/ 0 60000 65536"/>
                <a:gd name="T8" fmla="*/ 0 60000 65536"/>
                <a:gd name="T9" fmla="*/ 0 w 857"/>
                <a:gd name="T10" fmla="*/ 0 h 89"/>
                <a:gd name="T11" fmla="*/ 857 w 857"/>
                <a:gd name="T12" fmla="*/ 89 h 8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57" h="89">
                  <a:moveTo>
                    <a:pt x="0" y="0"/>
                  </a:moveTo>
                  <a:lnTo>
                    <a:pt x="0" y="88"/>
                  </a:lnTo>
                  <a:lnTo>
                    <a:pt x="856" y="88"/>
                  </a:lnTo>
                </a:path>
              </a:pathLst>
            </a:custGeom>
            <a:noFill/>
            <a:ln w="254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444" name="Freeform 106"/>
            <p:cNvSpPr>
              <a:spLocks/>
            </p:cNvSpPr>
            <p:nvPr/>
          </p:nvSpPr>
          <p:spPr bwMode="auto">
            <a:xfrm>
              <a:off x="4095750" y="6005513"/>
              <a:ext cx="125413" cy="58737"/>
            </a:xfrm>
            <a:custGeom>
              <a:avLst/>
              <a:gdLst>
                <a:gd name="T0" fmla="*/ 0 w 89"/>
                <a:gd name="T1" fmla="*/ 2147483647 h 49"/>
                <a:gd name="T2" fmla="*/ 2147483647 w 89"/>
                <a:gd name="T3" fmla="*/ 0 h 49"/>
                <a:gd name="T4" fmla="*/ 2147483647 w 89"/>
                <a:gd name="T5" fmla="*/ 2147483647 h 49"/>
                <a:gd name="T6" fmla="*/ 0 60000 65536"/>
                <a:gd name="T7" fmla="*/ 0 60000 65536"/>
                <a:gd name="T8" fmla="*/ 0 60000 65536"/>
                <a:gd name="T9" fmla="*/ 0 w 89"/>
                <a:gd name="T10" fmla="*/ 0 h 49"/>
                <a:gd name="T11" fmla="*/ 89 w 89"/>
                <a:gd name="T12" fmla="*/ 49 h 4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9" h="49">
                  <a:moveTo>
                    <a:pt x="0" y="48"/>
                  </a:moveTo>
                  <a:lnTo>
                    <a:pt x="48" y="0"/>
                  </a:lnTo>
                  <a:lnTo>
                    <a:pt x="88" y="48"/>
                  </a:lnTo>
                </a:path>
              </a:pathLst>
            </a:custGeom>
            <a:noFill/>
            <a:ln w="254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445" name="Rectangle 107"/>
            <p:cNvSpPr>
              <a:spLocks noChangeArrowheads="1"/>
            </p:cNvSpPr>
            <p:nvPr/>
          </p:nvSpPr>
          <p:spPr bwMode="auto">
            <a:xfrm>
              <a:off x="5251450" y="5969000"/>
              <a:ext cx="619125" cy="278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latin typeface="Calibri" panose="020F0502020204030204" pitchFamily="34" charset="0"/>
                </a:rPr>
                <a:t>Clock</a:t>
              </a:r>
            </a:p>
          </p:txBody>
        </p:sp>
        <p:sp>
          <p:nvSpPr>
            <p:cNvPr id="14446" name="Line 108"/>
            <p:cNvSpPr>
              <a:spLocks noChangeShapeType="1"/>
            </p:cNvSpPr>
            <p:nvPr/>
          </p:nvSpPr>
          <p:spPr bwMode="auto">
            <a:xfrm flipH="1">
              <a:off x="1955800" y="4051300"/>
              <a:ext cx="0" cy="60642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47" name="Line 109"/>
            <p:cNvSpPr>
              <a:spLocks noChangeShapeType="1"/>
            </p:cNvSpPr>
            <p:nvPr/>
          </p:nvSpPr>
          <p:spPr bwMode="auto">
            <a:xfrm flipH="1">
              <a:off x="1939925" y="4667250"/>
              <a:ext cx="14319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48" name="Line 110"/>
            <p:cNvSpPr>
              <a:spLocks noChangeShapeType="1"/>
            </p:cNvSpPr>
            <p:nvPr/>
          </p:nvSpPr>
          <p:spPr bwMode="auto">
            <a:xfrm>
              <a:off x="1785938" y="6326188"/>
              <a:ext cx="41433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49" name="Line 111"/>
            <p:cNvSpPr>
              <a:spLocks noChangeShapeType="1"/>
            </p:cNvSpPr>
            <p:nvPr/>
          </p:nvSpPr>
          <p:spPr bwMode="auto">
            <a:xfrm>
              <a:off x="1611313" y="6489700"/>
              <a:ext cx="45116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50" name="Arc 113"/>
            <p:cNvSpPr>
              <a:spLocks/>
            </p:cNvSpPr>
            <p:nvPr/>
          </p:nvSpPr>
          <p:spPr bwMode="auto">
            <a:xfrm>
              <a:off x="4654550" y="6365875"/>
              <a:ext cx="107950" cy="73025"/>
            </a:xfrm>
            <a:custGeom>
              <a:avLst/>
              <a:gdLst>
                <a:gd name="T0" fmla="*/ 1534308948 w 21600"/>
                <a:gd name="T1" fmla="*/ 0 h 17464"/>
                <a:gd name="T2" fmla="*/ 1542567519 w 21600"/>
                <a:gd name="T3" fmla="*/ 390335745 h 17464"/>
                <a:gd name="T4" fmla="*/ 0 w 21600"/>
                <a:gd name="T5" fmla="*/ 197849090 h 17464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464"/>
                <a:gd name="T11" fmla="*/ 21600 w 21600"/>
                <a:gd name="T12" fmla="*/ 17464 h 1746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464" fill="none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</a:path>
                <a:path w="21600" h="17464" stroke="0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  <a:lnTo>
                    <a:pt x="0" y="8852"/>
                  </a:lnTo>
                  <a:lnTo>
                    <a:pt x="1970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451" name="Line 114"/>
            <p:cNvSpPr>
              <a:spLocks noChangeShapeType="1"/>
            </p:cNvSpPr>
            <p:nvPr/>
          </p:nvSpPr>
          <p:spPr bwMode="auto">
            <a:xfrm>
              <a:off x="4756150" y="6402388"/>
              <a:ext cx="39528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52" name="Arc 115"/>
            <p:cNvSpPr>
              <a:spLocks/>
            </p:cNvSpPr>
            <p:nvPr/>
          </p:nvSpPr>
          <p:spPr bwMode="auto">
            <a:xfrm>
              <a:off x="2289175" y="6365875"/>
              <a:ext cx="106363" cy="73025"/>
            </a:xfrm>
            <a:custGeom>
              <a:avLst/>
              <a:gdLst>
                <a:gd name="T0" fmla="*/ 1383218327 w 21600"/>
                <a:gd name="T1" fmla="*/ 0 h 17464"/>
                <a:gd name="T2" fmla="*/ 1390659637 w 21600"/>
                <a:gd name="T3" fmla="*/ 390335745 h 17464"/>
                <a:gd name="T4" fmla="*/ 0 w 21600"/>
                <a:gd name="T5" fmla="*/ 197849090 h 17464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464"/>
                <a:gd name="T11" fmla="*/ 21600 w 21600"/>
                <a:gd name="T12" fmla="*/ 17464 h 1746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464" fill="none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</a:path>
                <a:path w="21600" h="17464" stroke="0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  <a:lnTo>
                    <a:pt x="0" y="8852"/>
                  </a:lnTo>
                  <a:lnTo>
                    <a:pt x="1970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453" name="Line 116"/>
            <p:cNvSpPr>
              <a:spLocks noChangeShapeType="1"/>
            </p:cNvSpPr>
            <p:nvPr/>
          </p:nvSpPr>
          <p:spPr bwMode="auto">
            <a:xfrm>
              <a:off x="2384425" y="6402388"/>
              <a:ext cx="40798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54" name="Line 117"/>
            <p:cNvSpPr>
              <a:spLocks noChangeShapeType="1"/>
            </p:cNvSpPr>
            <p:nvPr/>
          </p:nvSpPr>
          <p:spPr bwMode="auto">
            <a:xfrm>
              <a:off x="1611313" y="846138"/>
              <a:ext cx="3175" cy="564832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55" name="Arc 118"/>
            <p:cNvSpPr>
              <a:spLocks/>
            </p:cNvSpPr>
            <p:nvPr/>
          </p:nvSpPr>
          <p:spPr bwMode="auto">
            <a:xfrm>
              <a:off x="3335338" y="1314450"/>
              <a:ext cx="106362" cy="74613"/>
            </a:xfrm>
            <a:custGeom>
              <a:avLst/>
              <a:gdLst>
                <a:gd name="T0" fmla="*/ 122572509 w 21600"/>
                <a:gd name="T1" fmla="*/ 487765997 h 17255"/>
                <a:gd name="T2" fmla="*/ 129871225 w 21600"/>
                <a:gd name="T3" fmla="*/ 0 h 17255"/>
                <a:gd name="T4" fmla="*/ 1516291712 w 21600"/>
                <a:gd name="T5" fmla="*/ 247233962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456" name="Line 119"/>
            <p:cNvSpPr>
              <a:spLocks noChangeShapeType="1"/>
            </p:cNvSpPr>
            <p:nvPr/>
          </p:nvSpPr>
          <p:spPr bwMode="auto">
            <a:xfrm>
              <a:off x="1785938" y="1360488"/>
              <a:ext cx="154781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57" name="Arc 120"/>
            <p:cNvSpPr>
              <a:spLocks/>
            </p:cNvSpPr>
            <p:nvPr/>
          </p:nvSpPr>
          <p:spPr bwMode="auto">
            <a:xfrm>
              <a:off x="3487738" y="2017713"/>
              <a:ext cx="106362" cy="73025"/>
            </a:xfrm>
            <a:custGeom>
              <a:avLst/>
              <a:gdLst>
                <a:gd name="T0" fmla="*/ 122572509 w 21600"/>
                <a:gd name="T1" fmla="*/ 419577092 h 17255"/>
                <a:gd name="T2" fmla="*/ 129871225 w 21600"/>
                <a:gd name="T3" fmla="*/ 0 h 17255"/>
                <a:gd name="T4" fmla="*/ 1516291712 w 21600"/>
                <a:gd name="T5" fmla="*/ 212669356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458" name="Line 121"/>
            <p:cNvSpPr>
              <a:spLocks noChangeShapeType="1"/>
            </p:cNvSpPr>
            <p:nvPr/>
          </p:nvSpPr>
          <p:spPr bwMode="auto">
            <a:xfrm>
              <a:off x="1803400" y="2063750"/>
              <a:ext cx="168275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59" name="Arc 122"/>
            <p:cNvSpPr>
              <a:spLocks/>
            </p:cNvSpPr>
            <p:nvPr/>
          </p:nvSpPr>
          <p:spPr bwMode="auto">
            <a:xfrm>
              <a:off x="3487738" y="2574925"/>
              <a:ext cx="106362" cy="74613"/>
            </a:xfrm>
            <a:custGeom>
              <a:avLst/>
              <a:gdLst>
                <a:gd name="T0" fmla="*/ 122572509 w 21600"/>
                <a:gd name="T1" fmla="*/ 487765997 h 17255"/>
                <a:gd name="T2" fmla="*/ 129871225 w 21600"/>
                <a:gd name="T3" fmla="*/ 0 h 17255"/>
                <a:gd name="T4" fmla="*/ 1516291712 w 21600"/>
                <a:gd name="T5" fmla="*/ 247233962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460" name="Line 123"/>
            <p:cNvSpPr>
              <a:spLocks noChangeShapeType="1"/>
            </p:cNvSpPr>
            <p:nvPr/>
          </p:nvSpPr>
          <p:spPr bwMode="auto">
            <a:xfrm>
              <a:off x="1803400" y="2620963"/>
              <a:ext cx="168275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61" name="Arc 124"/>
            <p:cNvSpPr>
              <a:spLocks/>
            </p:cNvSpPr>
            <p:nvPr/>
          </p:nvSpPr>
          <p:spPr bwMode="auto">
            <a:xfrm>
              <a:off x="3278188" y="3186113"/>
              <a:ext cx="107950" cy="74612"/>
            </a:xfrm>
            <a:custGeom>
              <a:avLst/>
              <a:gdLst>
                <a:gd name="T0" fmla="*/ 135965974 w 21600"/>
                <a:gd name="T1" fmla="*/ 487719609 h 17255"/>
                <a:gd name="T2" fmla="*/ 144069098 w 21600"/>
                <a:gd name="T3" fmla="*/ 0 h 17255"/>
                <a:gd name="T4" fmla="*/ 1682036950 w 21600"/>
                <a:gd name="T5" fmla="*/ 247206848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462" name="Line 125"/>
            <p:cNvSpPr>
              <a:spLocks noChangeShapeType="1"/>
            </p:cNvSpPr>
            <p:nvPr/>
          </p:nvSpPr>
          <p:spPr bwMode="auto">
            <a:xfrm>
              <a:off x="1785938" y="3232150"/>
              <a:ext cx="149066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63" name="Arc 126"/>
            <p:cNvSpPr>
              <a:spLocks/>
            </p:cNvSpPr>
            <p:nvPr/>
          </p:nvSpPr>
          <p:spPr bwMode="auto">
            <a:xfrm>
              <a:off x="3262313" y="4926013"/>
              <a:ext cx="106362" cy="74612"/>
            </a:xfrm>
            <a:custGeom>
              <a:avLst/>
              <a:gdLst>
                <a:gd name="T0" fmla="*/ 122572509 w 21600"/>
                <a:gd name="T1" fmla="*/ 487719609 h 17255"/>
                <a:gd name="T2" fmla="*/ 129871225 w 21600"/>
                <a:gd name="T3" fmla="*/ 0 h 17255"/>
                <a:gd name="T4" fmla="*/ 1516291712 w 21600"/>
                <a:gd name="T5" fmla="*/ 247206848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464" name="Line 127"/>
            <p:cNvSpPr>
              <a:spLocks noChangeShapeType="1"/>
            </p:cNvSpPr>
            <p:nvPr/>
          </p:nvSpPr>
          <p:spPr bwMode="auto">
            <a:xfrm>
              <a:off x="1785938" y="4972050"/>
              <a:ext cx="147478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65" name="Arc 128"/>
            <p:cNvSpPr>
              <a:spLocks/>
            </p:cNvSpPr>
            <p:nvPr/>
          </p:nvSpPr>
          <p:spPr bwMode="auto">
            <a:xfrm>
              <a:off x="3278188" y="5392738"/>
              <a:ext cx="107950" cy="73025"/>
            </a:xfrm>
            <a:custGeom>
              <a:avLst/>
              <a:gdLst>
                <a:gd name="T0" fmla="*/ 135965974 w 21600"/>
                <a:gd name="T1" fmla="*/ 419577092 h 17255"/>
                <a:gd name="T2" fmla="*/ 144069098 w 21600"/>
                <a:gd name="T3" fmla="*/ 0 h 17255"/>
                <a:gd name="T4" fmla="*/ 1682036950 w 21600"/>
                <a:gd name="T5" fmla="*/ 212669356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466" name="Line 129"/>
            <p:cNvSpPr>
              <a:spLocks noChangeShapeType="1"/>
            </p:cNvSpPr>
            <p:nvPr/>
          </p:nvSpPr>
          <p:spPr bwMode="auto">
            <a:xfrm>
              <a:off x="1785938" y="5437188"/>
              <a:ext cx="149066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67" name="Arc 130"/>
            <p:cNvSpPr>
              <a:spLocks/>
            </p:cNvSpPr>
            <p:nvPr/>
          </p:nvSpPr>
          <p:spPr bwMode="auto">
            <a:xfrm>
              <a:off x="3313113" y="5948363"/>
              <a:ext cx="106362" cy="74612"/>
            </a:xfrm>
            <a:custGeom>
              <a:avLst/>
              <a:gdLst>
                <a:gd name="T0" fmla="*/ 122572509 w 21600"/>
                <a:gd name="T1" fmla="*/ 487719609 h 17255"/>
                <a:gd name="T2" fmla="*/ 129871225 w 21600"/>
                <a:gd name="T3" fmla="*/ 0 h 17255"/>
                <a:gd name="T4" fmla="*/ 1516291712 w 21600"/>
                <a:gd name="T5" fmla="*/ 247206848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468" name="Line 131"/>
            <p:cNvSpPr>
              <a:spLocks noChangeShapeType="1"/>
            </p:cNvSpPr>
            <p:nvPr/>
          </p:nvSpPr>
          <p:spPr bwMode="auto">
            <a:xfrm>
              <a:off x="1803400" y="5991225"/>
              <a:ext cx="151288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69" name="Rectangle 132"/>
            <p:cNvSpPr>
              <a:spLocks noChangeArrowheads="1"/>
            </p:cNvSpPr>
            <p:nvPr/>
          </p:nvSpPr>
          <p:spPr bwMode="auto">
            <a:xfrm>
              <a:off x="5899150" y="1198563"/>
              <a:ext cx="280357" cy="278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latin typeface="Calibri" panose="020F0502020204030204" pitchFamily="34" charset="0"/>
                </a:rPr>
                <a:t>7</a:t>
              </a:r>
            </a:p>
          </p:txBody>
        </p:sp>
        <p:sp>
          <p:nvSpPr>
            <p:cNvPr id="14470" name="Rectangle 133"/>
            <p:cNvSpPr>
              <a:spLocks noChangeArrowheads="1"/>
            </p:cNvSpPr>
            <p:nvPr/>
          </p:nvSpPr>
          <p:spPr bwMode="auto">
            <a:xfrm>
              <a:off x="5899150" y="1949450"/>
              <a:ext cx="280357" cy="278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latin typeface="Calibri" panose="020F0502020204030204" pitchFamily="34" charset="0"/>
                </a:rPr>
                <a:t>1</a:t>
              </a:r>
            </a:p>
          </p:txBody>
        </p:sp>
        <p:sp>
          <p:nvSpPr>
            <p:cNvPr id="14471" name="Rectangle 134"/>
            <p:cNvSpPr>
              <a:spLocks noChangeArrowheads="1"/>
            </p:cNvSpPr>
            <p:nvPr/>
          </p:nvSpPr>
          <p:spPr bwMode="auto">
            <a:xfrm>
              <a:off x="5899150" y="2506663"/>
              <a:ext cx="280357" cy="278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latin typeface="Calibri" panose="020F0502020204030204" pitchFamily="34" charset="0"/>
                </a:rPr>
                <a:t>2</a:t>
              </a:r>
            </a:p>
          </p:txBody>
        </p:sp>
        <p:sp>
          <p:nvSpPr>
            <p:cNvPr id="14472" name="Rectangle 135"/>
            <p:cNvSpPr>
              <a:spLocks noChangeArrowheads="1"/>
            </p:cNvSpPr>
            <p:nvPr/>
          </p:nvSpPr>
          <p:spPr bwMode="auto">
            <a:xfrm>
              <a:off x="5899150" y="3117850"/>
              <a:ext cx="280357" cy="278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latin typeface="Calibri" panose="020F0502020204030204" pitchFamily="34" charset="0"/>
                </a:rPr>
                <a:t>3</a:t>
              </a:r>
            </a:p>
          </p:txBody>
        </p:sp>
        <p:sp>
          <p:nvSpPr>
            <p:cNvPr id="14473" name="Rectangle 136"/>
            <p:cNvSpPr>
              <a:spLocks noChangeArrowheads="1"/>
            </p:cNvSpPr>
            <p:nvPr/>
          </p:nvSpPr>
          <p:spPr bwMode="auto">
            <a:xfrm>
              <a:off x="5899150" y="3894138"/>
              <a:ext cx="280357" cy="278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latin typeface="Calibri" panose="020F0502020204030204" pitchFamily="34" charset="0"/>
                </a:rPr>
                <a:t>4</a:t>
              </a:r>
            </a:p>
          </p:txBody>
        </p:sp>
        <p:sp>
          <p:nvSpPr>
            <p:cNvPr id="14474" name="Arc 137"/>
            <p:cNvSpPr>
              <a:spLocks/>
            </p:cNvSpPr>
            <p:nvPr/>
          </p:nvSpPr>
          <p:spPr bwMode="auto">
            <a:xfrm>
              <a:off x="5824538" y="4926013"/>
              <a:ext cx="107950" cy="74612"/>
            </a:xfrm>
            <a:custGeom>
              <a:avLst/>
              <a:gdLst>
                <a:gd name="T0" fmla="*/ 135965974 w 21600"/>
                <a:gd name="T1" fmla="*/ 487719609 h 17255"/>
                <a:gd name="T2" fmla="*/ 144069098 w 21600"/>
                <a:gd name="T3" fmla="*/ 0 h 17255"/>
                <a:gd name="T4" fmla="*/ 1682036950 w 21600"/>
                <a:gd name="T5" fmla="*/ 247206848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475" name="Line 138"/>
            <p:cNvSpPr>
              <a:spLocks noChangeShapeType="1"/>
            </p:cNvSpPr>
            <p:nvPr/>
          </p:nvSpPr>
          <p:spPr bwMode="auto">
            <a:xfrm>
              <a:off x="4824413" y="4972050"/>
              <a:ext cx="99853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76" name="Arc 139"/>
            <p:cNvSpPr>
              <a:spLocks/>
            </p:cNvSpPr>
            <p:nvPr/>
          </p:nvSpPr>
          <p:spPr bwMode="auto">
            <a:xfrm>
              <a:off x="5835650" y="5395913"/>
              <a:ext cx="107950" cy="74612"/>
            </a:xfrm>
            <a:custGeom>
              <a:avLst/>
              <a:gdLst>
                <a:gd name="T0" fmla="*/ 135965974 w 21600"/>
                <a:gd name="T1" fmla="*/ 487719609 h 17255"/>
                <a:gd name="T2" fmla="*/ 144069098 w 21600"/>
                <a:gd name="T3" fmla="*/ 0 h 17255"/>
                <a:gd name="T4" fmla="*/ 1682036950 w 21600"/>
                <a:gd name="T5" fmla="*/ 247206848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477" name="Line 140"/>
            <p:cNvSpPr>
              <a:spLocks noChangeShapeType="1"/>
            </p:cNvSpPr>
            <p:nvPr/>
          </p:nvSpPr>
          <p:spPr bwMode="auto">
            <a:xfrm>
              <a:off x="4835525" y="5437188"/>
              <a:ext cx="100488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78" name="Rectangle 141"/>
            <p:cNvSpPr>
              <a:spLocks noChangeArrowheads="1"/>
            </p:cNvSpPr>
            <p:nvPr/>
          </p:nvSpPr>
          <p:spPr bwMode="auto">
            <a:xfrm>
              <a:off x="5899150" y="4857750"/>
              <a:ext cx="280357" cy="278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latin typeface="Calibri" panose="020F0502020204030204" pitchFamily="34" charset="0"/>
                </a:rPr>
                <a:t>5</a:t>
              </a:r>
            </a:p>
          </p:txBody>
        </p:sp>
        <p:sp>
          <p:nvSpPr>
            <p:cNvPr id="14479" name="Rectangle 142"/>
            <p:cNvSpPr>
              <a:spLocks noChangeArrowheads="1"/>
            </p:cNvSpPr>
            <p:nvPr/>
          </p:nvSpPr>
          <p:spPr bwMode="auto">
            <a:xfrm>
              <a:off x="5899150" y="5324475"/>
              <a:ext cx="280357" cy="278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latin typeface="Calibri" panose="020F0502020204030204" pitchFamily="34" charset="0"/>
                </a:rPr>
                <a:t>6</a:t>
              </a:r>
            </a:p>
          </p:txBody>
        </p:sp>
        <p:sp>
          <p:nvSpPr>
            <p:cNvPr id="14480" name="Oval 143"/>
            <p:cNvSpPr>
              <a:spLocks noChangeArrowheads="1"/>
            </p:cNvSpPr>
            <p:nvPr/>
          </p:nvSpPr>
          <p:spPr bwMode="auto">
            <a:xfrm>
              <a:off x="1617663" y="823913"/>
              <a:ext cx="157162" cy="55562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latin typeface="Calibri" panose="020F0502020204030204" pitchFamily="34" charset="0"/>
              </a:endParaRPr>
            </a:p>
          </p:txBody>
        </p:sp>
        <p:sp>
          <p:nvSpPr>
            <p:cNvPr id="14481" name="Line 144"/>
            <p:cNvSpPr>
              <a:spLocks noChangeShapeType="1"/>
            </p:cNvSpPr>
            <p:nvPr/>
          </p:nvSpPr>
          <p:spPr bwMode="auto">
            <a:xfrm>
              <a:off x="1773238" y="865188"/>
              <a:ext cx="3175" cy="54768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82" name="Line 145"/>
            <p:cNvSpPr>
              <a:spLocks noChangeShapeType="1"/>
            </p:cNvSpPr>
            <p:nvPr/>
          </p:nvSpPr>
          <p:spPr bwMode="auto">
            <a:xfrm>
              <a:off x="5753100" y="825500"/>
              <a:ext cx="0" cy="36195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83" name="Line 146"/>
            <p:cNvSpPr>
              <a:spLocks noChangeShapeType="1"/>
            </p:cNvSpPr>
            <p:nvPr/>
          </p:nvSpPr>
          <p:spPr bwMode="auto">
            <a:xfrm>
              <a:off x="3729038" y="2733675"/>
              <a:ext cx="0" cy="1016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84" name="Line 147"/>
            <p:cNvSpPr>
              <a:spLocks noChangeShapeType="1"/>
            </p:cNvSpPr>
            <p:nvPr/>
          </p:nvSpPr>
          <p:spPr bwMode="auto">
            <a:xfrm flipH="1">
              <a:off x="3722688" y="2160588"/>
              <a:ext cx="0" cy="11271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85" name="Line 148"/>
            <p:cNvSpPr>
              <a:spLocks noChangeShapeType="1"/>
            </p:cNvSpPr>
            <p:nvPr/>
          </p:nvSpPr>
          <p:spPr bwMode="auto">
            <a:xfrm>
              <a:off x="3763963" y="1581150"/>
              <a:ext cx="0" cy="1016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86" name="Line 149"/>
            <p:cNvSpPr>
              <a:spLocks noChangeShapeType="1"/>
            </p:cNvSpPr>
            <p:nvPr/>
          </p:nvSpPr>
          <p:spPr bwMode="auto">
            <a:xfrm>
              <a:off x="3963988" y="5537200"/>
              <a:ext cx="0" cy="11588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87" name="Line 150"/>
            <p:cNvSpPr>
              <a:spLocks noChangeShapeType="1"/>
            </p:cNvSpPr>
            <p:nvPr/>
          </p:nvSpPr>
          <p:spPr bwMode="auto">
            <a:xfrm>
              <a:off x="3575050" y="4114800"/>
              <a:ext cx="0" cy="9842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88" name="Line 151"/>
            <p:cNvSpPr>
              <a:spLocks noChangeShapeType="1"/>
            </p:cNvSpPr>
            <p:nvPr/>
          </p:nvSpPr>
          <p:spPr bwMode="auto">
            <a:xfrm>
              <a:off x="3563938" y="5073650"/>
              <a:ext cx="0" cy="11588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89" name="Line 152"/>
            <p:cNvSpPr>
              <a:spLocks noChangeShapeType="1"/>
            </p:cNvSpPr>
            <p:nvPr/>
          </p:nvSpPr>
          <p:spPr bwMode="auto">
            <a:xfrm>
              <a:off x="3932238" y="3327400"/>
              <a:ext cx="0" cy="9683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012353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364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66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Common Bus System</a:t>
            </a:r>
          </a:p>
        </p:txBody>
      </p:sp>
      <p:sp>
        <p:nvSpPr>
          <p:cNvPr id="15367" name="Rectangle 4"/>
          <p:cNvSpPr txBox="1">
            <a:spLocks noChangeArrowheads="1"/>
          </p:cNvSpPr>
          <p:nvPr/>
        </p:nvSpPr>
        <p:spPr bwMode="auto">
          <a:xfrm>
            <a:off x="2097088" y="1052514"/>
            <a:ext cx="7656512" cy="5500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Three control lines, S</a:t>
            </a:r>
            <a:r>
              <a:rPr lang="en-US" altLang="ko-KR" sz="2000" b="1" baseline="-25000" dirty="0">
                <a:latin typeface="Calibri" panose="020F0502020204030204" pitchFamily="34" charset="0"/>
              </a:rPr>
              <a:t>2</a:t>
            </a:r>
            <a:r>
              <a:rPr lang="en-US" altLang="ko-KR" sz="2000" b="1" dirty="0">
                <a:latin typeface="Calibri" panose="020F0502020204030204" pitchFamily="34" charset="0"/>
              </a:rPr>
              <a:t>, S</a:t>
            </a:r>
            <a:r>
              <a:rPr lang="en-US" altLang="ko-KR" sz="2000" b="1" baseline="-25000" dirty="0">
                <a:latin typeface="Calibri" panose="020F0502020204030204" pitchFamily="34" charset="0"/>
              </a:rPr>
              <a:t>1</a:t>
            </a:r>
            <a:r>
              <a:rPr lang="en-US" altLang="ko-KR" sz="2000" b="1" dirty="0">
                <a:latin typeface="Calibri" panose="020F0502020204030204" pitchFamily="34" charset="0"/>
              </a:rPr>
              <a:t>, and S</a:t>
            </a:r>
            <a:r>
              <a:rPr lang="en-US" altLang="ko-KR" sz="2000" b="1" baseline="-25000" dirty="0">
                <a:latin typeface="Calibri" panose="020F0502020204030204" pitchFamily="34" charset="0"/>
              </a:rPr>
              <a:t>0</a:t>
            </a:r>
            <a:r>
              <a:rPr lang="en-US" altLang="ko-KR" sz="2000" b="1" dirty="0">
                <a:latin typeface="Calibri" panose="020F0502020204030204" pitchFamily="34" charset="0"/>
              </a:rPr>
              <a:t> control which register the bus selects as its input</a:t>
            </a: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</a:endParaRP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</a:endParaRP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</a:endParaRP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</a:endParaRP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</a:endParaRP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</a:endParaRP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</a:endParaRP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</a:endParaRP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Either one of the registers will have its load signal activated, or the memory will have its read signal activated</a:t>
            </a:r>
          </a:p>
          <a:p>
            <a:pPr lvl="1" algn="just" eaLnBrk="1" hangingPunct="1">
              <a:spcBef>
                <a:spcPct val="20000"/>
              </a:spcBef>
            </a:pPr>
            <a:r>
              <a:rPr lang="en-US" altLang="ko-KR" sz="1600" b="1" dirty="0">
                <a:latin typeface="Calibri" panose="020F0502020204030204" pitchFamily="34" charset="0"/>
              </a:rPr>
              <a:t>	Will determine where the data from the bus gets loaded</a:t>
            </a:r>
          </a:p>
        </p:txBody>
      </p:sp>
      <p:sp>
        <p:nvSpPr>
          <p:cNvPr id="15368" name="Text Box 11"/>
          <p:cNvSpPr txBox="1">
            <a:spLocks noChangeArrowheads="1"/>
          </p:cNvSpPr>
          <p:nvPr/>
        </p:nvSpPr>
        <p:spPr bwMode="auto">
          <a:xfrm>
            <a:off x="3263901" y="2043113"/>
            <a:ext cx="1839913" cy="206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ko-KR" sz="1600" b="1" dirty="0">
                <a:latin typeface="Calibri" panose="020F0502020204030204" pitchFamily="34" charset="0"/>
              </a:rPr>
              <a:t>0   0   0	x</a:t>
            </a:r>
          </a:p>
          <a:p>
            <a:pPr eaLnBrk="1" hangingPunct="1"/>
            <a:r>
              <a:rPr lang="en-US" altLang="ko-KR" sz="1600" b="1" dirty="0">
                <a:latin typeface="Calibri" panose="020F0502020204030204" pitchFamily="34" charset="0"/>
              </a:rPr>
              <a:t>0   0   1	AR</a:t>
            </a:r>
          </a:p>
          <a:p>
            <a:pPr eaLnBrk="1" hangingPunct="1"/>
            <a:r>
              <a:rPr lang="en-US" altLang="ko-KR" sz="1600" b="1" dirty="0">
                <a:latin typeface="Calibri" panose="020F0502020204030204" pitchFamily="34" charset="0"/>
              </a:rPr>
              <a:t>0   1   0	PC</a:t>
            </a:r>
          </a:p>
          <a:p>
            <a:pPr eaLnBrk="1" hangingPunct="1"/>
            <a:r>
              <a:rPr lang="en-US" altLang="ko-KR" sz="1600" b="1" dirty="0">
                <a:latin typeface="Calibri" panose="020F0502020204030204" pitchFamily="34" charset="0"/>
              </a:rPr>
              <a:t>0   1   1	DR</a:t>
            </a:r>
          </a:p>
          <a:p>
            <a:pPr eaLnBrk="1" hangingPunct="1"/>
            <a:r>
              <a:rPr lang="en-US" altLang="ko-KR" sz="1600" b="1" dirty="0">
                <a:latin typeface="Calibri" panose="020F0502020204030204" pitchFamily="34" charset="0"/>
              </a:rPr>
              <a:t>1   0   0	AC</a:t>
            </a:r>
          </a:p>
          <a:p>
            <a:pPr eaLnBrk="1" hangingPunct="1"/>
            <a:r>
              <a:rPr lang="en-US" altLang="ko-KR" sz="1600" b="1" dirty="0">
                <a:latin typeface="Calibri" panose="020F0502020204030204" pitchFamily="34" charset="0"/>
              </a:rPr>
              <a:t>1   0   1	IR</a:t>
            </a:r>
          </a:p>
          <a:p>
            <a:pPr eaLnBrk="1" hangingPunct="1"/>
            <a:r>
              <a:rPr lang="en-US" altLang="ko-KR" sz="1600" b="1" dirty="0">
                <a:latin typeface="Calibri" panose="020F0502020204030204" pitchFamily="34" charset="0"/>
              </a:rPr>
              <a:t>1   1   0	TR</a:t>
            </a:r>
          </a:p>
          <a:p>
            <a:pPr eaLnBrk="1" hangingPunct="1"/>
            <a:r>
              <a:rPr lang="en-US" altLang="ko-KR" sz="1600" b="1" dirty="0">
                <a:latin typeface="Calibri" panose="020F0502020204030204" pitchFamily="34" charset="0"/>
              </a:rPr>
              <a:t>1   1   1	Memory</a:t>
            </a:r>
          </a:p>
        </p:txBody>
      </p:sp>
      <p:sp>
        <p:nvSpPr>
          <p:cNvPr id="15369" name="Rectangle 12"/>
          <p:cNvSpPr>
            <a:spLocks noChangeArrowheads="1"/>
          </p:cNvSpPr>
          <p:nvPr/>
        </p:nvSpPr>
        <p:spPr bwMode="auto">
          <a:xfrm>
            <a:off x="3211514" y="1811339"/>
            <a:ext cx="1793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ko-KR" sz="1600" b="1">
                <a:latin typeface="Calibri" panose="020F0502020204030204" pitchFamily="34" charset="0"/>
              </a:rPr>
              <a:t>S</a:t>
            </a:r>
            <a:r>
              <a:rPr lang="en-US" altLang="ko-KR" sz="1600" b="1" baseline="-25000">
                <a:latin typeface="Calibri" panose="020F0502020204030204" pitchFamily="34" charset="0"/>
              </a:rPr>
              <a:t>2</a:t>
            </a:r>
            <a:r>
              <a:rPr lang="en-US" altLang="ko-KR" sz="1600" b="1">
                <a:latin typeface="Calibri" panose="020F0502020204030204" pitchFamily="34" charset="0"/>
              </a:rPr>
              <a:t> S</a:t>
            </a:r>
            <a:r>
              <a:rPr lang="en-US" altLang="ko-KR" sz="1600" b="1" baseline="-25000">
                <a:latin typeface="Calibri" panose="020F0502020204030204" pitchFamily="34" charset="0"/>
              </a:rPr>
              <a:t>1</a:t>
            </a:r>
            <a:r>
              <a:rPr lang="en-US" altLang="ko-KR" sz="1600" b="1">
                <a:latin typeface="Calibri" panose="020F0502020204030204" pitchFamily="34" charset="0"/>
              </a:rPr>
              <a:t> S</a:t>
            </a:r>
            <a:r>
              <a:rPr lang="en-US" altLang="ko-KR" sz="1600" b="1" baseline="-25000">
                <a:latin typeface="Calibri" panose="020F0502020204030204" pitchFamily="34" charset="0"/>
              </a:rPr>
              <a:t>0 	</a:t>
            </a:r>
            <a:r>
              <a:rPr lang="en-US" altLang="ko-KR" sz="1600" b="1">
                <a:latin typeface="Calibri" panose="020F0502020204030204" pitchFamily="34" charset="0"/>
              </a:rPr>
              <a:t>Register</a:t>
            </a:r>
            <a:endParaRPr lang="en-US" altLang="ko-KR" sz="1600" b="1" baseline="-25000">
              <a:latin typeface="Calibri" panose="020F0502020204030204" pitchFamily="34" charset="0"/>
            </a:endParaRPr>
          </a:p>
        </p:txBody>
      </p:sp>
      <p:sp>
        <p:nvSpPr>
          <p:cNvPr id="15370" name="Rectangle 16"/>
          <p:cNvSpPr>
            <a:spLocks noChangeArrowheads="1"/>
          </p:cNvSpPr>
          <p:nvPr/>
        </p:nvSpPr>
        <p:spPr bwMode="auto">
          <a:xfrm>
            <a:off x="3038476" y="1809750"/>
            <a:ext cx="2066925" cy="22288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600" b="1">
              <a:latin typeface="Calibri" panose="020F0502020204030204" pitchFamily="34" charset="0"/>
            </a:endParaRPr>
          </a:p>
        </p:txBody>
      </p:sp>
      <p:cxnSp>
        <p:nvCxnSpPr>
          <p:cNvPr id="164" name="Straight Connector 163"/>
          <p:cNvCxnSpPr/>
          <p:nvPr/>
        </p:nvCxnSpPr>
        <p:spPr>
          <a:xfrm>
            <a:off x="3048000" y="2132014"/>
            <a:ext cx="2057400" cy="15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165"/>
          <p:cNvCxnSpPr>
            <a:stCxn id="15370" idx="0"/>
            <a:endCxn id="15370" idx="2"/>
          </p:cNvCxnSpPr>
          <p:nvPr/>
        </p:nvCxnSpPr>
        <p:spPr>
          <a:xfrm rot="16200000" flipH="1">
            <a:off x="2958307" y="2924970"/>
            <a:ext cx="2228850" cy="15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64177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364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66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Common Bus System</a:t>
            </a:r>
          </a:p>
        </p:txBody>
      </p:sp>
      <p:sp>
        <p:nvSpPr>
          <p:cNvPr id="15367" name="Rectangle 4"/>
          <p:cNvSpPr txBox="1">
            <a:spLocks noChangeArrowheads="1"/>
          </p:cNvSpPr>
          <p:nvPr/>
        </p:nvSpPr>
        <p:spPr bwMode="auto">
          <a:xfrm>
            <a:off x="2097088" y="1052514"/>
            <a:ext cx="7656512" cy="5500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</a:endParaRP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Either one of the registers will have its load signal activated, or the memory will have its read signal activated</a:t>
            </a:r>
          </a:p>
          <a:p>
            <a:pPr lvl="1" algn="just" eaLnBrk="1" hangingPunct="1">
              <a:spcBef>
                <a:spcPct val="20000"/>
              </a:spcBef>
            </a:pPr>
            <a:r>
              <a:rPr lang="en-US" altLang="ko-KR" sz="1600" b="1" dirty="0">
                <a:latin typeface="Calibri" panose="020F0502020204030204" pitchFamily="34" charset="0"/>
              </a:rPr>
              <a:t>	Will determine where the data from the bus gets loaded</a:t>
            </a: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</a:endParaRP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The 12-bit registers, AR and PC, have 0’s loaded onto the bus in the high order 4 bit positions</a:t>
            </a: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</a:endParaRP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When the 8-bit register OUTR is loaded from the bus, the data comes from the low order 8 bits on the bus</a:t>
            </a:r>
          </a:p>
        </p:txBody>
      </p:sp>
    </p:spTree>
    <p:extLst>
      <p:ext uri="{BB962C8B-B14F-4D97-AF65-F5344CB8AC3E}">
        <p14:creationId xmlns:p14="http://schemas.microsoft.com/office/powerpoint/2010/main" val="22906966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6388" name="TextBox 5"/>
          <p:cNvSpPr txBox="1">
            <a:spLocks noChangeArrowheads="1"/>
          </p:cNvSpPr>
          <p:nvPr/>
        </p:nvSpPr>
        <p:spPr bwMode="auto">
          <a:xfrm>
            <a:off x="1524000" y="6589776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90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Basic Computer Instructions</a:t>
            </a:r>
          </a:p>
        </p:txBody>
      </p:sp>
      <p:grpSp>
        <p:nvGrpSpPr>
          <p:cNvPr id="16391" name="Group 68"/>
          <p:cNvGrpSpPr>
            <a:grpSpLocks/>
          </p:cNvGrpSpPr>
          <p:nvPr/>
        </p:nvGrpSpPr>
        <p:grpSpPr bwMode="auto">
          <a:xfrm>
            <a:off x="2209800" y="1379538"/>
            <a:ext cx="6546850" cy="4106862"/>
            <a:chOff x="439738" y="1233488"/>
            <a:chExt cx="6546211" cy="4106857"/>
          </a:xfrm>
        </p:grpSpPr>
        <p:sp>
          <p:nvSpPr>
            <p:cNvPr id="16392" name="Rectangle 3"/>
            <p:cNvSpPr>
              <a:spLocks noChangeArrowheads="1"/>
            </p:cNvSpPr>
            <p:nvPr/>
          </p:nvSpPr>
          <p:spPr bwMode="auto">
            <a:xfrm>
              <a:off x="439738" y="1233488"/>
              <a:ext cx="3830857" cy="3652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2000"/>
                </a:lnSpc>
              </a:pPr>
              <a:r>
                <a:rPr lang="en-US" altLang="ko-KR" sz="2000" b="1">
                  <a:latin typeface="Calibri" panose="020F0502020204030204" pitchFamily="34" charset="0"/>
                </a:rPr>
                <a:t>Basic Computer Instruction Format</a:t>
              </a:r>
            </a:p>
          </p:txBody>
        </p:sp>
        <p:sp>
          <p:nvSpPr>
            <p:cNvPr id="16393" name="Rectangle 5"/>
            <p:cNvSpPr>
              <a:spLocks noChangeArrowheads="1"/>
            </p:cNvSpPr>
            <p:nvPr/>
          </p:nvSpPr>
          <p:spPr bwMode="auto">
            <a:xfrm>
              <a:off x="1895475" y="2754313"/>
              <a:ext cx="3586163" cy="20637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200" b="1">
                <a:latin typeface="Calibri" panose="020F0502020204030204" pitchFamily="34" charset="0"/>
              </a:endParaRPr>
            </a:p>
          </p:txBody>
        </p:sp>
        <p:sp>
          <p:nvSpPr>
            <p:cNvPr id="16394" name="Line 6"/>
            <p:cNvSpPr>
              <a:spLocks noChangeShapeType="1"/>
            </p:cNvSpPr>
            <p:nvPr/>
          </p:nvSpPr>
          <p:spPr bwMode="auto">
            <a:xfrm>
              <a:off x="2301875" y="2754313"/>
              <a:ext cx="0" cy="2063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395" name="Line 7"/>
            <p:cNvSpPr>
              <a:spLocks noChangeShapeType="1"/>
            </p:cNvSpPr>
            <p:nvPr/>
          </p:nvSpPr>
          <p:spPr bwMode="auto">
            <a:xfrm>
              <a:off x="3097213" y="2754313"/>
              <a:ext cx="0" cy="2063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396" name="Rectangle 8"/>
            <p:cNvSpPr>
              <a:spLocks noChangeArrowheads="1"/>
            </p:cNvSpPr>
            <p:nvPr/>
          </p:nvSpPr>
          <p:spPr bwMode="auto">
            <a:xfrm>
              <a:off x="1858963" y="2528888"/>
              <a:ext cx="673262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15     14</a:t>
              </a:r>
            </a:p>
          </p:txBody>
        </p:sp>
        <p:sp>
          <p:nvSpPr>
            <p:cNvPr id="16397" name="Rectangle 9"/>
            <p:cNvSpPr>
              <a:spLocks noChangeArrowheads="1"/>
            </p:cNvSpPr>
            <p:nvPr/>
          </p:nvSpPr>
          <p:spPr bwMode="auto">
            <a:xfrm>
              <a:off x="2776538" y="2528888"/>
              <a:ext cx="532198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12 11</a:t>
              </a:r>
            </a:p>
          </p:txBody>
        </p:sp>
        <p:sp>
          <p:nvSpPr>
            <p:cNvPr id="16398" name="Rectangle 10"/>
            <p:cNvSpPr>
              <a:spLocks noChangeArrowheads="1"/>
            </p:cNvSpPr>
            <p:nvPr/>
          </p:nvSpPr>
          <p:spPr bwMode="auto">
            <a:xfrm>
              <a:off x="5178425" y="2528888"/>
              <a:ext cx="261291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0</a:t>
              </a:r>
            </a:p>
          </p:txBody>
        </p:sp>
        <p:sp>
          <p:nvSpPr>
            <p:cNvPr id="16399" name="Rectangle 11"/>
            <p:cNvSpPr>
              <a:spLocks noChangeArrowheads="1"/>
            </p:cNvSpPr>
            <p:nvPr/>
          </p:nvSpPr>
          <p:spPr bwMode="auto">
            <a:xfrm>
              <a:off x="1973263" y="2749550"/>
              <a:ext cx="224421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I</a:t>
              </a:r>
            </a:p>
          </p:txBody>
        </p:sp>
        <p:sp>
          <p:nvSpPr>
            <p:cNvPr id="16400" name="Rectangle 12"/>
            <p:cNvSpPr>
              <a:spLocks noChangeArrowheads="1"/>
            </p:cNvSpPr>
            <p:nvPr/>
          </p:nvSpPr>
          <p:spPr bwMode="auto">
            <a:xfrm>
              <a:off x="2347913" y="2736850"/>
              <a:ext cx="677302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Opcode</a:t>
              </a:r>
            </a:p>
          </p:txBody>
        </p:sp>
        <p:sp>
          <p:nvSpPr>
            <p:cNvPr id="16401" name="Rectangle 13"/>
            <p:cNvSpPr>
              <a:spLocks noChangeArrowheads="1"/>
            </p:cNvSpPr>
            <p:nvPr/>
          </p:nvSpPr>
          <p:spPr bwMode="auto">
            <a:xfrm>
              <a:off x="3697288" y="2740025"/>
              <a:ext cx="693974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Address</a:t>
              </a:r>
            </a:p>
          </p:txBody>
        </p:sp>
        <p:sp>
          <p:nvSpPr>
            <p:cNvPr id="16402" name="Rectangle 15"/>
            <p:cNvSpPr>
              <a:spLocks noChangeArrowheads="1"/>
            </p:cNvSpPr>
            <p:nvPr/>
          </p:nvSpPr>
          <p:spPr bwMode="auto">
            <a:xfrm>
              <a:off x="860425" y="2097088"/>
              <a:ext cx="6125524" cy="6437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b="1">
                  <a:solidFill>
                    <a:srgbClr val="000000"/>
                  </a:solidFill>
                  <a:latin typeface="Calibri" panose="020F0502020204030204" pitchFamily="34" charset="0"/>
                </a:rPr>
                <a:t>1. Memory-Reference Instructions 	(OP-code = 000 ~ 110)</a:t>
              </a:r>
            </a:p>
            <a:p>
              <a:pPr eaLnBrk="1" hangingPunct="1"/>
              <a:endParaRPr lang="en-US" altLang="ko-KR" b="1">
                <a:solidFill>
                  <a:srgbClr val="000000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6403" name="Rectangle 23"/>
            <p:cNvSpPr>
              <a:spLocks noChangeArrowheads="1"/>
            </p:cNvSpPr>
            <p:nvPr/>
          </p:nvSpPr>
          <p:spPr bwMode="auto">
            <a:xfrm>
              <a:off x="860425" y="3273425"/>
              <a:ext cx="6064610" cy="6437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b="1">
                  <a:solidFill>
                    <a:srgbClr val="000000"/>
                  </a:solidFill>
                  <a:latin typeface="Calibri" panose="020F0502020204030204" pitchFamily="34" charset="0"/>
                </a:rPr>
                <a:t>2. Register-Reference Instructions 	(OP-code = 111, I = 0)</a:t>
              </a:r>
            </a:p>
            <a:p>
              <a:pPr eaLnBrk="1" hangingPunct="1"/>
              <a:endParaRPr lang="en-US" altLang="ko-KR" b="1">
                <a:solidFill>
                  <a:srgbClr val="000000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6404" name="Rectangle 31"/>
            <p:cNvSpPr>
              <a:spLocks noChangeArrowheads="1"/>
            </p:cNvSpPr>
            <p:nvPr/>
          </p:nvSpPr>
          <p:spPr bwMode="auto">
            <a:xfrm>
              <a:off x="877888" y="4443413"/>
              <a:ext cx="6011711" cy="3667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b="1">
                  <a:solidFill>
                    <a:srgbClr val="000000"/>
                  </a:solidFill>
                  <a:latin typeface="Calibri" panose="020F0502020204030204" pitchFamily="34" charset="0"/>
                </a:rPr>
                <a:t> 3. Input-Output Instructions		(OP-code =111, I = 1)</a:t>
              </a:r>
            </a:p>
          </p:txBody>
        </p:sp>
        <p:grpSp>
          <p:nvGrpSpPr>
            <p:cNvPr id="16405" name="Group 36"/>
            <p:cNvGrpSpPr>
              <a:grpSpLocks/>
            </p:cNvGrpSpPr>
            <p:nvPr/>
          </p:nvGrpSpPr>
          <p:grpSpPr bwMode="auto">
            <a:xfrm>
              <a:off x="1868488" y="3649667"/>
              <a:ext cx="3622675" cy="493713"/>
              <a:chOff x="1177" y="2203"/>
              <a:chExt cx="2282" cy="311"/>
            </a:xfrm>
          </p:grpSpPr>
          <p:sp>
            <p:nvSpPr>
              <p:cNvPr id="16414" name="Rectangle 16"/>
              <p:cNvSpPr>
                <a:spLocks noChangeArrowheads="1"/>
              </p:cNvSpPr>
              <p:nvPr/>
            </p:nvSpPr>
            <p:spPr bwMode="auto">
              <a:xfrm>
                <a:off x="1200" y="2344"/>
                <a:ext cx="2259" cy="130"/>
              </a:xfrm>
              <a:prstGeom prst="rect">
                <a:avLst/>
              </a:prstGeom>
              <a:noFill/>
              <a:ln w="2540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 sz="1200" b="1">
                  <a:latin typeface="Calibri" panose="020F0502020204030204" pitchFamily="34" charset="0"/>
                </a:endParaRPr>
              </a:p>
            </p:txBody>
          </p:sp>
          <p:sp>
            <p:nvSpPr>
              <p:cNvPr id="16415" name="Line 17"/>
              <p:cNvSpPr>
                <a:spLocks noChangeShapeType="1"/>
              </p:cNvSpPr>
              <p:nvPr/>
            </p:nvSpPr>
            <p:spPr bwMode="auto">
              <a:xfrm>
                <a:off x="1952" y="2338"/>
                <a:ext cx="0" cy="13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416" name="Rectangle 18"/>
              <p:cNvSpPr>
                <a:spLocks noChangeArrowheads="1"/>
              </p:cNvSpPr>
              <p:nvPr/>
            </p:nvSpPr>
            <p:spPr bwMode="auto">
              <a:xfrm>
                <a:off x="1177" y="2203"/>
                <a:ext cx="236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ko-KR" sz="1200" b="1">
                    <a:solidFill>
                      <a:srgbClr val="000000"/>
                    </a:solidFill>
                    <a:latin typeface="Calibri" panose="020F0502020204030204" pitchFamily="34" charset="0"/>
                  </a:rPr>
                  <a:t>15 </a:t>
                </a:r>
              </a:p>
            </p:txBody>
          </p:sp>
          <p:sp>
            <p:nvSpPr>
              <p:cNvPr id="16417" name="Rectangle 19"/>
              <p:cNvSpPr>
                <a:spLocks noChangeArrowheads="1"/>
              </p:cNvSpPr>
              <p:nvPr/>
            </p:nvSpPr>
            <p:spPr bwMode="auto">
              <a:xfrm>
                <a:off x="1756" y="2203"/>
                <a:ext cx="335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ko-KR" sz="1200" b="1">
                    <a:solidFill>
                      <a:srgbClr val="000000"/>
                    </a:solidFill>
                    <a:latin typeface="Calibri" panose="020F0502020204030204" pitchFamily="34" charset="0"/>
                  </a:rPr>
                  <a:t>12 11</a:t>
                </a:r>
              </a:p>
            </p:txBody>
          </p:sp>
          <p:sp>
            <p:nvSpPr>
              <p:cNvPr id="16418" name="Rectangle 20"/>
              <p:cNvSpPr>
                <a:spLocks noChangeArrowheads="1"/>
              </p:cNvSpPr>
              <p:nvPr/>
            </p:nvSpPr>
            <p:spPr bwMode="auto">
              <a:xfrm>
                <a:off x="3268" y="2203"/>
                <a:ext cx="165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ko-KR" sz="1200" b="1">
                    <a:solidFill>
                      <a:srgbClr val="000000"/>
                    </a:solidFill>
                    <a:latin typeface="Calibri" panose="020F0502020204030204" pitchFamily="34" charset="0"/>
                  </a:rPr>
                  <a:t>0</a:t>
                </a:r>
              </a:p>
            </p:txBody>
          </p:sp>
          <p:sp>
            <p:nvSpPr>
              <p:cNvPr id="16419" name="Rectangle 21"/>
              <p:cNvSpPr>
                <a:spLocks noChangeArrowheads="1"/>
              </p:cNvSpPr>
              <p:nvPr/>
            </p:nvSpPr>
            <p:spPr bwMode="auto">
              <a:xfrm>
                <a:off x="2060" y="2335"/>
                <a:ext cx="857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ko-KR" sz="1200" b="1">
                    <a:solidFill>
                      <a:srgbClr val="000000"/>
                    </a:solidFill>
                    <a:latin typeface="Calibri" panose="020F0502020204030204" pitchFamily="34" charset="0"/>
                  </a:rPr>
                  <a:t>Register operation</a:t>
                </a:r>
              </a:p>
            </p:txBody>
          </p:sp>
          <p:sp>
            <p:nvSpPr>
              <p:cNvPr id="16420" name="Rectangle 32"/>
              <p:cNvSpPr>
                <a:spLocks noChangeArrowheads="1"/>
              </p:cNvSpPr>
              <p:nvPr/>
            </p:nvSpPr>
            <p:spPr bwMode="auto">
              <a:xfrm>
                <a:off x="1237" y="2341"/>
                <a:ext cx="580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ko-KR" sz="1200" b="1">
                    <a:solidFill>
                      <a:srgbClr val="000000"/>
                    </a:solidFill>
                    <a:latin typeface="Calibri" panose="020F0502020204030204" pitchFamily="34" charset="0"/>
                  </a:rPr>
                  <a:t>0    1    1    1</a:t>
                </a:r>
              </a:p>
            </p:txBody>
          </p:sp>
        </p:grpSp>
        <p:grpSp>
          <p:nvGrpSpPr>
            <p:cNvPr id="16406" name="Group 37"/>
            <p:cNvGrpSpPr>
              <a:grpSpLocks/>
            </p:cNvGrpSpPr>
            <p:nvPr/>
          </p:nvGrpSpPr>
          <p:grpSpPr bwMode="auto">
            <a:xfrm>
              <a:off x="1868488" y="4845045"/>
              <a:ext cx="3624262" cy="495300"/>
              <a:chOff x="1232" y="2956"/>
              <a:chExt cx="2283" cy="312"/>
            </a:xfrm>
          </p:grpSpPr>
          <p:sp>
            <p:nvSpPr>
              <p:cNvPr id="16407" name="Rectangle 24"/>
              <p:cNvSpPr>
                <a:spLocks noChangeArrowheads="1"/>
              </p:cNvSpPr>
              <p:nvPr/>
            </p:nvSpPr>
            <p:spPr bwMode="auto">
              <a:xfrm>
                <a:off x="1256" y="3096"/>
                <a:ext cx="2259" cy="132"/>
              </a:xfrm>
              <a:prstGeom prst="rect">
                <a:avLst/>
              </a:prstGeom>
              <a:noFill/>
              <a:ln w="2540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 sz="1200" b="1">
                  <a:latin typeface="Calibri" panose="020F0502020204030204" pitchFamily="34" charset="0"/>
                </a:endParaRPr>
              </a:p>
            </p:txBody>
          </p:sp>
          <p:sp>
            <p:nvSpPr>
              <p:cNvPr id="16408" name="Rectangle 26"/>
              <p:cNvSpPr>
                <a:spLocks noChangeArrowheads="1"/>
              </p:cNvSpPr>
              <p:nvPr/>
            </p:nvSpPr>
            <p:spPr bwMode="auto">
              <a:xfrm>
                <a:off x="1232" y="2956"/>
                <a:ext cx="236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ko-KR" sz="1200" b="1">
                    <a:solidFill>
                      <a:srgbClr val="000000"/>
                    </a:solidFill>
                    <a:latin typeface="Calibri" panose="020F0502020204030204" pitchFamily="34" charset="0"/>
                  </a:rPr>
                  <a:t>15 </a:t>
                </a:r>
              </a:p>
            </p:txBody>
          </p:sp>
          <p:sp>
            <p:nvSpPr>
              <p:cNvPr id="16409" name="Rectangle 27"/>
              <p:cNvSpPr>
                <a:spLocks noChangeArrowheads="1"/>
              </p:cNvSpPr>
              <p:nvPr/>
            </p:nvSpPr>
            <p:spPr bwMode="auto">
              <a:xfrm>
                <a:off x="1811" y="2956"/>
                <a:ext cx="335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ko-KR" sz="1200" b="1">
                    <a:solidFill>
                      <a:srgbClr val="000000"/>
                    </a:solidFill>
                    <a:latin typeface="Calibri" panose="020F0502020204030204" pitchFamily="34" charset="0"/>
                  </a:rPr>
                  <a:t>12 11</a:t>
                </a:r>
              </a:p>
            </p:txBody>
          </p:sp>
          <p:sp>
            <p:nvSpPr>
              <p:cNvPr id="16410" name="Rectangle 28"/>
              <p:cNvSpPr>
                <a:spLocks noChangeArrowheads="1"/>
              </p:cNvSpPr>
              <p:nvPr/>
            </p:nvSpPr>
            <p:spPr bwMode="auto">
              <a:xfrm>
                <a:off x="3325" y="2956"/>
                <a:ext cx="165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ko-KR" sz="1200" b="1">
                    <a:solidFill>
                      <a:srgbClr val="000000"/>
                    </a:solidFill>
                    <a:latin typeface="Calibri" panose="020F0502020204030204" pitchFamily="34" charset="0"/>
                  </a:rPr>
                  <a:t>0</a:t>
                </a:r>
              </a:p>
            </p:txBody>
          </p:sp>
          <p:sp>
            <p:nvSpPr>
              <p:cNvPr id="16411" name="Rectangle 29"/>
              <p:cNvSpPr>
                <a:spLocks noChangeArrowheads="1"/>
              </p:cNvSpPr>
              <p:nvPr/>
            </p:nvSpPr>
            <p:spPr bwMode="auto">
              <a:xfrm>
                <a:off x="2295" y="3083"/>
                <a:ext cx="665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ko-KR" sz="1200" b="1">
                    <a:solidFill>
                      <a:srgbClr val="000000"/>
                    </a:solidFill>
                    <a:latin typeface="Calibri" panose="020F0502020204030204" pitchFamily="34" charset="0"/>
                  </a:rPr>
                  <a:t>I/O operation</a:t>
                </a:r>
              </a:p>
            </p:txBody>
          </p:sp>
          <p:sp>
            <p:nvSpPr>
              <p:cNvPr id="16412" name="Rectangle 33"/>
              <p:cNvSpPr>
                <a:spLocks noChangeArrowheads="1"/>
              </p:cNvSpPr>
              <p:nvPr/>
            </p:nvSpPr>
            <p:spPr bwMode="auto">
              <a:xfrm>
                <a:off x="1264" y="3095"/>
                <a:ext cx="580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ko-KR" sz="1200" b="1">
                    <a:solidFill>
                      <a:srgbClr val="000000"/>
                    </a:solidFill>
                    <a:latin typeface="Calibri" panose="020F0502020204030204" pitchFamily="34" charset="0"/>
                  </a:rPr>
                  <a:t>1    1    1    1</a:t>
                </a:r>
              </a:p>
            </p:txBody>
          </p:sp>
          <p:sp>
            <p:nvSpPr>
              <p:cNvPr id="16413" name="Line 35"/>
              <p:cNvSpPr>
                <a:spLocks noChangeShapeType="1"/>
              </p:cNvSpPr>
              <p:nvPr/>
            </p:nvSpPr>
            <p:spPr bwMode="auto">
              <a:xfrm>
                <a:off x="1997" y="3103"/>
                <a:ext cx="0" cy="13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534658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7412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14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Basic Computer Instructions</a:t>
            </a:r>
          </a:p>
        </p:txBody>
      </p:sp>
      <p:grpSp>
        <p:nvGrpSpPr>
          <p:cNvPr id="17415" name="Group 98"/>
          <p:cNvGrpSpPr>
            <a:grpSpLocks/>
          </p:cNvGrpSpPr>
          <p:nvPr/>
        </p:nvGrpSpPr>
        <p:grpSpPr bwMode="auto">
          <a:xfrm>
            <a:off x="3124201" y="990600"/>
            <a:ext cx="7418699" cy="5864796"/>
            <a:chOff x="560388" y="808038"/>
            <a:chExt cx="7680414" cy="6263705"/>
          </a:xfrm>
        </p:grpSpPr>
        <p:sp>
          <p:nvSpPr>
            <p:cNvPr id="93" name="Rectangle 11"/>
            <p:cNvSpPr>
              <a:spLocks noChangeArrowheads="1"/>
            </p:cNvSpPr>
            <p:nvPr/>
          </p:nvSpPr>
          <p:spPr bwMode="auto">
            <a:xfrm>
              <a:off x="560388" y="1223431"/>
              <a:ext cx="7680414" cy="58483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marL="571500" lvl="1" defTabSz="762000">
                <a:lnSpc>
                  <a:spcPct val="80000"/>
                </a:lnSpc>
                <a:spcBef>
                  <a:spcPct val="10000"/>
                </a:spcBef>
                <a:defRPr/>
              </a:pP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AND        0xxx     8xxx       AND memory word to AC</a:t>
              </a:r>
            </a:p>
            <a:p>
              <a:pPr marL="571500" lvl="1" defTabSz="762000">
                <a:lnSpc>
                  <a:spcPct val="80000"/>
                </a:lnSpc>
                <a:spcBef>
                  <a:spcPct val="10000"/>
                </a:spcBef>
                <a:defRPr/>
              </a:pP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ADD        1xxx     9xxx       Add memory word to AC</a:t>
              </a:r>
            </a:p>
            <a:p>
              <a:pPr marL="571500" lvl="1" defTabSz="762000">
                <a:lnSpc>
                  <a:spcPct val="80000"/>
                </a:lnSpc>
                <a:spcBef>
                  <a:spcPct val="10000"/>
                </a:spcBef>
                <a:defRPr/>
              </a:pP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LDA         2xxx     </a:t>
              </a:r>
              <a:r>
                <a:rPr lang="en-US" altLang="ko-KR" sz="1400" b="1" kern="0" dirty="0" err="1">
                  <a:solidFill>
                    <a:sysClr val="windowText" lastClr="000000"/>
                  </a:solidFill>
                  <a:cs typeface="Arial" pitchFamily="34" charset="0"/>
                </a:rPr>
                <a:t>Axxx</a:t>
              </a: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      Load AC from memory</a:t>
              </a:r>
            </a:p>
            <a:p>
              <a:pPr marL="571500" lvl="1" defTabSz="762000">
                <a:lnSpc>
                  <a:spcPct val="80000"/>
                </a:lnSpc>
                <a:spcBef>
                  <a:spcPct val="10000"/>
                </a:spcBef>
                <a:defRPr/>
              </a:pP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STA         3xxx     </a:t>
              </a:r>
              <a:r>
                <a:rPr lang="en-US" altLang="ko-KR" sz="1400" b="1" kern="0" dirty="0" err="1">
                  <a:solidFill>
                    <a:sysClr val="windowText" lastClr="000000"/>
                  </a:solidFill>
                  <a:cs typeface="Arial" pitchFamily="34" charset="0"/>
                </a:rPr>
                <a:t>Bxxx</a:t>
              </a: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      Store content of AC into memory</a:t>
              </a:r>
            </a:p>
            <a:p>
              <a:pPr marL="571500" lvl="1" defTabSz="762000">
                <a:lnSpc>
                  <a:spcPct val="80000"/>
                </a:lnSpc>
                <a:spcBef>
                  <a:spcPct val="10000"/>
                </a:spcBef>
                <a:defRPr/>
              </a:pP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BUN        4xxx     </a:t>
              </a:r>
              <a:r>
                <a:rPr lang="en-US" altLang="ko-KR" sz="1400" b="1" kern="0" dirty="0" err="1">
                  <a:solidFill>
                    <a:sysClr val="windowText" lastClr="000000"/>
                  </a:solidFill>
                  <a:cs typeface="Arial" pitchFamily="34" charset="0"/>
                </a:rPr>
                <a:t>Cxxx</a:t>
              </a: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       Branch unconditionally</a:t>
              </a:r>
            </a:p>
            <a:p>
              <a:pPr marL="571500" lvl="1" defTabSz="762000">
                <a:lnSpc>
                  <a:spcPct val="80000"/>
                </a:lnSpc>
                <a:spcBef>
                  <a:spcPct val="10000"/>
                </a:spcBef>
                <a:defRPr/>
              </a:pP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BSA        5xxx      </a:t>
              </a:r>
              <a:r>
                <a:rPr lang="en-US" altLang="ko-KR" sz="1400" b="1" kern="0" dirty="0" err="1">
                  <a:solidFill>
                    <a:sysClr val="windowText" lastClr="000000"/>
                  </a:solidFill>
                  <a:cs typeface="Arial" pitchFamily="34" charset="0"/>
                </a:rPr>
                <a:t>Dxxx</a:t>
              </a: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      Branch and save return address</a:t>
              </a:r>
            </a:p>
            <a:p>
              <a:pPr marL="571500" lvl="1" defTabSz="762000">
                <a:lnSpc>
                  <a:spcPct val="80000"/>
                </a:lnSpc>
                <a:spcBef>
                  <a:spcPct val="10000"/>
                </a:spcBef>
                <a:defRPr/>
              </a:pP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ISZ          6xxx      </a:t>
              </a:r>
              <a:r>
                <a:rPr lang="en-US" altLang="ko-KR" sz="1400" b="1" kern="0" dirty="0" err="1">
                  <a:solidFill>
                    <a:sysClr val="windowText" lastClr="000000"/>
                  </a:solidFill>
                  <a:cs typeface="Arial" pitchFamily="34" charset="0"/>
                </a:rPr>
                <a:t>Exxx</a:t>
              </a: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      Increment and skip if zero</a:t>
              </a:r>
            </a:p>
            <a:p>
              <a:pPr marL="571500" lvl="1" defTabSz="762000">
                <a:lnSpc>
                  <a:spcPct val="80000"/>
                </a:lnSpc>
                <a:spcBef>
                  <a:spcPct val="10000"/>
                </a:spcBef>
                <a:defRPr/>
              </a:pPr>
              <a:endParaRPr lang="en-US" altLang="ko-KR" sz="1400" b="1" kern="0" dirty="0">
                <a:solidFill>
                  <a:sysClr val="windowText" lastClr="000000"/>
                </a:solidFill>
                <a:cs typeface="Arial" pitchFamily="34" charset="0"/>
              </a:endParaRPr>
            </a:p>
            <a:p>
              <a:pPr marL="571500" lvl="1" defTabSz="762000">
                <a:lnSpc>
                  <a:spcPct val="80000"/>
                </a:lnSpc>
                <a:spcBef>
                  <a:spcPct val="10000"/>
                </a:spcBef>
                <a:defRPr/>
              </a:pP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CLA	   7800	          Clear AC</a:t>
              </a:r>
            </a:p>
            <a:p>
              <a:pPr marL="571500" lvl="1" defTabSz="762000">
                <a:lnSpc>
                  <a:spcPct val="80000"/>
                </a:lnSpc>
                <a:spcBef>
                  <a:spcPct val="10000"/>
                </a:spcBef>
                <a:defRPr/>
              </a:pP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CLE	   7400	          Clear E</a:t>
              </a:r>
            </a:p>
            <a:p>
              <a:pPr marL="571500" lvl="1" defTabSz="762000">
                <a:lnSpc>
                  <a:spcPct val="80000"/>
                </a:lnSpc>
                <a:spcBef>
                  <a:spcPct val="10000"/>
                </a:spcBef>
                <a:defRPr/>
              </a:pP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CMA	   7200              Complement AC</a:t>
              </a:r>
            </a:p>
            <a:p>
              <a:pPr marL="571500" lvl="1" defTabSz="762000">
                <a:lnSpc>
                  <a:spcPct val="80000"/>
                </a:lnSpc>
                <a:spcBef>
                  <a:spcPct val="10000"/>
                </a:spcBef>
                <a:defRPr/>
              </a:pP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CME	   7100	          Complement E</a:t>
              </a:r>
            </a:p>
            <a:p>
              <a:pPr marL="571500" lvl="1" defTabSz="762000">
                <a:lnSpc>
                  <a:spcPct val="80000"/>
                </a:lnSpc>
                <a:spcBef>
                  <a:spcPct val="10000"/>
                </a:spcBef>
                <a:defRPr/>
              </a:pP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CIR	   7080	          Circulate right AC and E</a:t>
              </a:r>
            </a:p>
            <a:p>
              <a:pPr marL="571500" lvl="1" defTabSz="762000">
                <a:lnSpc>
                  <a:spcPct val="80000"/>
                </a:lnSpc>
                <a:spcBef>
                  <a:spcPct val="10000"/>
                </a:spcBef>
                <a:defRPr/>
              </a:pP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CIL	   7040	          Circulate left AC and E</a:t>
              </a:r>
            </a:p>
            <a:p>
              <a:pPr marL="571500" lvl="1" defTabSz="762000">
                <a:lnSpc>
                  <a:spcPct val="80000"/>
                </a:lnSpc>
                <a:spcBef>
                  <a:spcPct val="10000"/>
                </a:spcBef>
                <a:defRPr/>
              </a:pP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INC	   7020	          Increment AC</a:t>
              </a:r>
            </a:p>
            <a:p>
              <a:pPr marL="571500" lvl="1" defTabSz="762000">
                <a:lnSpc>
                  <a:spcPct val="80000"/>
                </a:lnSpc>
                <a:spcBef>
                  <a:spcPct val="10000"/>
                </a:spcBef>
                <a:defRPr/>
              </a:pP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SPA	   7010	          Skip next instr. if AC is positive</a:t>
              </a:r>
            </a:p>
            <a:p>
              <a:pPr marL="571500" lvl="1" defTabSz="762000">
                <a:lnSpc>
                  <a:spcPct val="80000"/>
                </a:lnSpc>
                <a:spcBef>
                  <a:spcPct val="10000"/>
                </a:spcBef>
                <a:defRPr/>
              </a:pP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SNA	   7008	          Skip next instr. if AC is negative</a:t>
              </a:r>
            </a:p>
            <a:p>
              <a:pPr marL="571500" lvl="1" defTabSz="762000">
                <a:lnSpc>
                  <a:spcPct val="80000"/>
                </a:lnSpc>
                <a:spcBef>
                  <a:spcPct val="10000"/>
                </a:spcBef>
                <a:defRPr/>
              </a:pP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SZA	   7004	          Skip next instr. if AC is zero</a:t>
              </a:r>
            </a:p>
            <a:p>
              <a:pPr marL="571500" lvl="1" defTabSz="762000">
                <a:lnSpc>
                  <a:spcPct val="80000"/>
                </a:lnSpc>
                <a:spcBef>
                  <a:spcPct val="10000"/>
                </a:spcBef>
                <a:defRPr/>
              </a:pP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SZE	   7002	          Skip next instr. if E is zero</a:t>
              </a:r>
            </a:p>
            <a:p>
              <a:pPr marL="571500" lvl="1" defTabSz="762000">
                <a:lnSpc>
                  <a:spcPct val="80000"/>
                </a:lnSpc>
                <a:spcBef>
                  <a:spcPct val="10000"/>
                </a:spcBef>
                <a:defRPr/>
              </a:pP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HLT	   7001	          Halt computer</a:t>
              </a:r>
            </a:p>
            <a:p>
              <a:pPr marL="571500" lvl="1" defTabSz="762000">
                <a:lnSpc>
                  <a:spcPct val="80000"/>
                </a:lnSpc>
                <a:spcBef>
                  <a:spcPct val="10000"/>
                </a:spcBef>
                <a:defRPr/>
              </a:pPr>
              <a:endParaRPr lang="en-US" altLang="ko-KR" sz="1400" b="1" kern="0" dirty="0">
                <a:solidFill>
                  <a:sysClr val="windowText" lastClr="000000"/>
                </a:solidFill>
                <a:cs typeface="Arial" pitchFamily="34" charset="0"/>
              </a:endParaRPr>
            </a:p>
            <a:p>
              <a:pPr marL="571500" lvl="1" defTabSz="762000">
                <a:lnSpc>
                  <a:spcPct val="80000"/>
                </a:lnSpc>
                <a:spcBef>
                  <a:spcPct val="10000"/>
                </a:spcBef>
                <a:defRPr/>
              </a:pP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INP	   F800	          Input character to AC</a:t>
              </a:r>
            </a:p>
            <a:p>
              <a:pPr marL="571500" lvl="1" defTabSz="762000">
                <a:lnSpc>
                  <a:spcPct val="80000"/>
                </a:lnSpc>
                <a:spcBef>
                  <a:spcPct val="10000"/>
                </a:spcBef>
                <a:defRPr/>
              </a:pP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OUT	   F400	          Output character from AC</a:t>
              </a:r>
            </a:p>
            <a:p>
              <a:pPr marL="571500" lvl="1" defTabSz="762000">
                <a:lnSpc>
                  <a:spcPct val="80000"/>
                </a:lnSpc>
                <a:spcBef>
                  <a:spcPct val="10000"/>
                </a:spcBef>
                <a:defRPr/>
              </a:pP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SKI                F200	          Skip on input flag</a:t>
              </a:r>
            </a:p>
            <a:p>
              <a:pPr marL="571500" lvl="1" defTabSz="762000">
                <a:lnSpc>
                  <a:spcPct val="80000"/>
                </a:lnSpc>
                <a:spcBef>
                  <a:spcPct val="10000"/>
                </a:spcBef>
                <a:defRPr/>
              </a:pP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SKO	   F100	          Skip on output flag</a:t>
              </a:r>
            </a:p>
            <a:p>
              <a:pPr marL="571500" lvl="1" defTabSz="762000">
                <a:lnSpc>
                  <a:spcPct val="80000"/>
                </a:lnSpc>
                <a:spcBef>
                  <a:spcPct val="10000"/>
                </a:spcBef>
                <a:defRPr/>
              </a:pP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ION	   F080	          Interrupt on</a:t>
              </a:r>
            </a:p>
            <a:p>
              <a:pPr marL="571500" lvl="1" defTabSz="762000">
                <a:lnSpc>
                  <a:spcPct val="80000"/>
                </a:lnSpc>
                <a:spcBef>
                  <a:spcPct val="10000"/>
                </a:spcBef>
                <a:defRPr/>
              </a:pP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IOF	   F040	          Interrupt off</a:t>
              </a:r>
            </a:p>
            <a:p>
              <a:pPr defTabSz="762000" latinLnBrk="1">
                <a:lnSpc>
                  <a:spcPct val="80000"/>
                </a:lnSpc>
                <a:defRPr/>
              </a:pPr>
              <a:endParaRPr lang="en-US" altLang="ko-KR" sz="1400" b="1" kern="0" dirty="0">
                <a:solidFill>
                  <a:sysClr val="windowText" lastClr="000000"/>
                </a:solidFill>
                <a:cs typeface="Arial" pitchFamily="34" charset="0"/>
              </a:endParaRPr>
            </a:p>
          </p:txBody>
        </p:sp>
        <p:grpSp>
          <p:nvGrpSpPr>
            <p:cNvPr id="17417" name="Group 97"/>
            <p:cNvGrpSpPr>
              <a:grpSpLocks/>
            </p:cNvGrpSpPr>
            <p:nvPr/>
          </p:nvGrpSpPr>
          <p:grpSpPr bwMode="auto">
            <a:xfrm>
              <a:off x="1043578" y="808038"/>
              <a:ext cx="6408712" cy="6022337"/>
              <a:chOff x="1046753" y="808038"/>
              <a:chExt cx="6408712" cy="6022337"/>
            </a:xfrm>
          </p:grpSpPr>
          <p:sp>
            <p:nvSpPr>
              <p:cNvPr id="89" name="Rectangle 3"/>
              <p:cNvSpPr>
                <a:spLocks noChangeArrowheads="1"/>
              </p:cNvSpPr>
              <p:nvPr/>
            </p:nvSpPr>
            <p:spPr bwMode="auto">
              <a:xfrm>
                <a:off x="1096058" y="808038"/>
                <a:ext cx="6359407" cy="51498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63500" tIns="25400" rIns="63500" bIns="25400">
                <a:spAutoFit/>
              </a:bodyPr>
              <a:lstStyle/>
              <a:p>
                <a:pPr defTabSz="762000">
                  <a:defRPr/>
                </a:pPr>
                <a:r>
                  <a:rPr lang="en-US" altLang="ko-KR" sz="1400" b="1" i="1" kern="0">
                    <a:solidFill>
                      <a:sysClr val="windowText" lastClr="000000"/>
                    </a:solidFill>
                    <a:cs typeface="Arial" pitchFamily="34" charset="0"/>
                  </a:rPr>
                  <a:t>                    Hex Code</a:t>
                </a:r>
              </a:p>
              <a:p>
                <a:pPr defTabSz="762000">
                  <a:defRPr/>
                </a:pPr>
                <a:r>
                  <a:rPr lang="en-US" altLang="ko-KR" sz="1400" b="1" i="1" kern="0">
                    <a:solidFill>
                      <a:sysClr val="windowText" lastClr="000000"/>
                    </a:solidFill>
                    <a:cs typeface="Arial" pitchFamily="34" charset="0"/>
                  </a:rPr>
                  <a:t>Symbol    I = 0       I = 1                  Description</a:t>
                </a:r>
              </a:p>
            </p:txBody>
          </p:sp>
          <p:sp>
            <p:nvSpPr>
              <p:cNvPr id="90" name="Rectangle 4"/>
              <p:cNvSpPr>
                <a:spLocks noChangeArrowheads="1"/>
              </p:cNvSpPr>
              <p:nvPr/>
            </p:nvSpPr>
            <p:spPr bwMode="auto">
              <a:xfrm>
                <a:off x="1068119" y="914854"/>
                <a:ext cx="5412056" cy="5915521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b="1" kern="0">
                  <a:solidFill>
                    <a:sysClr val="windowText" lastClr="000000"/>
                  </a:solidFill>
                  <a:cs typeface="Arial" pitchFamily="34" charset="0"/>
                </a:endParaRPr>
              </a:p>
            </p:txBody>
          </p:sp>
          <p:sp>
            <p:nvSpPr>
              <p:cNvPr id="91" name="Line 7"/>
              <p:cNvSpPr>
                <a:spLocks noChangeShapeType="1"/>
              </p:cNvSpPr>
              <p:nvPr/>
            </p:nvSpPr>
            <p:spPr bwMode="auto">
              <a:xfrm>
                <a:off x="1906306" y="1019973"/>
                <a:ext cx="1321377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b="1" kern="0">
                  <a:solidFill>
                    <a:sysClr val="windowText" lastClr="000000"/>
                  </a:solidFill>
                  <a:cs typeface="Arial" pitchFamily="34" charset="0"/>
                </a:endParaRPr>
              </a:p>
            </p:txBody>
          </p:sp>
          <p:sp>
            <p:nvSpPr>
              <p:cNvPr id="92" name="Line 9"/>
              <p:cNvSpPr>
                <a:spLocks noChangeShapeType="1"/>
              </p:cNvSpPr>
              <p:nvPr/>
            </p:nvSpPr>
            <p:spPr bwMode="auto">
              <a:xfrm>
                <a:off x="1046753" y="1230212"/>
                <a:ext cx="5403839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b="1" kern="0">
                  <a:solidFill>
                    <a:sysClr val="windowText" lastClr="000000"/>
                  </a:solidFill>
                  <a:cs typeface="Arial" pitchFamily="34" charset="0"/>
                </a:endParaRPr>
              </a:p>
            </p:txBody>
          </p:sp>
          <p:sp>
            <p:nvSpPr>
              <p:cNvPr id="94" name="Line 13"/>
              <p:cNvSpPr>
                <a:spLocks noChangeShapeType="1"/>
              </p:cNvSpPr>
              <p:nvPr/>
            </p:nvSpPr>
            <p:spPr bwMode="auto">
              <a:xfrm flipH="1">
                <a:off x="1825774" y="847035"/>
                <a:ext cx="60810" cy="590195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b="1" kern="0">
                  <a:solidFill>
                    <a:sysClr val="windowText" lastClr="000000"/>
                  </a:solidFill>
                  <a:cs typeface="Arial" pitchFamily="34" charset="0"/>
                </a:endParaRPr>
              </a:p>
            </p:txBody>
          </p:sp>
          <p:sp>
            <p:nvSpPr>
              <p:cNvPr id="95" name="Line 14"/>
              <p:cNvSpPr>
                <a:spLocks noChangeShapeType="1"/>
              </p:cNvSpPr>
              <p:nvPr/>
            </p:nvSpPr>
            <p:spPr bwMode="auto">
              <a:xfrm flipH="1">
                <a:off x="3166872" y="857207"/>
                <a:ext cx="52592" cy="597316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b="1" kern="0">
                  <a:solidFill>
                    <a:sysClr val="windowText" lastClr="000000"/>
                  </a:solidFill>
                  <a:cs typeface="Arial" pitchFamily="34" charset="0"/>
                </a:endParaRPr>
              </a:p>
            </p:txBody>
          </p:sp>
          <p:sp>
            <p:nvSpPr>
              <p:cNvPr id="96" name="Line 15"/>
              <p:cNvSpPr>
                <a:spLocks noChangeShapeType="1"/>
              </p:cNvSpPr>
              <p:nvPr/>
            </p:nvSpPr>
            <p:spPr bwMode="auto">
              <a:xfrm>
                <a:off x="1056614" y="2667978"/>
                <a:ext cx="5402196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b="1" kern="0">
                  <a:solidFill>
                    <a:sysClr val="windowText" lastClr="000000"/>
                  </a:solidFill>
                  <a:cs typeface="Arial" pitchFamily="34" charset="0"/>
                </a:endParaRPr>
              </a:p>
            </p:txBody>
          </p:sp>
          <p:sp>
            <p:nvSpPr>
              <p:cNvPr id="97" name="Line 16"/>
              <p:cNvSpPr>
                <a:spLocks noChangeShapeType="1"/>
              </p:cNvSpPr>
              <p:nvPr/>
            </p:nvSpPr>
            <p:spPr bwMode="auto">
              <a:xfrm>
                <a:off x="1066475" y="5446865"/>
                <a:ext cx="5402196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b="1" kern="0">
                  <a:solidFill>
                    <a:sysClr val="windowText" lastClr="000000"/>
                  </a:solidFill>
                  <a:cs typeface="Arial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566523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8436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38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Instruction Set Completeness</a:t>
            </a:r>
          </a:p>
        </p:txBody>
      </p:sp>
      <p:sp>
        <p:nvSpPr>
          <p:cNvPr id="18439" name="Rectangle 3"/>
          <p:cNvSpPr>
            <a:spLocks noChangeArrowheads="1"/>
          </p:cNvSpPr>
          <p:nvPr/>
        </p:nvSpPr>
        <p:spPr bwMode="auto">
          <a:xfrm>
            <a:off x="1752600" y="2227264"/>
            <a:ext cx="2179638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85000"/>
              </a:lnSpc>
            </a:pPr>
            <a:r>
              <a:rPr lang="en-US" altLang="ko-KR" b="1" u="sng" dirty="0">
                <a:cs typeface="Arial" panose="020B0604020202020204" pitchFamily="34" charset="0"/>
              </a:rPr>
              <a:t> Instruction Types</a:t>
            </a:r>
          </a:p>
        </p:txBody>
      </p:sp>
      <p:sp>
        <p:nvSpPr>
          <p:cNvPr id="18440" name="Rectangle 5"/>
          <p:cNvSpPr>
            <a:spLocks noChangeArrowheads="1"/>
          </p:cNvSpPr>
          <p:nvPr/>
        </p:nvSpPr>
        <p:spPr bwMode="auto">
          <a:xfrm>
            <a:off x="1981201" y="1250950"/>
            <a:ext cx="8253413" cy="882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en-US" altLang="ko-KR" b="1">
                <a:cs typeface="Arial" panose="020B0604020202020204" pitchFamily="34" charset="0"/>
              </a:rPr>
              <a:t>A computer should have a set of instructions so that the user can construct machine language programs to evaluate any function that is known to be computable.</a:t>
            </a:r>
          </a:p>
        </p:txBody>
      </p:sp>
      <p:sp>
        <p:nvSpPr>
          <p:cNvPr id="18441" name="Rectangle 6"/>
          <p:cNvSpPr>
            <a:spLocks noChangeArrowheads="1"/>
          </p:cNvSpPr>
          <p:nvPr/>
        </p:nvSpPr>
        <p:spPr bwMode="auto">
          <a:xfrm>
            <a:off x="1828800" y="2857500"/>
            <a:ext cx="8610600" cy="361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1" algn="just" eaLnBrk="1" hangingPunct="1">
              <a:lnSpc>
                <a:spcPct val="66000"/>
              </a:lnSpc>
              <a:spcBef>
                <a:spcPct val="40000"/>
              </a:spcBef>
              <a:buFont typeface="Wingdings" panose="05000000000000000000" pitchFamily="2" charset="2"/>
              <a:buChar char="Ø"/>
            </a:pPr>
            <a:r>
              <a:rPr lang="en-US" altLang="ko-KR" b="1">
                <a:cs typeface="Arial" panose="020B0604020202020204" pitchFamily="34" charset="0"/>
              </a:rPr>
              <a:t> Functional Instructions</a:t>
            </a:r>
          </a:p>
          <a:p>
            <a:pPr lvl="1" algn="just" eaLnBrk="1" hangingPunct="1">
              <a:lnSpc>
                <a:spcPct val="66000"/>
              </a:lnSpc>
              <a:spcBef>
                <a:spcPct val="40000"/>
              </a:spcBef>
            </a:pPr>
            <a:r>
              <a:rPr lang="en-US" altLang="ko-KR" b="1">
                <a:cs typeface="Arial" panose="020B0604020202020204" pitchFamily="34" charset="0"/>
              </a:rPr>
              <a:t>		- </a:t>
            </a:r>
            <a:r>
              <a:rPr lang="en-US" altLang="ko-KR" sz="1600" b="1">
                <a:cs typeface="Arial" panose="020B0604020202020204" pitchFamily="34" charset="0"/>
              </a:rPr>
              <a:t>Arithmetic, logic, and shift instructions		</a:t>
            </a:r>
          </a:p>
          <a:p>
            <a:pPr lvl="1" algn="just" eaLnBrk="1" hangingPunct="1">
              <a:lnSpc>
                <a:spcPct val="66000"/>
              </a:lnSpc>
              <a:spcBef>
                <a:spcPct val="40000"/>
              </a:spcBef>
            </a:pPr>
            <a:r>
              <a:rPr lang="en-US" altLang="ko-KR" sz="1600" b="1">
                <a:cs typeface="Arial" panose="020B0604020202020204" pitchFamily="34" charset="0"/>
              </a:rPr>
              <a:t>		- ADD, CMA, INC, CIR, CIL, AND, CLA</a:t>
            </a:r>
          </a:p>
          <a:p>
            <a:pPr lvl="1" algn="just" eaLnBrk="1" hangingPunct="1">
              <a:lnSpc>
                <a:spcPct val="66000"/>
              </a:lnSpc>
              <a:spcBef>
                <a:spcPct val="40000"/>
              </a:spcBef>
              <a:buFont typeface="Wingdings" panose="05000000000000000000" pitchFamily="2" charset="2"/>
              <a:buChar char="Ø"/>
            </a:pPr>
            <a:r>
              <a:rPr lang="en-US" altLang="ko-KR" b="1">
                <a:cs typeface="Arial" panose="020B0604020202020204" pitchFamily="34" charset="0"/>
              </a:rPr>
              <a:t>Transfer Instructions</a:t>
            </a:r>
          </a:p>
          <a:p>
            <a:pPr lvl="1" algn="just" eaLnBrk="1" hangingPunct="1">
              <a:lnSpc>
                <a:spcPct val="66000"/>
              </a:lnSpc>
              <a:spcBef>
                <a:spcPct val="40000"/>
              </a:spcBef>
            </a:pPr>
            <a:r>
              <a:rPr lang="en-US" altLang="ko-KR" b="1">
                <a:cs typeface="Arial" panose="020B0604020202020204" pitchFamily="34" charset="0"/>
              </a:rPr>
              <a:t>		-</a:t>
            </a:r>
            <a:r>
              <a:rPr lang="en-US" altLang="ko-KR" sz="1600" b="1">
                <a:cs typeface="Arial" panose="020B0604020202020204" pitchFamily="34" charset="0"/>
              </a:rPr>
              <a:t> Data transfers between the main memory and the processor registers	</a:t>
            </a:r>
          </a:p>
          <a:p>
            <a:pPr lvl="1" algn="just" eaLnBrk="1" hangingPunct="1">
              <a:lnSpc>
                <a:spcPct val="66000"/>
              </a:lnSpc>
              <a:spcBef>
                <a:spcPct val="40000"/>
              </a:spcBef>
            </a:pPr>
            <a:r>
              <a:rPr lang="en-US" altLang="ko-KR" sz="1600" b="1">
                <a:cs typeface="Arial" panose="020B0604020202020204" pitchFamily="34" charset="0"/>
              </a:rPr>
              <a:t>		- LDA, STA</a:t>
            </a:r>
          </a:p>
          <a:p>
            <a:pPr lvl="1" algn="just" eaLnBrk="1" hangingPunct="1">
              <a:lnSpc>
                <a:spcPct val="66000"/>
              </a:lnSpc>
              <a:spcBef>
                <a:spcPct val="40000"/>
              </a:spcBef>
              <a:buFont typeface="Wingdings" panose="05000000000000000000" pitchFamily="2" charset="2"/>
              <a:buChar char="Ø"/>
            </a:pPr>
            <a:r>
              <a:rPr lang="en-US" altLang="ko-KR" b="1">
                <a:cs typeface="Arial" panose="020B0604020202020204" pitchFamily="34" charset="0"/>
              </a:rPr>
              <a:t>Control Instructions</a:t>
            </a:r>
          </a:p>
          <a:p>
            <a:pPr lvl="1" algn="just" eaLnBrk="1" hangingPunct="1">
              <a:lnSpc>
                <a:spcPct val="66000"/>
              </a:lnSpc>
              <a:spcBef>
                <a:spcPct val="40000"/>
              </a:spcBef>
            </a:pPr>
            <a:r>
              <a:rPr lang="en-US" altLang="ko-KR" b="1">
                <a:cs typeface="Arial" panose="020B0604020202020204" pitchFamily="34" charset="0"/>
              </a:rPr>
              <a:t>		</a:t>
            </a:r>
            <a:r>
              <a:rPr lang="en-US" altLang="ko-KR" sz="1600" b="1">
                <a:cs typeface="Arial" panose="020B0604020202020204" pitchFamily="34" charset="0"/>
              </a:rPr>
              <a:t>- Program sequencing and control		</a:t>
            </a:r>
          </a:p>
          <a:p>
            <a:pPr lvl="1" algn="just" eaLnBrk="1" hangingPunct="1">
              <a:lnSpc>
                <a:spcPct val="66000"/>
              </a:lnSpc>
              <a:spcBef>
                <a:spcPct val="40000"/>
              </a:spcBef>
            </a:pPr>
            <a:r>
              <a:rPr lang="en-US" altLang="ko-KR" sz="1600" b="1">
                <a:cs typeface="Arial" panose="020B0604020202020204" pitchFamily="34" charset="0"/>
              </a:rPr>
              <a:t>		- BUN, BSA, ISZ</a:t>
            </a:r>
          </a:p>
          <a:p>
            <a:pPr lvl="1" algn="just" eaLnBrk="1" hangingPunct="1">
              <a:lnSpc>
                <a:spcPct val="66000"/>
              </a:lnSpc>
              <a:spcBef>
                <a:spcPct val="40000"/>
              </a:spcBef>
              <a:buFont typeface="Wingdings" panose="05000000000000000000" pitchFamily="2" charset="2"/>
              <a:buChar char="Ø"/>
            </a:pPr>
            <a:r>
              <a:rPr lang="en-US" altLang="ko-KR" b="1">
                <a:cs typeface="Arial" panose="020B0604020202020204" pitchFamily="34" charset="0"/>
              </a:rPr>
              <a:t>Input/output Instructions</a:t>
            </a:r>
          </a:p>
          <a:p>
            <a:pPr lvl="1" algn="just" eaLnBrk="1" hangingPunct="1">
              <a:lnSpc>
                <a:spcPct val="66000"/>
              </a:lnSpc>
              <a:spcBef>
                <a:spcPct val="40000"/>
              </a:spcBef>
            </a:pPr>
            <a:r>
              <a:rPr lang="en-US" altLang="ko-KR" b="1">
                <a:cs typeface="Arial" panose="020B0604020202020204" pitchFamily="34" charset="0"/>
              </a:rPr>
              <a:t>		</a:t>
            </a:r>
            <a:r>
              <a:rPr lang="en-US" altLang="ko-KR" sz="1600" b="1">
                <a:cs typeface="Arial" panose="020B0604020202020204" pitchFamily="34" charset="0"/>
              </a:rPr>
              <a:t>- Input and output</a:t>
            </a:r>
          </a:p>
          <a:p>
            <a:pPr lvl="1" algn="just" eaLnBrk="1" hangingPunct="1">
              <a:lnSpc>
                <a:spcPct val="66000"/>
              </a:lnSpc>
              <a:spcBef>
                <a:spcPct val="40000"/>
              </a:spcBef>
            </a:pPr>
            <a:r>
              <a:rPr lang="en-US" altLang="ko-KR" sz="1600" b="1">
                <a:cs typeface="Arial" panose="020B0604020202020204" pitchFamily="34" charset="0"/>
              </a:rPr>
              <a:t>		- INP, OUT</a:t>
            </a:r>
          </a:p>
          <a:p>
            <a:pPr algn="just" eaLnBrk="1" hangingPunct="1">
              <a:lnSpc>
                <a:spcPct val="66000"/>
              </a:lnSpc>
              <a:buFont typeface="Wingdings" panose="05000000000000000000" pitchFamily="2" charset="2"/>
              <a:buChar char="Ø"/>
            </a:pPr>
            <a:endParaRPr lang="en-US" altLang="ko-KR" b="1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24080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9460" name="TextBox 5"/>
          <p:cNvSpPr txBox="1">
            <a:spLocks noChangeArrowheads="1"/>
          </p:cNvSpPr>
          <p:nvPr/>
        </p:nvSpPr>
        <p:spPr bwMode="auto">
          <a:xfrm>
            <a:off x="1514475" y="65786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62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Control Unit</a:t>
            </a:r>
          </a:p>
        </p:txBody>
      </p:sp>
      <p:sp>
        <p:nvSpPr>
          <p:cNvPr id="19463" name="Rectangle 4"/>
          <p:cNvSpPr txBox="1">
            <a:spLocks noChangeArrowheads="1"/>
          </p:cNvSpPr>
          <p:nvPr/>
        </p:nvSpPr>
        <p:spPr bwMode="auto">
          <a:xfrm>
            <a:off x="2133601" y="1336676"/>
            <a:ext cx="7762875" cy="4759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>
                <a:cs typeface="Arial" panose="020B0604020202020204" pitchFamily="34" charset="0"/>
              </a:rPr>
              <a:t>Control unit (CU) of a processor translates from machine instructions to the control signals for the microoperations that implement them</a:t>
            </a:r>
          </a:p>
          <a:p>
            <a:pPr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>
              <a:cs typeface="Arial" panose="020B0604020202020204" pitchFamily="34" charset="0"/>
            </a:endParaRPr>
          </a:p>
          <a:p>
            <a:pPr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>
                <a:cs typeface="Arial" panose="020B0604020202020204" pitchFamily="34" charset="0"/>
              </a:rPr>
              <a:t>Control units are implemented in one of two ways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ko-KR" sz="2000" b="1">
                <a:solidFill>
                  <a:schemeClr val="tx2"/>
                </a:solidFill>
                <a:cs typeface="Arial" panose="020B0604020202020204" pitchFamily="34" charset="0"/>
              </a:rPr>
              <a:t>	Hardwired</a:t>
            </a:r>
            <a:r>
              <a:rPr lang="en-US" altLang="ko-KR" sz="2000" b="1">
                <a:cs typeface="Arial" panose="020B0604020202020204" pitchFamily="34" charset="0"/>
              </a:rPr>
              <a:t> Control</a:t>
            </a:r>
          </a:p>
          <a:p>
            <a:pPr lvl="1" eaLnBrk="1" hangingPunct="1">
              <a:spcBef>
                <a:spcPct val="20000"/>
              </a:spcBef>
            </a:pPr>
            <a:r>
              <a:rPr lang="en-US" altLang="ko-KR" sz="1600" b="1">
                <a:cs typeface="Arial" panose="020B0604020202020204" pitchFamily="34" charset="0"/>
              </a:rPr>
              <a:t>	CU is made up of sequential and combinational circuits to generate the control signals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ko-KR" sz="2000" b="1">
                <a:solidFill>
                  <a:schemeClr val="tx2"/>
                </a:solidFill>
                <a:cs typeface="Arial" panose="020B0604020202020204" pitchFamily="34" charset="0"/>
              </a:rPr>
              <a:t>	Microprogrammed</a:t>
            </a:r>
            <a:r>
              <a:rPr lang="en-US" altLang="ko-KR" sz="2000" b="1">
                <a:cs typeface="Arial" panose="020B0604020202020204" pitchFamily="34" charset="0"/>
              </a:rPr>
              <a:t> Control</a:t>
            </a:r>
          </a:p>
          <a:p>
            <a:pPr lvl="1" eaLnBrk="1" hangingPunct="1">
              <a:spcBef>
                <a:spcPct val="20000"/>
              </a:spcBef>
            </a:pPr>
            <a:r>
              <a:rPr lang="en-US" altLang="ko-KR" sz="1600" b="1">
                <a:cs typeface="Arial" panose="020B0604020202020204" pitchFamily="34" charset="0"/>
              </a:rPr>
              <a:t>	A control memory on the processor contains microprograms that activate the necessary control signals</a:t>
            </a:r>
          </a:p>
          <a:p>
            <a:pPr lvl="1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1600" b="1">
              <a:cs typeface="Arial" panose="020B0604020202020204" pitchFamily="34" charset="0"/>
            </a:endParaRPr>
          </a:p>
          <a:p>
            <a:pPr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>
                <a:cs typeface="Arial" panose="020B0604020202020204" pitchFamily="34" charset="0"/>
              </a:rPr>
              <a:t>We will consider a hardwired implementation of the control unit for the Basic Computer</a:t>
            </a:r>
          </a:p>
        </p:txBody>
      </p:sp>
    </p:spTree>
    <p:extLst>
      <p:ext uri="{BB962C8B-B14F-4D97-AF65-F5344CB8AC3E}">
        <p14:creationId xmlns:p14="http://schemas.microsoft.com/office/powerpoint/2010/main" val="36103054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0484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86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Timing and Control</a:t>
            </a:r>
          </a:p>
        </p:txBody>
      </p:sp>
      <p:grpSp>
        <p:nvGrpSpPr>
          <p:cNvPr id="20487" name="Group 121"/>
          <p:cNvGrpSpPr>
            <a:grpSpLocks/>
          </p:cNvGrpSpPr>
          <p:nvPr/>
        </p:nvGrpSpPr>
        <p:grpSpPr bwMode="auto">
          <a:xfrm>
            <a:off x="1981200" y="1165226"/>
            <a:ext cx="7384308" cy="5254625"/>
            <a:chOff x="457200" y="1165225"/>
            <a:chExt cx="7384346" cy="5254625"/>
          </a:xfrm>
        </p:grpSpPr>
        <p:sp>
          <p:nvSpPr>
            <p:cNvPr id="20488" name="Rectangle 4"/>
            <p:cNvSpPr>
              <a:spLocks noChangeArrowheads="1"/>
            </p:cNvSpPr>
            <p:nvPr/>
          </p:nvSpPr>
          <p:spPr bwMode="auto">
            <a:xfrm>
              <a:off x="457200" y="1165225"/>
              <a:ext cx="3173946" cy="2605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85000"/>
                </a:lnSpc>
              </a:pPr>
              <a:r>
                <a:rPr lang="en-US" altLang="ko-KR" sz="1600" b="1" u="sng">
                  <a:cs typeface="Arial" panose="020B0604020202020204" pitchFamily="34" charset="0"/>
                </a:rPr>
                <a:t>Control unit of Basic Computer</a:t>
              </a:r>
            </a:p>
          </p:txBody>
        </p:sp>
        <p:sp>
          <p:nvSpPr>
            <p:cNvPr id="12" name="Rectangle 6"/>
            <p:cNvSpPr>
              <a:spLocks noChangeArrowheads="1"/>
            </p:cNvSpPr>
            <p:nvPr/>
          </p:nvSpPr>
          <p:spPr bwMode="auto">
            <a:xfrm>
              <a:off x="1984383" y="1973263"/>
              <a:ext cx="2970228" cy="176212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3" name="Rectangle 7"/>
            <p:cNvSpPr>
              <a:spLocks noChangeArrowheads="1"/>
            </p:cNvSpPr>
            <p:nvPr/>
          </p:nvSpPr>
          <p:spPr bwMode="auto">
            <a:xfrm>
              <a:off x="2524136" y="1752600"/>
              <a:ext cx="2186508" cy="25135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Instruction register (IR)</a:t>
              </a:r>
            </a:p>
          </p:txBody>
        </p:sp>
        <p:sp>
          <p:nvSpPr>
            <p:cNvPr id="14" name="Line 8"/>
            <p:cNvSpPr>
              <a:spLocks noChangeShapeType="1"/>
            </p:cNvSpPr>
            <p:nvPr/>
          </p:nvSpPr>
          <p:spPr bwMode="auto">
            <a:xfrm>
              <a:off x="2330460" y="1973263"/>
              <a:ext cx="0" cy="18573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5" name="Rectangle 9"/>
            <p:cNvSpPr>
              <a:spLocks noChangeArrowheads="1"/>
            </p:cNvSpPr>
            <p:nvPr/>
          </p:nvSpPr>
          <p:spPr bwMode="auto">
            <a:xfrm>
              <a:off x="1973271" y="1941513"/>
              <a:ext cx="343046" cy="25135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15</a:t>
              </a:r>
            </a:p>
          </p:txBody>
        </p:sp>
        <p:sp>
          <p:nvSpPr>
            <p:cNvPr id="16" name="Rectangle 10"/>
            <p:cNvSpPr>
              <a:spLocks noChangeArrowheads="1"/>
            </p:cNvSpPr>
            <p:nvPr/>
          </p:nvSpPr>
          <p:spPr bwMode="auto">
            <a:xfrm>
              <a:off x="2446348" y="1936750"/>
              <a:ext cx="1304852" cy="25135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14    13    12</a:t>
              </a:r>
            </a:p>
          </p:txBody>
        </p:sp>
        <p:sp>
          <p:nvSpPr>
            <p:cNvPr id="17" name="Line 11"/>
            <p:cNvSpPr>
              <a:spLocks noChangeShapeType="1"/>
            </p:cNvSpPr>
            <p:nvPr/>
          </p:nvSpPr>
          <p:spPr bwMode="auto">
            <a:xfrm>
              <a:off x="3475054" y="1973263"/>
              <a:ext cx="0" cy="18573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8" name="Rectangle 12"/>
            <p:cNvSpPr>
              <a:spLocks noChangeArrowheads="1"/>
            </p:cNvSpPr>
            <p:nvPr/>
          </p:nvSpPr>
          <p:spPr bwMode="auto">
            <a:xfrm>
              <a:off x="3886218" y="1941513"/>
              <a:ext cx="663647" cy="25135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11 - 0</a:t>
              </a:r>
            </a:p>
          </p:txBody>
        </p:sp>
        <p:sp>
          <p:nvSpPr>
            <p:cNvPr id="19" name="Rectangle 13"/>
            <p:cNvSpPr>
              <a:spLocks noChangeArrowheads="1"/>
            </p:cNvSpPr>
            <p:nvPr/>
          </p:nvSpPr>
          <p:spPr bwMode="auto">
            <a:xfrm>
              <a:off x="2413010" y="2711450"/>
              <a:ext cx="1258895" cy="54292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20" name="Rectangle 14"/>
            <p:cNvSpPr>
              <a:spLocks noChangeArrowheads="1"/>
            </p:cNvSpPr>
            <p:nvPr/>
          </p:nvSpPr>
          <p:spPr bwMode="auto">
            <a:xfrm>
              <a:off x="2752737" y="2757488"/>
              <a:ext cx="583497" cy="41293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3 x 8</a:t>
              </a:r>
            </a:p>
            <a:p>
              <a:pPr defTabSz="762000">
                <a:defRPr/>
              </a:pPr>
              <a:endParaRPr lang="en-US" altLang="ko-KR" sz="1050" b="1">
                <a:solidFill>
                  <a:srgbClr val="000000"/>
                </a:solidFill>
                <a:cs typeface="Arial" pitchFamily="34" charset="0"/>
              </a:endParaRPr>
            </a:p>
          </p:txBody>
        </p:sp>
        <p:sp>
          <p:nvSpPr>
            <p:cNvPr id="21" name="Rectangle 15"/>
            <p:cNvSpPr>
              <a:spLocks noChangeArrowheads="1"/>
            </p:cNvSpPr>
            <p:nvPr/>
          </p:nvSpPr>
          <p:spPr bwMode="auto">
            <a:xfrm>
              <a:off x="2613036" y="2895600"/>
              <a:ext cx="743798" cy="25135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decoder</a:t>
              </a:r>
            </a:p>
          </p:txBody>
        </p:sp>
        <p:sp>
          <p:nvSpPr>
            <p:cNvPr id="22" name="Rectangle 16"/>
            <p:cNvSpPr>
              <a:spLocks noChangeArrowheads="1"/>
            </p:cNvSpPr>
            <p:nvPr/>
          </p:nvSpPr>
          <p:spPr bwMode="auto">
            <a:xfrm>
              <a:off x="2386023" y="3055938"/>
              <a:ext cx="1625454" cy="25135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 7  6 5 4 3  2 1 0</a:t>
              </a:r>
            </a:p>
          </p:txBody>
        </p:sp>
        <p:sp>
          <p:nvSpPr>
            <p:cNvPr id="23" name="Line 17"/>
            <p:cNvSpPr>
              <a:spLocks noChangeShapeType="1"/>
            </p:cNvSpPr>
            <p:nvPr/>
          </p:nvSpPr>
          <p:spPr bwMode="auto">
            <a:xfrm>
              <a:off x="2544774" y="3265488"/>
              <a:ext cx="0" cy="50482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24" name="Arc 18"/>
            <p:cNvSpPr>
              <a:spLocks/>
            </p:cNvSpPr>
            <p:nvPr/>
          </p:nvSpPr>
          <p:spPr bwMode="auto">
            <a:xfrm>
              <a:off x="2649549" y="3394075"/>
              <a:ext cx="95250" cy="95250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25" name="Line 19"/>
            <p:cNvSpPr>
              <a:spLocks noChangeShapeType="1"/>
            </p:cNvSpPr>
            <p:nvPr/>
          </p:nvSpPr>
          <p:spPr bwMode="auto">
            <a:xfrm>
              <a:off x="2695587" y="3265488"/>
              <a:ext cx="0" cy="13811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26" name="Arc 20"/>
            <p:cNvSpPr>
              <a:spLocks/>
            </p:cNvSpPr>
            <p:nvPr/>
          </p:nvSpPr>
          <p:spPr bwMode="auto">
            <a:xfrm>
              <a:off x="2787662" y="3394075"/>
              <a:ext cx="95250" cy="95250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27" name="Line 21"/>
            <p:cNvSpPr>
              <a:spLocks noChangeShapeType="1"/>
            </p:cNvSpPr>
            <p:nvPr/>
          </p:nvSpPr>
          <p:spPr bwMode="auto">
            <a:xfrm flipH="1">
              <a:off x="2833700" y="3265488"/>
              <a:ext cx="0" cy="1428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28" name="Arc 22"/>
            <p:cNvSpPr>
              <a:spLocks/>
            </p:cNvSpPr>
            <p:nvPr/>
          </p:nvSpPr>
          <p:spPr bwMode="auto">
            <a:xfrm>
              <a:off x="2924188" y="3394075"/>
              <a:ext cx="96839" cy="95250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29" name="Line 23"/>
            <p:cNvSpPr>
              <a:spLocks noChangeShapeType="1"/>
            </p:cNvSpPr>
            <p:nvPr/>
          </p:nvSpPr>
          <p:spPr bwMode="auto">
            <a:xfrm>
              <a:off x="2971813" y="3265488"/>
              <a:ext cx="0" cy="14922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30" name="Arc 24"/>
            <p:cNvSpPr>
              <a:spLocks/>
            </p:cNvSpPr>
            <p:nvPr/>
          </p:nvSpPr>
          <p:spPr bwMode="auto">
            <a:xfrm>
              <a:off x="3076589" y="3394075"/>
              <a:ext cx="95250" cy="95250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31" name="Line 25"/>
            <p:cNvSpPr>
              <a:spLocks noChangeShapeType="1"/>
            </p:cNvSpPr>
            <p:nvPr/>
          </p:nvSpPr>
          <p:spPr bwMode="auto">
            <a:xfrm>
              <a:off x="3124214" y="3265488"/>
              <a:ext cx="0" cy="14922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32" name="Arc 26"/>
            <p:cNvSpPr>
              <a:spLocks/>
            </p:cNvSpPr>
            <p:nvPr/>
          </p:nvSpPr>
          <p:spPr bwMode="auto">
            <a:xfrm>
              <a:off x="3214702" y="3394075"/>
              <a:ext cx="96838" cy="95250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33" name="Line 27"/>
            <p:cNvSpPr>
              <a:spLocks noChangeShapeType="1"/>
            </p:cNvSpPr>
            <p:nvPr/>
          </p:nvSpPr>
          <p:spPr bwMode="auto">
            <a:xfrm>
              <a:off x="3255978" y="3260725"/>
              <a:ext cx="0" cy="15398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34" name="Arc 28"/>
            <p:cNvSpPr>
              <a:spLocks/>
            </p:cNvSpPr>
            <p:nvPr/>
          </p:nvSpPr>
          <p:spPr bwMode="auto">
            <a:xfrm>
              <a:off x="3352815" y="3394075"/>
              <a:ext cx="95250" cy="95250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35" name="Line 29"/>
            <p:cNvSpPr>
              <a:spLocks noChangeShapeType="1"/>
            </p:cNvSpPr>
            <p:nvPr/>
          </p:nvSpPr>
          <p:spPr bwMode="auto">
            <a:xfrm>
              <a:off x="3400440" y="3265488"/>
              <a:ext cx="0" cy="14922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36" name="Line 30"/>
            <p:cNvSpPr>
              <a:spLocks noChangeShapeType="1"/>
            </p:cNvSpPr>
            <p:nvPr/>
          </p:nvSpPr>
          <p:spPr bwMode="auto">
            <a:xfrm flipH="1">
              <a:off x="3544904" y="3254375"/>
              <a:ext cx="0" cy="2444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37" name="Arc 31"/>
            <p:cNvSpPr>
              <a:spLocks/>
            </p:cNvSpPr>
            <p:nvPr/>
          </p:nvSpPr>
          <p:spPr bwMode="auto">
            <a:xfrm>
              <a:off x="2573349" y="2601913"/>
              <a:ext cx="95250" cy="95250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38" name="Line 32"/>
            <p:cNvSpPr>
              <a:spLocks noChangeShapeType="1"/>
            </p:cNvSpPr>
            <p:nvPr/>
          </p:nvSpPr>
          <p:spPr bwMode="auto">
            <a:xfrm>
              <a:off x="2620974" y="2154238"/>
              <a:ext cx="0" cy="4572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39" name="Arc 33"/>
            <p:cNvSpPr>
              <a:spLocks/>
            </p:cNvSpPr>
            <p:nvPr/>
          </p:nvSpPr>
          <p:spPr bwMode="auto">
            <a:xfrm>
              <a:off x="2924188" y="2601913"/>
              <a:ext cx="96839" cy="95250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40" name="Line 34"/>
            <p:cNvSpPr>
              <a:spLocks noChangeShapeType="1"/>
            </p:cNvSpPr>
            <p:nvPr/>
          </p:nvSpPr>
          <p:spPr bwMode="auto">
            <a:xfrm>
              <a:off x="2971813" y="2139950"/>
              <a:ext cx="0" cy="47148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41" name="Arc 35"/>
            <p:cNvSpPr>
              <a:spLocks/>
            </p:cNvSpPr>
            <p:nvPr/>
          </p:nvSpPr>
          <p:spPr bwMode="auto">
            <a:xfrm>
              <a:off x="3290903" y="2601913"/>
              <a:ext cx="95250" cy="95250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42" name="Line 36"/>
            <p:cNvSpPr>
              <a:spLocks noChangeShapeType="1"/>
            </p:cNvSpPr>
            <p:nvPr/>
          </p:nvSpPr>
          <p:spPr bwMode="auto">
            <a:xfrm>
              <a:off x="3336940" y="2154238"/>
              <a:ext cx="0" cy="4476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43" name="Rectangle 38"/>
            <p:cNvSpPr>
              <a:spLocks noChangeArrowheads="1"/>
            </p:cNvSpPr>
            <p:nvPr/>
          </p:nvSpPr>
          <p:spPr bwMode="auto">
            <a:xfrm>
              <a:off x="4903811" y="2828925"/>
              <a:ext cx="1258894" cy="1881188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44" name="Rectangle 42"/>
            <p:cNvSpPr>
              <a:spLocks noChangeArrowheads="1"/>
            </p:cNvSpPr>
            <p:nvPr/>
          </p:nvSpPr>
          <p:spPr bwMode="auto">
            <a:xfrm>
              <a:off x="2041533" y="3443288"/>
              <a:ext cx="177801" cy="195262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45" name="Rectangle 43"/>
            <p:cNvSpPr>
              <a:spLocks noChangeArrowheads="1"/>
            </p:cNvSpPr>
            <p:nvPr/>
          </p:nvSpPr>
          <p:spPr bwMode="auto">
            <a:xfrm>
              <a:off x="2020896" y="3430588"/>
              <a:ext cx="262894" cy="25135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I</a:t>
              </a:r>
            </a:p>
          </p:txBody>
        </p:sp>
        <p:sp>
          <p:nvSpPr>
            <p:cNvPr id="46" name="Arc 44"/>
            <p:cNvSpPr>
              <a:spLocks/>
            </p:cNvSpPr>
            <p:nvPr/>
          </p:nvSpPr>
          <p:spPr bwMode="auto">
            <a:xfrm>
              <a:off x="2070108" y="3335338"/>
              <a:ext cx="95250" cy="95250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47" name="Line 45"/>
            <p:cNvSpPr>
              <a:spLocks noChangeShapeType="1"/>
            </p:cNvSpPr>
            <p:nvPr/>
          </p:nvSpPr>
          <p:spPr bwMode="auto">
            <a:xfrm>
              <a:off x="2108209" y="2154238"/>
              <a:ext cx="0" cy="12192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48" name="Arc 46"/>
            <p:cNvSpPr>
              <a:spLocks/>
            </p:cNvSpPr>
            <p:nvPr/>
          </p:nvSpPr>
          <p:spPr bwMode="auto">
            <a:xfrm>
              <a:off x="4779985" y="3451225"/>
              <a:ext cx="119063" cy="76200"/>
            </a:xfrm>
            <a:custGeom>
              <a:avLst/>
              <a:gdLst>
                <a:gd name="G0" fmla="+- 21600 0 0"/>
                <a:gd name="G1" fmla="+- 8746 0 0"/>
                <a:gd name="G2" fmla="+- 21600 0 0"/>
                <a:gd name="T0" fmla="*/ 1746 w 21600"/>
                <a:gd name="T1" fmla="*/ 17255 h 17255"/>
                <a:gd name="T2" fmla="*/ 1850 w 21600"/>
                <a:gd name="T3" fmla="*/ 0 h 17255"/>
                <a:gd name="T4" fmla="*/ 21600 w 21600"/>
                <a:gd name="T5" fmla="*/ 8746 h 17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49" name="Line 47"/>
            <p:cNvSpPr>
              <a:spLocks noChangeShapeType="1"/>
            </p:cNvSpPr>
            <p:nvPr/>
          </p:nvSpPr>
          <p:spPr bwMode="auto">
            <a:xfrm>
              <a:off x="3557604" y="3498850"/>
              <a:ext cx="1220793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50" name="Arc 48"/>
            <p:cNvSpPr>
              <a:spLocks/>
            </p:cNvSpPr>
            <p:nvPr/>
          </p:nvSpPr>
          <p:spPr bwMode="auto">
            <a:xfrm>
              <a:off x="4779985" y="3729038"/>
              <a:ext cx="119063" cy="74612"/>
            </a:xfrm>
            <a:custGeom>
              <a:avLst/>
              <a:gdLst>
                <a:gd name="G0" fmla="+- 21600 0 0"/>
                <a:gd name="G1" fmla="+- 8746 0 0"/>
                <a:gd name="G2" fmla="+- 21600 0 0"/>
                <a:gd name="T0" fmla="*/ 1746 w 21600"/>
                <a:gd name="T1" fmla="*/ 17255 h 17255"/>
                <a:gd name="T2" fmla="*/ 1850 w 21600"/>
                <a:gd name="T3" fmla="*/ 0 h 17255"/>
                <a:gd name="T4" fmla="*/ 21600 w 21600"/>
                <a:gd name="T5" fmla="*/ 8746 h 17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51" name="Line 49"/>
            <p:cNvSpPr>
              <a:spLocks noChangeShapeType="1"/>
            </p:cNvSpPr>
            <p:nvPr/>
          </p:nvSpPr>
          <p:spPr bwMode="auto">
            <a:xfrm>
              <a:off x="2551124" y="3775075"/>
              <a:ext cx="2227274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52" name="Arc 51"/>
            <p:cNvSpPr>
              <a:spLocks/>
            </p:cNvSpPr>
            <p:nvPr/>
          </p:nvSpPr>
          <p:spPr bwMode="auto">
            <a:xfrm>
              <a:off x="4779985" y="3956050"/>
              <a:ext cx="119063" cy="74613"/>
            </a:xfrm>
            <a:custGeom>
              <a:avLst/>
              <a:gdLst>
                <a:gd name="G0" fmla="+- 21600 0 0"/>
                <a:gd name="G1" fmla="+- 8746 0 0"/>
                <a:gd name="G2" fmla="+- 21600 0 0"/>
                <a:gd name="T0" fmla="*/ 1746 w 21600"/>
                <a:gd name="T1" fmla="*/ 17255 h 17255"/>
                <a:gd name="T2" fmla="*/ 1850 w 21600"/>
                <a:gd name="T3" fmla="*/ 0 h 17255"/>
                <a:gd name="T4" fmla="*/ 21600 w 21600"/>
                <a:gd name="T5" fmla="*/ 8746 h 17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53" name="Line 52"/>
            <p:cNvSpPr>
              <a:spLocks noChangeShapeType="1"/>
            </p:cNvSpPr>
            <p:nvPr/>
          </p:nvSpPr>
          <p:spPr bwMode="auto">
            <a:xfrm>
              <a:off x="2117734" y="4002088"/>
              <a:ext cx="2660664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54" name="Rectangle 53"/>
            <p:cNvSpPr>
              <a:spLocks noChangeArrowheads="1"/>
            </p:cNvSpPr>
            <p:nvPr/>
          </p:nvSpPr>
          <p:spPr bwMode="auto">
            <a:xfrm>
              <a:off x="4021157" y="3243263"/>
              <a:ext cx="262894" cy="25135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D</a:t>
              </a:r>
            </a:p>
          </p:txBody>
        </p:sp>
        <p:sp>
          <p:nvSpPr>
            <p:cNvPr id="55" name="Rectangle 54"/>
            <p:cNvSpPr>
              <a:spLocks noChangeArrowheads="1"/>
            </p:cNvSpPr>
            <p:nvPr/>
          </p:nvSpPr>
          <p:spPr bwMode="auto">
            <a:xfrm>
              <a:off x="4141807" y="3292475"/>
              <a:ext cx="262894" cy="25135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0</a:t>
              </a:r>
            </a:p>
          </p:txBody>
        </p:sp>
        <p:sp>
          <p:nvSpPr>
            <p:cNvPr id="56" name="Arc 55"/>
            <p:cNvSpPr>
              <a:spLocks/>
            </p:cNvSpPr>
            <p:nvPr/>
          </p:nvSpPr>
          <p:spPr bwMode="auto">
            <a:xfrm>
              <a:off x="4779985" y="4173538"/>
              <a:ext cx="119063" cy="76200"/>
            </a:xfrm>
            <a:custGeom>
              <a:avLst/>
              <a:gdLst>
                <a:gd name="G0" fmla="+- 21600 0 0"/>
                <a:gd name="G1" fmla="+- 8746 0 0"/>
                <a:gd name="G2" fmla="+- 21600 0 0"/>
                <a:gd name="T0" fmla="*/ 1746 w 21600"/>
                <a:gd name="T1" fmla="*/ 17255 h 17255"/>
                <a:gd name="T2" fmla="*/ 1850 w 21600"/>
                <a:gd name="T3" fmla="*/ 0 h 17255"/>
                <a:gd name="T4" fmla="*/ 21600 w 21600"/>
                <a:gd name="T5" fmla="*/ 8746 h 17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57" name="Line 56"/>
            <p:cNvSpPr>
              <a:spLocks noChangeShapeType="1"/>
            </p:cNvSpPr>
            <p:nvPr/>
          </p:nvSpPr>
          <p:spPr bwMode="auto">
            <a:xfrm>
              <a:off x="2551124" y="4221163"/>
              <a:ext cx="2227274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58" name="Line 57"/>
            <p:cNvSpPr>
              <a:spLocks noChangeShapeType="1"/>
            </p:cNvSpPr>
            <p:nvPr/>
          </p:nvSpPr>
          <p:spPr bwMode="auto">
            <a:xfrm flipH="1">
              <a:off x="2544774" y="4225925"/>
              <a:ext cx="0" cy="50006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59" name="Arc 58"/>
            <p:cNvSpPr>
              <a:spLocks/>
            </p:cNvSpPr>
            <p:nvPr/>
          </p:nvSpPr>
          <p:spPr bwMode="auto">
            <a:xfrm>
              <a:off x="4779985" y="4459288"/>
              <a:ext cx="119063" cy="77787"/>
            </a:xfrm>
            <a:custGeom>
              <a:avLst/>
              <a:gdLst>
                <a:gd name="G0" fmla="+- 21600 0 0"/>
                <a:gd name="G1" fmla="+- 8746 0 0"/>
                <a:gd name="G2" fmla="+- 21600 0 0"/>
                <a:gd name="T0" fmla="*/ 1746 w 21600"/>
                <a:gd name="T1" fmla="*/ 17255 h 17255"/>
                <a:gd name="T2" fmla="*/ 1850 w 21600"/>
                <a:gd name="T3" fmla="*/ 0 h 17255"/>
                <a:gd name="T4" fmla="*/ 21600 w 21600"/>
                <a:gd name="T5" fmla="*/ 8746 h 17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60" name="Line 59"/>
            <p:cNvSpPr>
              <a:spLocks noChangeShapeType="1"/>
            </p:cNvSpPr>
            <p:nvPr/>
          </p:nvSpPr>
          <p:spPr bwMode="auto">
            <a:xfrm>
              <a:off x="3771917" y="4508500"/>
              <a:ext cx="100648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61" name="Line 60"/>
            <p:cNvSpPr>
              <a:spLocks noChangeShapeType="1"/>
            </p:cNvSpPr>
            <p:nvPr/>
          </p:nvSpPr>
          <p:spPr bwMode="auto">
            <a:xfrm>
              <a:off x="3765567" y="4508500"/>
              <a:ext cx="0" cy="21748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62" name="Rectangle 61"/>
            <p:cNvSpPr>
              <a:spLocks noChangeArrowheads="1"/>
            </p:cNvSpPr>
            <p:nvPr/>
          </p:nvSpPr>
          <p:spPr bwMode="auto">
            <a:xfrm>
              <a:off x="2413010" y="4729163"/>
              <a:ext cx="1546233" cy="54610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63" name="Rectangle 62"/>
            <p:cNvSpPr>
              <a:spLocks noChangeArrowheads="1"/>
            </p:cNvSpPr>
            <p:nvPr/>
          </p:nvSpPr>
          <p:spPr bwMode="auto">
            <a:xfrm>
              <a:off x="2371735" y="4729163"/>
              <a:ext cx="2186508" cy="25135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15   14  . . . .  2  1  0</a:t>
              </a:r>
            </a:p>
          </p:txBody>
        </p:sp>
        <p:sp>
          <p:nvSpPr>
            <p:cNvPr id="64" name="Arc 63"/>
            <p:cNvSpPr>
              <a:spLocks/>
            </p:cNvSpPr>
            <p:nvPr/>
          </p:nvSpPr>
          <p:spPr bwMode="auto">
            <a:xfrm>
              <a:off x="2787662" y="4497388"/>
              <a:ext cx="95250" cy="95250"/>
            </a:xfrm>
            <a:custGeom>
              <a:avLst/>
              <a:gdLst>
                <a:gd name="G0" fmla="+- 8852 0 0"/>
                <a:gd name="G1" fmla="+- 0 0 0"/>
                <a:gd name="G2" fmla="+- 21600 0 0"/>
                <a:gd name="T0" fmla="*/ 17464 w 17464"/>
                <a:gd name="T1" fmla="*/ 19809 h 21600"/>
                <a:gd name="T2" fmla="*/ 0 w 17464"/>
                <a:gd name="T3" fmla="*/ 19703 h 21600"/>
                <a:gd name="T4" fmla="*/ 8852 w 17464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464" h="21600" fill="none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</a:path>
                <a:path w="17464" h="21600" stroke="0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  <a:lnTo>
                    <a:pt x="8852" y="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65" name="Line 64"/>
            <p:cNvSpPr>
              <a:spLocks noChangeShapeType="1"/>
            </p:cNvSpPr>
            <p:nvPr/>
          </p:nvSpPr>
          <p:spPr bwMode="auto">
            <a:xfrm flipV="1">
              <a:off x="2833700" y="4572000"/>
              <a:ext cx="0" cy="15716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66" name="Arc 65"/>
            <p:cNvSpPr>
              <a:spLocks/>
            </p:cNvSpPr>
            <p:nvPr/>
          </p:nvSpPr>
          <p:spPr bwMode="auto">
            <a:xfrm>
              <a:off x="3427428" y="4497388"/>
              <a:ext cx="96838" cy="95250"/>
            </a:xfrm>
            <a:custGeom>
              <a:avLst/>
              <a:gdLst>
                <a:gd name="G0" fmla="+- 8852 0 0"/>
                <a:gd name="G1" fmla="+- 0 0 0"/>
                <a:gd name="G2" fmla="+- 21600 0 0"/>
                <a:gd name="T0" fmla="*/ 17464 w 17464"/>
                <a:gd name="T1" fmla="*/ 19809 h 21600"/>
                <a:gd name="T2" fmla="*/ 0 w 17464"/>
                <a:gd name="T3" fmla="*/ 19703 h 21600"/>
                <a:gd name="T4" fmla="*/ 8852 w 17464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464" h="21600" fill="none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</a:path>
                <a:path w="17464" h="21600" stroke="0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  <a:lnTo>
                    <a:pt x="8852" y="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67" name="Line 66"/>
            <p:cNvSpPr>
              <a:spLocks noChangeShapeType="1"/>
            </p:cNvSpPr>
            <p:nvPr/>
          </p:nvSpPr>
          <p:spPr bwMode="auto">
            <a:xfrm flipV="1">
              <a:off x="3475054" y="4572000"/>
              <a:ext cx="0" cy="15716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68" name="Arc 67"/>
            <p:cNvSpPr>
              <a:spLocks/>
            </p:cNvSpPr>
            <p:nvPr/>
          </p:nvSpPr>
          <p:spPr bwMode="auto">
            <a:xfrm>
              <a:off x="3567129" y="4497388"/>
              <a:ext cx="96838" cy="95250"/>
            </a:xfrm>
            <a:custGeom>
              <a:avLst/>
              <a:gdLst>
                <a:gd name="G0" fmla="+- 8852 0 0"/>
                <a:gd name="G1" fmla="+- 0 0 0"/>
                <a:gd name="G2" fmla="+- 21600 0 0"/>
                <a:gd name="T0" fmla="*/ 17464 w 17464"/>
                <a:gd name="T1" fmla="*/ 19809 h 21600"/>
                <a:gd name="T2" fmla="*/ 0 w 17464"/>
                <a:gd name="T3" fmla="*/ 19703 h 21600"/>
                <a:gd name="T4" fmla="*/ 8852 w 17464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464" h="21600" fill="none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</a:path>
                <a:path w="17464" h="21600" stroke="0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  <a:lnTo>
                    <a:pt x="8852" y="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69" name="Line 68"/>
            <p:cNvSpPr>
              <a:spLocks noChangeShapeType="1"/>
            </p:cNvSpPr>
            <p:nvPr/>
          </p:nvSpPr>
          <p:spPr bwMode="auto">
            <a:xfrm flipV="1">
              <a:off x="3614754" y="4572000"/>
              <a:ext cx="0" cy="15716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70" name="Rectangle 69"/>
            <p:cNvSpPr>
              <a:spLocks noChangeArrowheads="1"/>
            </p:cNvSpPr>
            <p:nvPr/>
          </p:nvSpPr>
          <p:spPr bwMode="auto">
            <a:xfrm>
              <a:off x="2776550" y="4887913"/>
              <a:ext cx="663647" cy="41293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4 x 16</a:t>
              </a:r>
            </a:p>
            <a:p>
              <a:pPr defTabSz="762000">
                <a:defRPr/>
              </a:pPr>
              <a:endParaRPr lang="en-US" altLang="ko-KR" sz="1050" b="1">
                <a:solidFill>
                  <a:srgbClr val="000000"/>
                </a:solidFill>
                <a:cs typeface="Arial" pitchFamily="34" charset="0"/>
              </a:endParaRPr>
            </a:p>
          </p:txBody>
        </p:sp>
        <p:sp>
          <p:nvSpPr>
            <p:cNvPr id="71" name="Rectangle 70"/>
            <p:cNvSpPr>
              <a:spLocks noChangeArrowheads="1"/>
            </p:cNvSpPr>
            <p:nvPr/>
          </p:nvSpPr>
          <p:spPr bwMode="auto">
            <a:xfrm>
              <a:off x="2687650" y="5029200"/>
              <a:ext cx="743798" cy="25135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decoder</a:t>
              </a:r>
            </a:p>
          </p:txBody>
        </p:sp>
        <p:sp>
          <p:nvSpPr>
            <p:cNvPr id="72" name="Rectangle 71"/>
            <p:cNvSpPr>
              <a:spLocks noChangeArrowheads="1"/>
            </p:cNvSpPr>
            <p:nvPr/>
          </p:nvSpPr>
          <p:spPr bwMode="auto">
            <a:xfrm>
              <a:off x="2838462" y="5559425"/>
              <a:ext cx="583497" cy="41293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4-bit</a:t>
              </a:r>
            </a:p>
            <a:p>
              <a:pPr defTabSz="762000">
                <a:defRPr/>
              </a:pPr>
              <a:endParaRPr lang="en-US" altLang="ko-KR" sz="1050" b="1">
                <a:solidFill>
                  <a:srgbClr val="000000"/>
                </a:solidFill>
                <a:cs typeface="Arial" pitchFamily="34" charset="0"/>
              </a:endParaRPr>
            </a:p>
          </p:txBody>
        </p:sp>
        <p:sp>
          <p:nvSpPr>
            <p:cNvPr id="73" name="Rectangle 72"/>
            <p:cNvSpPr>
              <a:spLocks noChangeArrowheads="1"/>
            </p:cNvSpPr>
            <p:nvPr/>
          </p:nvSpPr>
          <p:spPr bwMode="auto">
            <a:xfrm>
              <a:off x="2624149" y="5700713"/>
              <a:ext cx="823949" cy="41293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sequence</a:t>
              </a:r>
            </a:p>
            <a:p>
              <a:pPr defTabSz="762000">
                <a:defRPr/>
              </a:pPr>
              <a:endParaRPr lang="en-US" altLang="ko-KR" sz="1050" b="1">
                <a:solidFill>
                  <a:srgbClr val="000000"/>
                </a:solidFill>
                <a:cs typeface="Arial" pitchFamily="34" charset="0"/>
              </a:endParaRPr>
            </a:p>
          </p:txBody>
        </p:sp>
        <p:sp>
          <p:nvSpPr>
            <p:cNvPr id="74" name="Rectangle 73"/>
            <p:cNvSpPr>
              <a:spLocks noChangeArrowheads="1"/>
            </p:cNvSpPr>
            <p:nvPr/>
          </p:nvSpPr>
          <p:spPr bwMode="auto">
            <a:xfrm>
              <a:off x="2711462" y="5835650"/>
              <a:ext cx="743798" cy="41293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counter</a:t>
              </a:r>
            </a:p>
            <a:p>
              <a:pPr defTabSz="762000">
                <a:defRPr/>
              </a:pPr>
              <a:endParaRPr lang="en-US" altLang="ko-KR" sz="1050" b="1">
                <a:solidFill>
                  <a:srgbClr val="000000"/>
                </a:solidFill>
                <a:cs typeface="Arial" pitchFamily="34" charset="0"/>
              </a:endParaRPr>
            </a:p>
          </p:txBody>
        </p:sp>
        <p:sp>
          <p:nvSpPr>
            <p:cNvPr id="75" name="Rectangle 74"/>
            <p:cNvSpPr>
              <a:spLocks noChangeArrowheads="1"/>
            </p:cNvSpPr>
            <p:nvPr/>
          </p:nvSpPr>
          <p:spPr bwMode="auto">
            <a:xfrm>
              <a:off x="2825762" y="5975350"/>
              <a:ext cx="503347" cy="25135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(SC)</a:t>
              </a:r>
            </a:p>
          </p:txBody>
        </p:sp>
        <p:sp>
          <p:nvSpPr>
            <p:cNvPr id="76" name="Rectangle 75"/>
            <p:cNvSpPr>
              <a:spLocks noChangeArrowheads="1"/>
            </p:cNvSpPr>
            <p:nvPr/>
          </p:nvSpPr>
          <p:spPr bwMode="auto">
            <a:xfrm>
              <a:off x="2551124" y="5583238"/>
              <a:ext cx="1120781" cy="592137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77" name="Arc 76"/>
            <p:cNvSpPr>
              <a:spLocks/>
            </p:cNvSpPr>
            <p:nvPr/>
          </p:nvSpPr>
          <p:spPr bwMode="auto">
            <a:xfrm>
              <a:off x="2711462" y="5280025"/>
              <a:ext cx="96839" cy="93663"/>
            </a:xfrm>
            <a:custGeom>
              <a:avLst/>
              <a:gdLst>
                <a:gd name="G0" fmla="+- 8852 0 0"/>
                <a:gd name="G1" fmla="+- 0 0 0"/>
                <a:gd name="G2" fmla="+- 21600 0 0"/>
                <a:gd name="T0" fmla="*/ 17464 w 17464"/>
                <a:gd name="T1" fmla="*/ 19809 h 21600"/>
                <a:gd name="T2" fmla="*/ 0 w 17464"/>
                <a:gd name="T3" fmla="*/ 19703 h 21600"/>
                <a:gd name="T4" fmla="*/ 8852 w 17464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464" h="21600" fill="none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</a:path>
                <a:path w="17464" h="21600" stroke="0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  <a:lnTo>
                    <a:pt x="8852" y="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78" name="Line 77"/>
            <p:cNvSpPr>
              <a:spLocks noChangeShapeType="1"/>
            </p:cNvSpPr>
            <p:nvPr/>
          </p:nvSpPr>
          <p:spPr bwMode="auto">
            <a:xfrm flipV="1">
              <a:off x="2759087" y="5353050"/>
              <a:ext cx="0" cy="23018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79" name="Arc 78"/>
            <p:cNvSpPr>
              <a:spLocks/>
            </p:cNvSpPr>
            <p:nvPr/>
          </p:nvSpPr>
          <p:spPr bwMode="auto">
            <a:xfrm>
              <a:off x="2924188" y="5280025"/>
              <a:ext cx="96839" cy="93663"/>
            </a:xfrm>
            <a:custGeom>
              <a:avLst/>
              <a:gdLst>
                <a:gd name="G0" fmla="+- 8852 0 0"/>
                <a:gd name="G1" fmla="+- 0 0 0"/>
                <a:gd name="G2" fmla="+- 21600 0 0"/>
                <a:gd name="T0" fmla="*/ 17464 w 17464"/>
                <a:gd name="T1" fmla="*/ 19809 h 21600"/>
                <a:gd name="T2" fmla="*/ 0 w 17464"/>
                <a:gd name="T3" fmla="*/ 19703 h 21600"/>
                <a:gd name="T4" fmla="*/ 8852 w 17464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464" h="21600" fill="none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</a:path>
                <a:path w="17464" h="21600" stroke="0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  <a:lnTo>
                    <a:pt x="8852" y="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80" name="Arc 80"/>
            <p:cNvSpPr>
              <a:spLocks/>
            </p:cNvSpPr>
            <p:nvPr/>
          </p:nvSpPr>
          <p:spPr bwMode="auto">
            <a:xfrm>
              <a:off x="3140089" y="5280025"/>
              <a:ext cx="95250" cy="93663"/>
            </a:xfrm>
            <a:custGeom>
              <a:avLst/>
              <a:gdLst>
                <a:gd name="G0" fmla="+- 8852 0 0"/>
                <a:gd name="G1" fmla="+- 0 0 0"/>
                <a:gd name="G2" fmla="+- 21600 0 0"/>
                <a:gd name="T0" fmla="*/ 17464 w 17464"/>
                <a:gd name="T1" fmla="*/ 19809 h 21600"/>
                <a:gd name="T2" fmla="*/ 0 w 17464"/>
                <a:gd name="T3" fmla="*/ 19703 h 21600"/>
                <a:gd name="T4" fmla="*/ 8852 w 17464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464" h="21600" fill="none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</a:path>
                <a:path w="17464" h="21600" stroke="0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  <a:lnTo>
                    <a:pt x="8852" y="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81" name="Line 81"/>
            <p:cNvSpPr>
              <a:spLocks noChangeShapeType="1"/>
            </p:cNvSpPr>
            <p:nvPr/>
          </p:nvSpPr>
          <p:spPr bwMode="auto">
            <a:xfrm flipV="1">
              <a:off x="3186127" y="5353050"/>
              <a:ext cx="0" cy="23018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82" name="Arc 82"/>
            <p:cNvSpPr>
              <a:spLocks/>
            </p:cNvSpPr>
            <p:nvPr/>
          </p:nvSpPr>
          <p:spPr bwMode="auto">
            <a:xfrm>
              <a:off x="3352815" y="5280025"/>
              <a:ext cx="95250" cy="93663"/>
            </a:xfrm>
            <a:custGeom>
              <a:avLst/>
              <a:gdLst>
                <a:gd name="G0" fmla="+- 8852 0 0"/>
                <a:gd name="G1" fmla="+- 0 0 0"/>
                <a:gd name="G2" fmla="+- 21600 0 0"/>
                <a:gd name="T0" fmla="*/ 17464 w 17464"/>
                <a:gd name="T1" fmla="*/ 19809 h 21600"/>
                <a:gd name="T2" fmla="*/ 0 w 17464"/>
                <a:gd name="T3" fmla="*/ 19703 h 21600"/>
                <a:gd name="T4" fmla="*/ 8852 w 17464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464" h="21600" fill="none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</a:path>
                <a:path w="17464" h="21600" stroke="0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  <a:lnTo>
                    <a:pt x="8852" y="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83" name="Line 83"/>
            <p:cNvSpPr>
              <a:spLocks noChangeShapeType="1"/>
            </p:cNvSpPr>
            <p:nvPr/>
          </p:nvSpPr>
          <p:spPr bwMode="auto">
            <a:xfrm flipV="1">
              <a:off x="3400440" y="5353050"/>
              <a:ext cx="0" cy="23018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84" name="Arc 84"/>
            <p:cNvSpPr>
              <a:spLocks/>
            </p:cNvSpPr>
            <p:nvPr/>
          </p:nvSpPr>
          <p:spPr bwMode="auto">
            <a:xfrm>
              <a:off x="3689367" y="5643563"/>
              <a:ext cx="120651" cy="76200"/>
            </a:xfrm>
            <a:custGeom>
              <a:avLst/>
              <a:gdLst>
                <a:gd name="G0" fmla="+- 0 0 0"/>
                <a:gd name="G1" fmla="+- 8852 0 0"/>
                <a:gd name="G2" fmla="+- 21600 0 0"/>
                <a:gd name="T0" fmla="*/ 19703 w 21600"/>
                <a:gd name="T1" fmla="*/ 0 h 17464"/>
                <a:gd name="T2" fmla="*/ 19809 w 21600"/>
                <a:gd name="T3" fmla="*/ 17464 h 17464"/>
                <a:gd name="T4" fmla="*/ 0 w 21600"/>
                <a:gd name="T5" fmla="*/ 8852 h 17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464" fill="none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</a:path>
                <a:path w="21600" h="17464" stroke="0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  <a:lnTo>
                    <a:pt x="0" y="8852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85" name="Line 85"/>
            <p:cNvSpPr>
              <a:spLocks noChangeShapeType="1"/>
            </p:cNvSpPr>
            <p:nvPr/>
          </p:nvSpPr>
          <p:spPr bwMode="auto">
            <a:xfrm>
              <a:off x="3795730" y="5686425"/>
              <a:ext cx="51752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86" name="Rectangle 86"/>
            <p:cNvSpPr>
              <a:spLocks noChangeArrowheads="1"/>
            </p:cNvSpPr>
            <p:nvPr/>
          </p:nvSpPr>
          <p:spPr bwMode="auto">
            <a:xfrm>
              <a:off x="4329133" y="5532438"/>
              <a:ext cx="1385003" cy="25135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Increment (INR)</a:t>
              </a:r>
            </a:p>
          </p:txBody>
        </p:sp>
        <p:sp>
          <p:nvSpPr>
            <p:cNvPr id="87" name="Arc 87"/>
            <p:cNvSpPr>
              <a:spLocks/>
            </p:cNvSpPr>
            <p:nvPr/>
          </p:nvSpPr>
          <p:spPr bwMode="auto">
            <a:xfrm>
              <a:off x="3689367" y="5811838"/>
              <a:ext cx="120651" cy="76200"/>
            </a:xfrm>
            <a:custGeom>
              <a:avLst/>
              <a:gdLst>
                <a:gd name="G0" fmla="+- 0 0 0"/>
                <a:gd name="G1" fmla="+- 8852 0 0"/>
                <a:gd name="G2" fmla="+- 21600 0 0"/>
                <a:gd name="T0" fmla="*/ 19703 w 21600"/>
                <a:gd name="T1" fmla="*/ 0 h 17464"/>
                <a:gd name="T2" fmla="*/ 19809 w 21600"/>
                <a:gd name="T3" fmla="*/ 17464 h 17464"/>
                <a:gd name="T4" fmla="*/ 0 w 21600"/>
                <a:gd name="T5" fmla="*/ 8852 h 17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464" fill="none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</a:path>
                <a:path w="21600" h="17464" stroke="0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  <a:lnTo>
                    <a:pt x="0" y="8852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88" name="Line 88"/>
            <p:cNvSpPr>
              <a:spLocks noChangeShapeType="1"/>
            </p:cNvSpPr>
            <p:nvPr/>
          </p:nvSpPr>
          <p:spPr bwMode="auto">
            <a:xfrm>
              <a:off x="3795730" y="5854700"/>
              <a:ext cx="51752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89" name="Rectangle 89"/>
            <p:cNvSpPr>
              <a:spLocks noChangeArrowheads="1"/>
            </p:cNvSpPr>
            <p:nvPr/>
          </p:nvSpPr>
          <p:spPr bwMode="auto">
            <a:xfrm>
              <a:off x="4318020" y="5732463"/>
              <a:ext cx="1064401" cy="25135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Clear (CLR)</a:t>
              </a:r>
            </a:p>
          </p:txBody>
        </p:sp>
        <p:sp>
          <p:nvSpPr>
            <p:cNvPr id="90" name="Arc 90"/>
            <p:cNvSpPr>
              <a:spLocks/>
            </p:cNvSpPr>
            <p:nvPr/>
          </p:nvSpPr>
          <p:spPr bwMode="auto">
            <a:xfrm>
              <a:off x="3689367" y="6040438"/>
              <a:ext cx="120651" cy="74612"/>
            </a:xfrm>
            <a:custGeom>
              <a:avLst/>
              <a:gdLst>
                <a:gd name="G0" fmla="+- 0 0 0"/>
                <a:gd name="G1" fmla="+- 8852 0 0"/>
                <a:gd name="G2" fmla="+- 21600 0 0"/>
                <a:gd name="T0" fmla="*/ 19703 w 21600"/>
                <a:gd name="T1" fmla="*/ 0 h 17464"/>
                <a:gd name="T2" fmla="*/ 19809 w 21600"/>
                <a:gd name="T3" fmla="*/ 17464 h 17464"/>
                <a:gd name="T4" fmla="*/ 0 w 21600"/>
                <a:gd name="T5" fmla="*/ 8852 h 17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464" fill="none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</a:path>
                <a:path w="21600" h="17464" stroke="0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  <a:lnTo>
                    <a:pt x="0" y="8852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91" name="Line 91"/>
            <p:cNvSpPr>
              <a:spLocks noChangeShapeType="1"/>
            </p:cNvSpPr>
            <p:nvPr/>
          </p:nvSpPr>
          <p:spPr bwMode="auto">
            <a:xfrm>
              <a:off x="3795730" y="6081713"/>
              <a:ext cx="51752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92" name="Rectangle 92"/>
            <p:cNvSpPr>
              <a:spLocks noChangeArrowheads="1"/>
            </p:cNvSpPr>
            <p:nvPr/>
          </p:nvSpPr>
          <p:spPr bwMode="auto">
            <a:xfrm>
              <a:off x="4324370" y="5959475"/>
              <a:ext cx="583497" cy="25135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Clock</a:t>
              </a:r>
            </a:p>
          </p:txBody>
        </p:sp>
        <p:sp>
          <p:nvSpPr>
            <p:cNvPr id="93" name="Freeform 93"/>
            <p:cNvSpPr>
              <a:spLocks/>
            </p:cNvSpPr>
            <p:nvPr/>
          </p:nvSpPr>
          <p:spPr bwMode="auto">
            <a:xfrm>
              <a:off x="3525854" y="6016625"/>
              <a:ext cx="141288" cy="111125"/>
            </a:xfrm>
            <a:custGeom>
              <a:avLst/>
              <a:gdLst/>
              <a:ahLst/>
              <a:cxnLst>
                <a:cxn ang="0">
                  <a:pos x="88" y="0"/>
                </a:cxn>
                <a:cxn ang="0">
                  <a:pos x="0" y="48"/>
                </a:cxn>
                <a:cxn ang="0">
                  <a:pos x="88" y="88"/>
                </a:cxn>
              </a:cxnLst>
              <a:rect l="0" t="0" r="r" b="b"/>
              <a:pathLst>
                <a:path w="89" h="89">
                  <a:moveTo>
                    <a:pt x="88" y="0"/>
                  </a:moveTo>
                  <a:lnTo>
                    <a:pt x="0" y="48"/>
                  </a:lnTo>
                  <a:lnTo>
                    <a:pt x="88" y="88"/>
                  </a:lnTo>
                </a:path>
              </a:pathLst>
            </a:custGeom>
            <a:noFill/>
            <a:ln w="254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94" name="Arc 94"/>
            <p:cNvSpPr>
              <a:spLocks/>
            </p:cNvSpPr>
            <p:nvPr/>
          </p:nvSpPr>
          <p:spPr bwMode="auto">
            <a:xfrm>
              <a:off x="5492776" y="2722563"/>
              <a:ext cx="96839" cy="92075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95" name="Line 95"/>
            <p:cNvSpPr>
              <a:spLocks noChangeShapeType="1"/>
            </p:cNvSpPr>
            <p:nvPr/>
          </p:nvSpPr>
          <p:spPr bwMode="auto">
            <a:xfrm flipV="1">
              <a:off x="5540401" y="2230438"/>
              <a:ext cx="0" cy="5207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96" name="Rectangle 96"/>
            <p:cNvSpPr>
              <a:spLocks noChangeArrowheads="1"/>
            </p:cNvSpPr>
            <p:nvPr/>
          </p:nvSpPr>
          <p:spPr bwMode="auto">
            <a:xfrm>
              <a:off x="5083199" y="2003425"/>
              <a:ext cx="1144551" cy="25135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Other inputs</a:t>
              </a:r>
            </a:p>
          </p:txBody>
        </p:sp>
        <p:sp>
          <p:nvSpPr>
            <p:cNvPr id="97" name="Arc 97"/>
            <p:cNvSpPr>
              <a:spLocks/>
            </p:cNvSpPr>
            <p:nvPr/>
          </p:nvSpPr>
          <p:spPr bwMode="auto">
            <a:xfrm>
              <a:off x="7046947" y="3668713"/>
              <a:ext cx="119063" cy="76200"/>
            </a:xfrm>
            <a:custGeom>
              <a:avLst/>
              <a:gdLst>
                <a:gd name="G0" fmla="+- 21600 0 0"/>
                <a:gd name="G1" fmla="+- 8746 0 0"/>
                <a:gd name="G2" fmla="+- 21600 0 0"/>
                <a:gd name="T0" fmla="*/ 1746 w 21600"/>
                <a:gd name="T1" fmla="*/ 17255 h 17255"/>
                <a:gd name="T2" fmla="*/ 1850 w 21600"/>
                <a:gd name="T3" fmla="*/ 0 h 17255"/>
                <a:gd name="T4" fmla="*/ 21600 w 21600"/>
                <a:gd name="T5" fmla="*/ 8746 h 17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98" name="Line 98"/>
            <p:cNvSpPr>
              <a:spLocks noChangeShapeType="1"/>
            </p:cNvSpPr>
            <p:nvPr/>
          </p:nvSpPr>
          <p:spPr bwMode="auto">
            <a:xfrm>
              <a:off x="6162705" y="3711575"/>
              <a:ext cx="91281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99" name="Rectangle 99"/>
            <p:cNvSpPr>
              <a:spLocks noChangeArrowheads="1"/>
            </p:cNvSpPr>
            <p:nvPr/>
          </p:nvSpPr>
          <p:spPr bwMode="auto">
            <a:xfrm>
              <a:off x="7097748" y="3538538"/>
              <a:ext cx="743798" cy="4775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80000"/>
                </a:lnSpc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Control</a:t>
              </a:r>
            </a:p>
            <a:p>
              <a:pPr defTabSz="762000">
                <a:lnSpc>
                  <a:spcPct val="80000"/>
                </a:lnSpc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signals</a:t>
              </a:r>
            </a:p>
            <a:p>
              <a:pPr defTabSz="762000">
                <a:lnSpc>
                  <a:spcPct val="80000"/>
                </a:lnSpc>
                <a:defRPr/>
              </a:pPr>
              <a:endParaRPr lang="en-US" altLang="ko-KR" sz="1050" b="1">
                <a:solidFill>
                  <a:srgbClr val="000000"/>
                </a:solidFill>
                <a:cs typeface="Arial" pitchFamily="34" charset="0"/>
              </a:endParaRPr>
            </a:p>
          </p:txBody>
        </p:sp>
        <p:grpSp>
          <p:nvGrpSpPr>
            <p:cNvPr id="20577" name="Group 104"/>
            <p:cNvGrpSpPr>
              <a:grpSpLocks/>
            </p:cNvGrpSpPr>
            <p:nvPr/>
          </p:nvGrpSpPr>
          <p:grpSpPr bwMode="auto">
            <a:xfrm>
              <a:off x="4435470" y="3490913"/>
              <a:ext cx="195138" cy="358244"/>
              <a:chOff x="2222" y="2510"/>
              <a:chExt cx="124" cy="290"/>
            </a:xfrm>
          </p:grpSpPr>
          <p:sp>
            <p:nvSpPr>
              <p:cNvPr id="101" name="Rectangle 101"/>
              <p:cNvSpPr>
                <a:spLocks noChangeArrowheads="1"/>
              </p:cNvSpPr>
              <p:nvPr/>
            </p:nvSpPr>
            <p:spPr bwMode="auto">
              <a:xfrm>
                <a:off x="2230" y="2510"/>
                <a:ext cx="116" cy="203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 defTabSz="762000">
                  <a:defRPr/>
                </a:pPr>
                <a:endParaRPr lang="en-US" sz="1050" b="1">
                  <a:solidFill>
                    <a:srgbClr val="000000"/>
                  </a:solidFill>
                  <a:cs typeface="Arial" pitchFamily="34" charset="0"/>
                </a:endParaRPr>
              </a:p>
            </p:txBody>
          </p:sp>
          <p:sp>
            <p:nvSpPr>
              <p:cNvPr id="102" name="Rectangle 102"/>
              <p:cNvSpPr>
                <a:spLocks noChangeArrowheads="1"/>
              </p:cNvSpPr>
              <p:nvPr/>
            </p:nvSpPr>
            <p:spPr bwMode="auto">
              <a:xfrm>
                <a:off x="2222" y="2558"/>
                <a:ext cx="116" cy="204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 defTabSz="762000">
                  <a:defRPr/>
                </a:pPr>
                <a:endParaRPr lang="en-US" sz="1050" b="1">
                  <a:solidFill>
                    <a:srgbClr val="000000"/>
                  </a:solidFill>
                  <a:cs typeface="Arial" pitchFamily="34" charset="0"/>
                </a:endParaRPr>
              </a:p>
            </p:txBody>
          </p:sp>
          <p:sp>
            <p:nvSpPr>
              <p:cNvPr id="103" name="Rectangle 103"/>
              <p:cNvSpPr>
                <a:spLocks noChangeArrowheads="1"/>
              </p:cNvSpPr>
              <p:nvPr/>
            </p:nvSpPr>
            <p:spPr bwMode="auto">
              <a:xfrm>
                <a:off x="2230" y="2597"/>
                <a:ext cx="116" cy="203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 defTabSz="762000">
                  <a:defRPr/>
                </a:pPr>
                <a:endParaRPr lang="en-US" sz="1050" b="1">
                  <a:solidFill>
                    <a:srgbClr val="000000"/>
                  </a:solidFill>
                  <a:cs typeface="Arial" pitchFamily="34" charset="0"/>
                </a:endParaRPr>
              </a:p>
            </p:txBody>
          </p:sp>
        </p:grpSp>
        <p:grpSp>
          <p:nvGrpSpPr>
            <p:cNvPr id="20578" name="Group 108"/>
            <p:cNvGrpSpPr>
              <a:grpSpLocks/>
            </p:cNvGrpSpPr>
            <p:nvPr/>
          </p:nvGrpSpPr>
          <p:grpSpPr bwMode="auto">
            <a:xfrm>
              <a:off x="4435470" y="4224346"/>
              <a:ext cx="195138" cy="357903"/>
              <a:chOff x="2222" y="3102"/>
              <a:chExt cx="124" cy="291"/>
            </a:xfrm>
          </p:grpSpPr>
          <p:sp>
            <p:nvSpPr>
              <p:cNvPr id="105" name="Rectangle 105"/>
              <p:cNvSpPr>
                <a:spLocks noChangeArrowheads="1"/>
              </p:cNvSpPr>
              <p:nvPr/>
            </p:nvSpPr>
            <p:spPr bwMode="auto">
              <a:xfrm>
                <a:off x="2230" y="3102"/>
                <a:ext cx="116" cy="204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 defTabSz="762000">
                  <a:defRPr/>
                </a:pPr>
                <a:endParaRPr lang="en-US" sz="1050" b="1">
                  <a:solidFill>
                    <a:srgbClr val="000000"/>
                  </a:solidFill>
                  <a:cs typeface="Arial" pitchFamily="34" charset="0"/>
                </a:endParaRPr>
              </a:p>
            </p:txBody>
          </p:sp>
          <p:sp>
            <p:nvSpPr>
              <p:cNvPr id="106" name="Rectangle 106"/>
              <p:cNvSpPr>
                <a:spLocks noChangeArrowheads="1"/>
              </p:cNvSpPr>
              <p:nvPr/>
            </p:nvSpPr>
            <p:spPr bwMode="auto">
              <a:xfrm>
                <a:off x="2222" y="3146"/>
                <a:ext cx="116" cy="204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 defTabSz="762000">
                  <a:defRPr/>
                </a:pPr>
                <a:endParaRPr lang="en-US" sz="1050" b="1">
                  <a:solidFill>
                    <a:srgbClr val="000000"/>
                  </a:solidFill>
                  <a:cs typeface="Arial" pitchFamily="34" charset="0"/>
                </a:endParaRPr>
              </a:p>
            </p:txBody>
          </p:sp>
          <p:sp>
            <p:nvSpPr>
              <p:cNvPr id="107" name="Rectangle 107"/>
              <p:cNvSpPr>
                <a:spLocks noChangeArrowheads="1"/>
              </p:cNvSpPr>
              <p:nvPr/>
            </p:nvSpPr>
            <p:spPr bwMode="auto">
              <a:xfrm>
                <a:off x="2230" y="3187"/>
                <a:ext cx="116" cy="203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 defTabSz="762000">
                  <a:defRPr/>
                </a:pPr>
                <a:endParaRPr lang="en-US" sz="1050" b="1">
                  <a:solidFill>
                    <a:srgbClr val="000000"/>
                  </a:solidFill>
                  <a:cs typeface="Arial" pitchFamily="34" charset="0"/>
                </a:endParaRPr>
              </a:p>
            </p:txBody>
          </p:sp>
        </p:grpSp>
        <p:sp>
          <p:nvSpPr>
            <p:cNvPr id="108" name="Rectangle 109"/>
            <p:cNvSpPr>
              <a:spLocks noChangeArrowheads="1"/>
            </p:cNvSpPr>
            <p:nvPr/>
          </p:nvSpPr>
          <p:spPr bwMode="auto">
            <a:xfrm>
              <a:off x="4021157" y="3532188"/>
              <a:ext cx="262894" cy="25135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D</a:t>
              </a:r>
            </a:p>
          </p:txBody>
        </p:sp>
        <p:sp>
          <p:nvSpPr>
            <p:cNvPr id="109" name="Rectangle 110"/>
            <p:cNvSpPr>
              <a:spLocks noChangeArrowheads="1"/>
            </p:cNvSpPr>
            <p:nvPr/>
          </p:nvSpPr>
          <p:spPr bwMode="auto">
            <a:xfrm>
              <a:off x="4017982" y="4016375"/>
              <a:ext cx="265113" cy="250825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T</a:t>
              </a:r>
            </a:p>
          </p:txBody>
        </p:sp>
        <p:sp>
          <p:nvSpPr>
            <p:cNvPr id="110" name="Rectangle 111"/>
            <p:cNvSpPr>
              <a:spLocks noChangeArrowheads="1"/>
            </p:cNvSpPr>
            <p:nvPr/>
          </p:nvSpPr>
          <p:spPr bwMode="auto">
            <a:xfrm>
              <a:off x="4008456" y="4283075"/>
              <a:ext cx="265113" cy="250825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T</a:t>
              </a:r>
            </a:p>
          </p:txBody>
        </p:sp>
        <p:sp>
          <p:nvSpPr>
            <p:cNvPr id="111" name="Rectangle 112"/>
            <p:cNvSpPr>
              <a:spLocks noChangeArrowheads="1"/>
            </p:cNvSpPr>
            <p:nvPr/>
          </p:nvSpPr>
          <p:spPr bwMode="auto">
            <a:xfrm>
              <a:off x="4141807" y="3581400"/>
              <a:ext cx="262894" cy="25135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7</a:t>
              </a:r>
            </a:p>
          </p:txBody>
        </p:sp>
        <p:sp>
          <p:nvSpPr>
            <p:cNvPr id="112" name="Rectangle 113"/>
            <p:cNvSpPr>
              <a:spLocks noChangeArrowheads="1"/>
            </p:cNvSpPr>
            <p:nvPr/>
          </p:nvSpPr>
          <p:spPr bwMode="auto">
            <a:xfrm>
              <a:off x="4097357" y="4037013"/>
              <a:ext cx="343046" cy="25135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15</a:t>
              </a:r>
            </a:p>
          </p:txBody>
        </p:sp>
        <p:sp>
          <p:nvSpPr>
            <p:cNvPr id="113" name="Rectangle 114"/>
            <p:cNvSpPr>
              <a:spLocks noChangeArrowheads="1"/>
            </p:cNvSpPr>
            <p:nvPr/>
          </p:nvSpPr>
          <p:spPr bwMode="auto">
            <a:xfrm>
              <a:off x="4097357" y="4332288"/>
              <a:ext cx="262894" cy="25135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0</a:t>
              </a:r>
            </a:p>
          </p:txBody>
        </p:sp>
        <p:sp>
          <p:nvSpPr>
            <p:cNvPr id="114" name="Line 117"/>
            <p:cNvSpPr>
              <a:spLocks noChangeShapeType="1"/>
            </p:cNvSpPr>
            <p:nvPr/>
          </p:nvSpPr>
          <p:spPr bwMode="auto">
            <a:xfrm>
              <a:off x="2114559" y="3629025"/>
              <a:ext cx="0" cy="3810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15" name="Line 118"/>
            <p:cNvSpPr>
              <a:spLocks noChangeShapeType="1"/>
            </p:cNvSpPr>
            <p:nvPr/>
          </p:nvSpPr>
          <p:spPr bwMode="auto">
            <a:xfrm flipV="1">
              <a:off x="2976576" y="5346700"/>
              <a:ext cx="0" cy="23018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16" name="Text Box 119"/>
            <p:cNvSpPr txBox="1">
              <a:spLocks noChangeArrowheads="1"/>
            </p:cNvSpPr>
            <p:nvPr/>
          </p:nvSpPr>
          <p:spPr bwMode="auto">
            <a:xfrm>
              <a:off x="4863589" y="3400425"/>
              <a:ext cx="1226625" cy="5770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altLang="ko-KR" sz="1050" b="1">
                  <a:cs typeface="Arial" pitchFamily="34" charset="0"/>
                </a:rPr>
                <a:t>Combinational</a:t>
              </a:r>
            </a:p>
            <a:p>
              <a:pPr algn="ctr">
                <a:defRPr/>
              </a:pPr>
              <a:r>
                <a:rPr lang="en-US" altLang="ko-KR" sz="1050" b="1">
                  <a:cs typeface="Arial" pitchFamily="34" charset="0"/>
                </a:rPr>
                <a:t>Control</a:t>
              </a:r>
            </a:p>
            <a:p>
              <a:pPr algn="ctr">
                <a:defRPr/>
              </a:pPr>
              <a:r>
                <a:rPr lang="en-US" altLang="ko-KR" sz="1050" b="1">
                  <a:cs typeface="Arial" pitchFamily="34" charset="0"/>
                </a:rPr>
                <a:t>logic</a:t>
              </a:r>
            </a:p>
          </p:txBody>
        </p:sp>
        <p:sp>
          <p:nvSpPr>
            <p:cNvPr id="117" name="Line 125"/>
            <p:cNvSpPr>
              <a:spLocks noChangeShapeType="1"/>
            </p:cNvSpPr>
            <p:nvPr/>
          </p:nvSpPr>
          <p:spPr bwMode="auto">
            <a:xfrm>
              <a:off x="6257955" y="3657600"/>
              <a:ext cx="95250" cy="952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18" name="Line 126"/>
            <p:cNvSpPr>
              <a:spLocks noChangeShapeType="1"/>
            </p:cNvSpPr>
            <p:nvPr/>
          </p:nvSpPr>
          <p:spPr bwMode="auto">
            <a:xfrm>
              <a:off x="5495951" y="2619375"/>
              <a:ext cx="85725" cy="381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19" name="Line 127"/>
            <p:cNvSpPr>
              <a:spLocks noChangeShapeType="1"/>
            </p:cNvSpPr>
            <p:nvPr/>
          </p:nvSpPr>
          <p:spPr bwMode="auto">
            <a:xfrm>
              <a:off x="4200544" y="2152650"/>
              <a:ext cx="0" cy="9048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20" name="Line 129"/>
            <p:cNvSpPr>
              <a:spLocks noChangeShapeType="1"/>
            </p:cNvSpPr>
            <p:nvPr/>
          </p:nvSpPr>
          <p:spPr bwMode="auto">
            <a:xfrm>
              <a:off x="4200544" y="3048000"/>
              <a:ext cx="68580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21" name="Rectangle 130"/>
            <p:cNvSpPr>
              <a:spLocks noChangeArrowheads="1"/>
            </p:cNvSpPr>
            <p:nvPr/>
          </p:nvSpPr>
          <p:spPr bwMode="auto">
            <a:xfrm>
              <a:off x="1219204" y="2343150"/>
              <a:ext cx="5438803" cy="4076700"/>
            </a:xfrm>
            <a:prstGeom prst="rect">
              <a:avLst/>
            </a:prstGeom>
            <a:noFill/>
            <a:ln w="38100" cap="rnd">
              <a:solidFill>
                <a:schemeClr val="tx1"/>
              </a:solidFill>
              <a:prstDash val="sysDot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6281638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1508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10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Timing Signals</a:t>
            </a:r>
          </a:p>
        </p:txBody>
      </p:sp>
      <p:pic>
        <p:nvPicPr>
          <p:cNvPr id="21511" name="Picture 3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1476" y="2667000"/>
            <a:ext cx="6632575" cy="3778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12" name="Rectangle 4"/>
          <p:cNvSpPr>
            <a:spLocks noChangeArrowheads="1"/>
          </p:cNvSpPr>
          <p:nvPr/>
        </p:nvSpPr>
        <p:spPr bwMode="auto">
          <a:xfrm>
            <a:off x="1990725" y="1157288"/>
            <a:ext cx="8008938" cy="1128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ko-KR" sz="1400" b="1">
                <a:cs typeface="Arial" panose="020B0604020202020204" pitchFamily="34" charset="0"/>
              </a:rPr>
              <a:t>- Generated by 4-bit sequence counter and 4</a:t>
            </a:r>
            <a:r>
              <a:rPr lang="en-US" altLang="ko-KR" sz="1400" b="1">
                <a:cs typeface="Arial" panose="020B0604020202020204" pitchFamily="34" charset="0"/>
                <a:sym typeface="Symbol" panose="05050102010706020507" pitchFamily="18" charset="2"/>
              </a:rPr>
              <a:t></a:t>
            </a:r>
            <a:r>
              <a:rPr lang="en-US" altLang="ko-KR" sz="1400" b="1">
                <a:cs typeface="Arial" panose="020B0604020202020204" pitchFamily="34" charset="0"/>
              </a:rPr>
              <a:t>16 decoder</a:t>
            </a:r>
          </a:p>
          <a:p>
            <a:pPr eaLnBrk="1" hangingPunct="1"/>
            <a:r>
              <a:rPr lang="en-US" altLang="ko-KR" sz="1400" b="1">
                <a:cs typeface="Arial" panose="020B0604020202020204" pitchFamily="34" charset="0"/>
              </a:rPr>
              <a:t>- The SC can be incremented or cleared.</a:t>
            </a:r>
          </a:p>
          <a:p>
            <a:pPr eaLnBrk="1" hangingPunct="1"/>
            <a:endParaRPr lang="en-US" altLang="ko-KR" sz="1400" b="1"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1400" b="1">
                <a:cs typeface="Arial" panose="020B0604020202020204" pitchFamily="34" charset="0"/>
              </a:rPr>
              <a:t>- Example:   T</a:t>
            </a:r>
            <a:r>
              <a:rPr lang="en-US" altLang="ko-KR" sz="1400" b="1" baseline="-25000">
                <a:cs typeface="Arial" panose="020B0604020202020204" pitchFamily="34" charset="0"/>
              </a:rPr>
              <a:t>0</a:t>
            </a:r>
            <a:r>
              <a:rPr lang="en-US" altLang="ko-KR" sz="1400" b="1">
                <a:cs typeface="Arial" panose="020B0604020202020204" pitchFamily="34" charset="0"/>
              </a:rPr>
              <a:t>, T</a:t>
            </a:r>
            <a:r>
              <a:rPr lang="en-US" altLang="ko-KR" sz="1400" b="1" baseline="-25000">
                <a:cs typeface="Arial" panose="020B0604020202020204" pitchFamily="34" charset="0"/>
              </a:rPr>
              <a:t>1</a:t>
            </a:r>
            <a:r>
              <a:rPr lang="en-US" altLang="ko-KR" sz="1400" b="1">
                <a:cs typeface="Arial" panose="020B0604020202020204" pitchFamily="34" charset="0"/>
              </a:rPr>
              <a:t>, T</a:t>
            </a:r>
            <a:r>
              <a:rPr lang="en-US" altLang="ko-KR" sz="1400" b="1" baseline="-25000">
                <a:cs typeface="Arial" panose="020B0604020202020204" pitchFamily="34" charset="0"/>
              </a:rPr>
              <a:t>2</a:t>
            </a:r>
            <a:r>
              <a:rPr lang="en-US" altLang="ko-KR" sz="1400" b="1">
                <a:cs typeface="Arial" panose="020B0604020202020204" pitchFamily="34" charset="0"/>
              </a:rPr>
              <a:t>, T</a:t>
            </a:r>
            <a:r>
              <a:rPr lang="en-US" altLang="ko-KR" sz="1400" b="1" baseline="-25000">
                <a:cs typeface="Arial" panose="020B0604020202020204" pitchFamily="34" charset="0"/>
              </a:rPr>
              <a:t>3</a:t>
            </a:r>
            <a:r>
              <a:rPr lang="en-US" altLang="ko-KR" sz="1400" b="1">
                <a:cs typeface="Arial" panose="020B0604020202020204" pitchFamily="34" charset="0"/>
              </a:rPr>
              <a:t>, T</a:t>
            </a:r>
            <a:r>
              <a:rPr lang="en-US" altLang="ko-KR" sz="1400" b="1" baseline="-25000">
                <a:cs typeface="Arial" panose="020B0604020202020204" pitchFamily="34" charset="0"/>
              </a:rPr>
              <a:t>4</a:t>
            </a:r>
            <a:r>
              <a:rPr lang="en-US" altLang="ko-KR" sz="1400" b="1">
                <a:cs typeface="Arial" panose="020B0604020202020204" pitchFamily="34" charset="0"/>
              </a:rPr>
              <a:t>, T</a:t>
            </a:r>
            <a:r>
              <a:rPr lang="en-US" altLang="ko-KR" sz="1400" b="1" baseline="-25000">
                <a:cs typeface="Arial" panose="020B0604020202020204" pitchFamily="34" charset="0"/>
              </a:rPr>
              <a:t>0</a:t>
            </a:r>
            <a:r>
              <a:rPr lang="en-US" altLang="ko-KR" sz="1400" b="1">
                <a:cs typeface="Arial" panose="020B0604020202020204" pitchFamily="34" charset="0"/>
              </a:rPr>
              <a:t>, T</a:t>
            </a:r>
            <a:r>
              <a:rPr lang="en-US" altLang="ko-KR" sz="1400" b="1" baseline="-25000">
                <a:cs typeface="Arial" panose="020B0604020202020204" pitchFamily="34" charset="0"/>
              </a:rPr>
              <a:t>1</a:t>
            </a:r>
            <a:r>
              <a:rPr lang="en-US" altLang="ko-KR" sz="1400" b="1">
                <a:cs typeface="Arial" panose="020B0604020202020204" pitchFamily="34" charset="0"/>
              </a:rPr>
              <a:t>, . . .</a:t>
            </a:r>
          </a:p>
          <a:p>
            <a:pPr eaLnBrk="1" hangingPunct="1"/>
            <a:r>
              <a:rPr lang="en-US" altLang="ko-KR" sz="1400" b="1">
                <a:cs typeface="Arial" panose="020B0604020202020204" pitchFamily="34" charset="0"/>
              </a:rPr>
              <a:t>       Assume: At time T</a:t>
            </a:r>
            <a:r>
              <a:rPr lang="en-US" altLang="ko-KR" sz="1400" b="1" baseline="-25000">
                <a:cs typeface="Arial" panose="020B0604020202020204" pitchFamily="34" charset="0"/>
              </a:rPr>
              <a:t>4</a:t>
            </a:r>
            <a:r>
              <a:rPr lang="en-US" altLang="ko-KR" sz="1400" b="1">
                <a:cs typeface="Arial" panose="020B0604020202020204" pitchFamily="34" charset="0"/>
              </a:rPr>
              <a:t>, SC is cleared to 0 if decoder output D3 is active.</a:t>
            </a:r>
          </a:p>
        </p:txBody>
      </p:sp>
      <p:sp>
        <p:nvSpPr>
          <p:cNvPr id="21513" name="Rectangle 5"/>
          <p:cNvSpPr>
            <a:spLocks noChangeArrowheads="1"/>
          </p:cNvSpPr>
          <p:nvPr/>
        </p:nvSpPr>
        <p:spPr bwMode="auto">
          <a:xfrm>
            <a:off x="4664076" y="2387600"/>
            <a:ext cx="15906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ko-KR" sz="1400" b="1">
                <a:solidFill>
                  <a:srgbClr val="000000"/>
                </a:solidFill>
                <a:cs typeface="Arial" panose="020B0604020202020204" pitchFamily="34" charset="0"/>
              </a:rPr>
              <a:t>D</a:t>
            </a:r>
            <a:r>
              <a:rPr lang="en-US" altLang="ko-KR" sz="1400" b="1" baseline="-25000">
                <a:solidFill>
                  <a:srgbClr val="000000"/>
                </a:solidFill>
                <a:cs typeface="Arial" panose="020B0604020202020204" pitchFamily="34" charset="0"/>
              </a:rPr>
              <a:t>3</a:t>
            </a:r>
            <a:r>
              <a:rPr lang="en-US" altLang="ko-KR" sz="1400" b="1">
                <a:solidFill>
                  <a:srgbClr val="000000"/>
                </a:solidFill>
                <a:cs typeface="Arial" panose="020B0604020202020204" pitchFamily="34" charset="0"/>
              </a:rPr>
              <a:t>T</a:t>
            </a:r>
            <a:r>
              <a:rPr lang="en-US" altLang="ko-KR" sz="1400" b="1" baseline="-25000">
                <a:solidFill>
                  <a:srgbClr val="000000"/>
                </a:solidFill>
                <a:cs typeface="Arial" panose="020B0604020202020204" pitchFamily="34" charset="0"/>
              </a:rPr>
              <a:t>4</a:t>
            </a:r>
            <a:r>
              <a:rPr lang="en-US" altLang="ko-KR" sz="1400" b="1">
                <a:solidFill>
                  <a:srgbClr val="000000"/>
                </a:solidFill>
                <a:cs typeface="Arial" panose="020B0604020202020204" pitchFamily="34" charset="0"/>
              </a:rPr>
              <a:t>: SC </a:t>
            </a:r>
            <a:r>
              <a:rPr lang="en-US" altLang="ko-KR" sz="14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 0</a:t>
            </a:r>
            <a:endParaRPr lang="en-US" altLang="ko-KR" sz="1400" b="1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596665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2532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34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Instruction Cycle</a:t>
            </a:r>
          </a:p>
        </p:txBody>
      </p:sp>
      <p:sp>
        <p:nvSpPr>
          <p:cNvPr id="22535" name="Rectangle 3"/>
          <p:cNvSpPr txBox="1">
            <a:spLocks noChangeArrowheads="1"/>
          </p:cNvSpPr>
          <p:nvPr/>
        </p:nvSpPr>
        <p:spPr bwMode="auto">
          <a:xfrm>
            <a:off x="1981200" y="1341438"/>
            <a:ext cx="82296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>
                <a:cs typeface="Arial" panose="020B0604020202020204" pitchFamily="34" charset="0"/>
              </a:rPr>
              <a:t>In Basic Computer, a machine instruction is executed in the following cycle:</a:t>
            </a:r>
          </a:p>
          <a:p>
            <a:pPr lvl="1" eaLnBrk="1" hangingPunct="1">
              <a:spcBef>
                <a:spcPct val="20000"/>
              </a:spcBef>
              <a:buFont typeface="Calibri" panose="020F0502020204030204" pitchFamily="34" charset="0"/>
              <a:buAutoNum type="arabicPeriod"/>
            </a:pPr>
            <a:r>
              <a:rPr lang="en-US" altLang="ko-KR" sz="1600" b="1">
                <a:cs typeface="Arial" panose="020B0604020202020204" pitchFamily="34" charset="0"/>
              </a:rPr>
              <a:t>Fetch an instruction from memory</a:t>
            </a:r>
          </a:p>
          <a:p>
            <a:pPr lvl="1" eaLnBrk="1" hangingPunct="1">
              <a:spcBef>
                <a:spcPct val="20000"/>
              </a:spcBef>
              <a:buFont typeface="Calibri" panose="020F0502020204030204" pitchFamily="34" charset="0"/>
              <a:buAutoNum type="arabicPeriod"/>
            </a:pPr>
            <a:r>
              <a:rPr lang="en-US" altLang="ko-KR" sz="1600" b="1">
                <a:cs typeface="Arial" panose="020B0604020202020204" pitchFamily="34" charset="0"/>
              </a:rPr>
              <a:t>Decode the instruction</a:t>
            </a:r>
          </a:p>
          <a:p>
            <a:pPr lvl="1" eaLnBrk="1" hangingPunct="1">
              <a:spcBef>
                <a:spcPct val="20000"/>
              </a:spcBef>
              <a:buFont typeface="Calibri" panose="020F0502020204030204" pitchFamily="34" charset="0"/>
              <a:buAutoNum type="arabicPeriod"/>
            </a:pPr>
            <a:r>
              <a:rPr lang="en-US" altLang="ko-KR" sz="1600" b="1">
                <a:cs typeface="Arial" panose="020B0604020202020204" pitchFamily="34" charset="0"/>
              </a:rPr>
              <a:t>Read the effective address from memory if the instruction has an indirect address</a:t>
            </a:r>
          </a:p>
          <a:p>
            <a:pPr lvl="1" eaLnBrk="1" hangingPunct="1">
              <a:spcBef>
                <a:spcPct val="20000"/>
              </a:spcBef>
              <a:buFont typeface="Calibri" panose="020F0502020204030204" pitchFamily="34" charset="0"/>
              <a:buAutoNum type="arabicPeriod"/>
            </a:pPr>
            <a:r>
              <a:rPr lang="en-US" altLang="ko-KR" sz="1600" b="1">
                <a:cs typeface="Arial" panose="020B0604020202020204" pitchFamily="34" charset="0"/>
              </a:rPr>
              <a:t>Execute the instruction</a:t>
            </a:r>
          </a:p>
          <a:p>
            <a:pPr lvl="1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1600" b="1">
              <a:cs typeface="Arial" panose="020B0604020202020204" pitchFamily="34" charset="0"/>
            </a:endParaRPr>
          </a:p>
          <a:p>
            <a:pPr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>
                <a:cs typeface="Arial" panose="020B0604020202020204" pitchFamily="34" charset="0"/>
              </a:rPr>
              <a:t>After an instruction is executed, the cycle starts again at step 1, for the next instruction</a:t>
            </a:r>
          </a:p>
          <a:p>
            <a:pPr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>
              <a:cs typeface="Arial" panose="020B0604020202020204" pitchFamily="34" charset="0"/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ko-KR" b="1" i="1">
                <a:solidFill>
                  <a:schemeClr val="tx2"/>
                </a:solidFill>
                <a:cs typeface="Arial" panose="020B0604020202020204" pitchFamily="34" charset="0"/>
              </a:rPr>
              <a:t>Note</a:t>
            </a:r>
            <a:r>
              <a:rPr lang="en-US" altLang="ko-KR" b="1">
                <a:solidFill>
                  <a:schemeClr val="tx2"/>
                </a:solidFill>
                <a:cs typeface="Arial" panose="020B0604020202020204" pitchFamily="34" charset="0"/>
              </a:rPr>
              <a:t>: Every different processor has its own (different) instruction cycle </a:t>
            </a:r>
          </a:p>
          <a:p>
            <a:pPr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>
              <a:cs typeface="Arial" panose="020B0604020202020204" pitchFamily="34" charset="0"/>
            </a:endParaRPr>
          </a:p>
          <a:p>
            <a:pPr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717944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3556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558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Fetch and Decode</a:t>
            </a:r>
          </a:p>
        </p:txBody>
      </p:sp>
      <p:grpSp>
        <p:nvGrpSpPr>
          <p:cNvPr id="23559" name="Group 332"/>
          <p:cNvGrpSpPr>
            <a:grpSpLocks/>
          </p:cNvGrpSpPr>
          <p:nvPr/>
        </p:nvGrpSpPr>
        <p:grpSpPr bwMode="auto">
          <a:xfrm>
            <a:off x="1933576" y="1063626"/>
            <a:ext cx="7929563" cy="5256213"/>
            <a:chOff x="409575" y="1063625"/>
            <a:chExt cx="7929563" cy="5256495"/>
          </a:xfrm>
        </p:grpSpPr>
        <p:sp>
          <p:nvSpPr>
            <p:cNvPr id="23560" name="Rectangle 4"/>
            <p:cNvSpPr>
              <a:spLocks noChangeArrowheads="1"/>
            </p:cNvSpPr>
            <p:nvPr/>
          </p:nvSpPr>
          <p:spPr bwMode="auto">
            <a:xfrm>
              <a:off x="1627188" y="1328738"/>
              <a:ext cx="34925" cy="158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23561" name="Rectangle 6"/>
            <p:cNvSpPr>
              <a:spLocks noChangeArrowheads="1"/>
            </p:cNvSpPr>
            <p:nvPr/>
          </p:nvSpPr>
          <p:spPr bwMode="auto">
            <a:xfrm>
              <a:off x="409575" y="1063625"/>
              <a:ext cx="2338782" cy="3129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85000"/>
                </a:lnSpc>
              </a:pPr>
              <a:r>
                <a:rPr lang="en-US" altLang="ko-KR" sz="2000" b="1" u="sng">
                  <a:cs typeface="Arial" panose="020B0604020202020204" pitchFamily="34" charset="0"/>
                </a:rPr>
                <a:t>Fetch and Decode</a:t>
              </a:r>
            </a:p>
          </p:txBody>
        </p:sp>
        <p:sp>
          <p:nvSpPr>
            <p:cNvPr id="23562" name="Rectangle 7"/>
            <p:cNvSpPr>
              <a:spLocks noChangeArrowheads="1"/>
            </p:cNvSpPr>
            <p:nvPr/>
          </p:nvSpPr>
          <p:spPr bwMode="auto">
            <a:xfrm>
              <a:off x="3027363" y="1084263"/>
              <a:ext cx="5284588" cy="6718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96000"/>
                </a:lnSpc>
              </a:pPr>
              <a:r>
                <a:rPr lang="en-US" altLang="ko-KR" sz="1400" b="1">
                  <a:cs typeface="Arial" panose="020B0604020202020204" pitchFamily="34" charset="0"/>
                </a:rPr>
                <a:t>T0: AR </a:t>
              </a:r>
              <a:r>
                <a:rPr lang="en-US" altLang="ko-KR" sz="1400">
                  <a:latin typeface="Symbol" panose="05050102010706020507" pitchFamily="18" charset="2"/>
                  <a:cs typeface="Arial" panose="020B0604020202020204" pitchFamily="34" charset="0"/>
                </a:rPr>
                <a:t></a:t>
              </a:r>
              <a:r>
                <a:rPr lang="en-US" altLang="ko-KR" sz="1400" b="1">
                  <a:cs typeface="Arial" panose="020B0604020202020204" pitchFamily="34" charset="0"/>
                </a:rPr>
                <a:t>PC  (S</a:t>
              </a:r>
              <a:r>
                <a:rPr lang="en-US" altLang="ko-KR" sz="1400" b="1" baseline="-25000">
                  <a:cs typeface="Arial" panose="020B0604020202020204" pitchFamily="34" charset="0"/>
                </a:rPr>
                <a:t>0</a:t>
              </a:r>
              <a:r>
                <a:rPr lang="en-US" altLang="ko-KR" sz="1400" b="1">
                  <a:cs typeface="Arial" panose="020B0604020202020204" pitchFamily="34" charset="0"/>
                </a:rPr>
                <a:t>S</a:t>
              </a:r>
              <a:r>
                <a:rPr lang="en-US" altLang="ko-KR" sz="1400" b="1" baseline="-25000">
                  <a:cs typeface="Arial" panose="020B0604020202020204" pitchFamily="34" charset="0"/>
                </a:rPr>
                <a:t>1</a:t>
              </a:r>
              <a:r>
                <a:rPr lang="en-US" altLang="ko-KR" sz="1400" b="1">
                  <a:cs typeface="Arial" panose="020B0604020202020204" pitchFamily="34" charset="0"/>
                </a:rPr>
                <a:t>S</a:t>
              </a:r>
              <a:r>
                <a:rPr lang="en-US" altLang="ko-KR" sz="1400" b="1" baseline="-25000">
                  <a:cs typeface="Arial" panose="020B0604020202020204" pitchFamily="34" charset="0"/>
                </a:rPr>
                <a:t>2</a:t>
              </a:r>
              <a:r>
                <a:rPr lang="en-US" altLang="ko-KR" sz="1400" b="1">
                  <a:cs typeface="Arial" panose="020B0604020202020204" pitchFamily="34" charset="0"/>
                </a:rPr>
                <a:t>=010, T0=1)</a:t>
              </a:r>
            </a:p>
            <a:p>
              <a:pPr eaLnBrk="1" hangingPunct="1">
                <a:lnSpc>
                  <a:spcPct val="96000"/>
                </a:lnSpc>
              </a:pPr>
              <a:r>
                <a:rPr lang="en-US" altLang="ko-KR" sz="1400" b="1">
                  <a:cs typeface="Arial" panose="020B0604020202020204" pitchFamily="34" charset="0"/>
                </a:rPr>
                <a:t>T1: IR </a:t>
              </a:r>
              <a:r>
                <a:rPr lang="en-US" altLang="ko-KR" sz="1400">
                  <a:latin typeface="Symbol" panose="05050102010706020507" pitchFamily="18" charset="2"/>
                  <a:cs typeface="Arial" panose="020B0604020202020204" pitchFamily="34" charset="0"/>
                </a:rPr>
                <a:t></a:t>
              </a:r>
              <a:r>
                <a:rPr lang="en-US" altLang="ko-KR" sz="1400" b="1">
                  <a:cs typeface="Arial" panose="020B0604020202020204" pitchFamily="34" charset="0"/>
                </a:rPr>
                <a:t> M [AR],  PC </a:t>
              </a:r>
              <a:r>
                <a:rPr lang="en-US" altLang="ko-KR" sz="1400">
                  <a:latin typeface="Symbol" panose="05050102010706020507" pitchFamily="18" charset="2"/>
                  <a:cs typeface="Arial" panose="020B0604020202020204" pitchFamily="34" charset="0"/>
                </a:rPr>
                <a:t></a:t>
              </a:r>
              <a:r>
                <a:rPr lang="en-US" altLang="ko-KR" sz="1400" b="1">
                  <a:cs typeface="Arial" panose="020B0604020202020204" pitchFamily="34" charset="0"/>
                </a:rPr>
                <a:t> PC + 1   (S0S1S2=111, T1=1)</a:t>
              </a:r>
            </a:p>
            <a:p>
              <a:pPr eaLnBrk="1" hangingPunct="1">
                <a:lnSpc>
                  <a:spcPct val="96000"/>
                </a:lnSpc>
              </a:pPr>
              <a:r>
                <a:rPr lang="en-US" altLang="ko-KR" sz="1400" b="1">
                  <a:cs typeface="Arial" panose="020B0604020202020204" pitchFamily="34" charset="0"/>
                </a:rPr>
                <a:t>T2: D0, . . . , D7 </a:t>
              </a:r>
              <a:r>
                <a:rPr lang="en-US" altLang="ko-KR" sz="1400">
                  <a:latin typeface="Symbol" panose="05050102010706020507" pitchFamily="18" charset="2"/>
                  <a:cs typeface="Arial" panose="020B0604020202020204" pitchFamily="34" charset="0"/>
                </a:rPr>
                <a:t></a:t>
              </a:r>
              <a:r>
                <a:rPr lang="en-US" altLang="ko-KR" sz="1400" b="1">
                  <a:cs typeface="Arial" panose="020B0604020202020204" pitchFamily="34" charset="0"/>
                </a:rPr>
                <a:t> Decode IR(12-14), AR </a:t>
              </a:r>
              <a:r>
                <a:rPr lang="en-US" altLang="ko-KR" sz="1400">
                  <a:latin typeface="Symbol" panose="05050102010706020507" pitchFamily="18" charset="2"/>
                  <a:cs typeface="Arial" panose="020B0604020202020204" pitchFamily="34" charset="0"/>
                </a:rPr>
                <a:t></a:t>
              </a:r>
              <a:r>
                <a:rPr lang="en-US" altLang="ko-KR" sz="1400" b="1">
                  <a:cs typeface="Arial" panose="020B0604020202020204" pitchFamily="34" charset="0"/>
                </a:rPr>
                <a:t> IR(0-11), I </a:t>
              </a:r>
              <a:r>
                <a:rPr lang="en-US" altLang="ko-KR" sz="1400">
                  <a:latin typeface="Symbol" panose="05050102010706020507" pitchFamily="18" charset="2"/>
                  <a:cs typeface="Arial" panose="020B0604020202020204" pitchFamily="34" charset="0"/>
                </a:rPr>
                <a:t></a:t>
              </a:r>
              <a:r>
                <a:rPr lang="en-US" altLang="ko-KR" sz="1400" b="1">
                  <a:cs typeface="Arial" panose="020B0604020202020204" pitchFamily="34" charset="0"/>
                </a:rPr>
                <a:t> IR(15)</a:t>
              </a:r>
            </a:p>
          </p:txBody>
        </p:sp>
        <p:sp>
          <p:nvSpPr>
            <p:cNvPr id="23563" name="Arc 8"/>
            <p:cNvSpPr>
              <a:spLocks/>
            </p:cNvSpPr>
            <p:nvPr/>
          </p:nvSpPr>
          <p:spPr bwMode="auto">
            <a:xfrm>
              <a:off x="5475288" y="2044700"/>
              <a:ext cx="112712" cy="87313"/>
            </a:xfrm>
            <a:custGeom>
              <a:avLst/>
              <a:gdLst>
                <a:gd name="T0" fmla="*/ 2147483647 w 21600"/>
                <a:gd name="T1" fmla="*/ 2147483647 h 17255"/>
                <a:gd name="T2" fmla="*/ 2147483647 w 21600"/>
                <a:gd name="T3" fmla="*/ 0 h 17255"/>
                <a:gd name="T4" fmla="*/ 2147483647 w 21600"/>
                <a:gd name="T5" fmla="*/ 2147483647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3564" name="Line 9"/>
            <p:cNvSpPr>
              <a:spLocks noChangeShapeType="1"/>
            </p:cNvSpPr>
            <p:nvPr/>
          </p:nvSpPr>
          <p:spPr bwMode="auto">
            <a:xfrm>
              <a:off x="5232400" y="2098675"/>
              <a:ext cx="24288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65" name="Line 10"/>
            <p:cNvSpPr>
              <a:spLocks noChangeShapeType="1"/>
            </p:cNvSpPr>
            <p:nvPr/>
          </p:nvSpPr>
          <p:spPr bwMode="auto">
            <a:xfrm flipH="1">
              <a:off x="2411413" y="2030413"/>
              <a:ext cx="25304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66" name="Line 11"/>
            <p:cNvSpPr>
              <a:spLocks noChangeShapeType="1"/>
            </p:cNvSpPr>
            <p:nvPr/>
          </p:nvSpPr>
          <p:spPr bwMode="auto">
            <a:xfrm flipH="1">
              <a:off x="4824413" y="2098675"/>
              <a:ext cx="1238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67" name="Line 12"/>
            <p:cNvSpPr>
              <a:spLocks noChangeShapeType="1"/>
            </p:cNvSpPr>
            <p:nvPr/>
          </p:nvSpPr>
          <p:spPr bwMode="auto">
            <a:xfrm flipH="1" flipV="1">
              <a:off x="4824413" y="2170113"/>
              <a:ext cx="128587" cy="476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3568" name="Group 19"/>
            <p:cNvGrpSpPr>
              <a:grpSpLocks/>
            </p:cNvGrpSpPr>
            <p:nvPr/>
          </p:nvGrpSpPr>
          <p:grpSpPr bwMode="auto">
            <a:xfrm>
              <a:off x="4906963" y="1971675"/>
              <a:ext cx="320675" cy="255588"/>
              <a:chOff x="2608" y="2732"/>
              <a:chExt cx="217" cy="176"/>
            </a:xfrm>
          </p:grpSpPr>
          <p:sp>
            <p:nvSpPr>
              <p:cNvPr id="23715" name="Arc 13"/>
              <p:cNvSpPr>
                <a:spLocks/>
              </p:cNvSpPr>
              <p:nvPr/>
            </p:nvSpPr>
            <p:spPr bwMode="auto">
              <a:xfrm>
                <a:off x="2644" y="2737"/>
                <a:ext cx="181" cy="80"/>
              </a:xfrm>
              <a:custGeom>
                <a:avLst/>
                <a:gdLst>
                  <a:gd name="T0" fmla="*/ 0 w 21720"/>
                  <a:gd name="T1" fmla="*/ 0 h 21600"/>
                  <a:gd name="T2" fmla="*/ 0 w 21720"/>
                  <a:gd name="T3" fmla="*/ 0 h 21600"/>
                  <a:gd name="T4" fmla="*/ 0 w 2172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720"/>
                  <a:gd name="T10" fmla="*/ 0 h 21600"/>
                  <a:gd name="T11" fmla="*/ 21720 w 2172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720" h="21600" fill="none" extrusionOk="0">
                    <a:moveTo>
                      <a:pt x="0" y="0"/>
                    </a:moveTo>
                    <a:cubicBezTo>
                      <a:pt x="40" y="0"/>
                      <a:pt x="80" y="-1"/>
                      <a:pt x="120" y="0"/>
                    </a:cubicBezTo>
                    <a:cubicBezTo>
                      <a:pt x="12049" y="0"/>
                      <a:pt x="21720" y="9670"/>
                      <a:pt x="21720" y="21600"/>
                    </a:cubicBezTo>
                  </a:path>
                  <a:path w="21720" h="21600" stroke="0" extrusionOk="0">
                    <a:moveTo>
                      <a:pt x="0" y="0"/>
                    </a:moveTo>
                    <a:cubicBezTo>
                      <a:pt x="40" y="0"/>
                      <a:pt x="80" y="-1"/>
                      <a:pt x="120" y="0"/>
                    </a:cubicBezTo>
                    <a:cubicBezTo>
                      <a:pt x="12049" y="0"/>
                      <a:pt x="21720" y="9670"/>
                      <a:pt x="21720" y="21600"/>
                    </a:cubicBezTo>
                    <a:lnTo>
                      <a:pt x="12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3716" name="Arc 14"/>
              <p:cNvSpPr>
                <a:spLocks/>
              </p:cNvSpPr>
              <p:nvPr/>
            </p:nvSpPr>
            <p:spPr bwMode="auto">
              <a:xfrm>
                <a:off x="2644" y="2816"/>
                <a:ext cx="180" cy="80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</a:path>
                  <a:path w="21600" h="21600" stroke="0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  <a:lnTo>
                      <a:pt x="0" y="0"/>
                    </a:lnTo>
                    <a:lnTo>
                      <a:pt x="21600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3717" name="Line 15"/>
              <p:cNvSpPr>
                <a:spLocks noChangeShapeType="1"/>
              </p:cNvSpPr>
              <p:nvPr/>
            </p:nvSpPr>
            <p:spPr bwMode="auto">
              <a:xfrm>
                <a:off x="2616" y="2732"/>
                <a:ext cx="24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718" name="Line 16"/>
              <p:cNvSpPr>
                <a:spLocks noChangeShapeType="1"/>
              </p:cNvSpPr>
              <p:nvPr/>
            </p:nvSpPr>
            <p:spPr bwMode="auto">
              <a:xfrm>
                <a:off x="2616" y="2908"/>
                <a:ext cx="24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719" name="Arc 17"/>
              <p:cNvSpPr>
                <a:spLocks/>
              </p:cNvSpPr>
              <p:nvPr/>
            </p:nvSpPr>
            <p:spPr bwMode="auto">
              <a:xfrm>
                <a:off x="2608" y="2737"/>
                <a:ext cx="33" cy="80"/>
              </a:xfrm>
              <a:custGeom>
                <a:avLst/>
                <a:gdLst>
                  <a:gd name="T0" fmla="*/ 0 w 22275"/>
                  <a:gd name="T1" fmla="*/ 0 h 21600"/>
                  <a:gd name="T2" fmla="*/ 0 w 22275"/>
                  <a:gd name="T3" fmla="*/ 0 h 21600"/>
                  <a:gd name="T4" fmla="*/ 0 w 22275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2275"/>
                  <a:gd name="T10" fmla="*/ 0 h 21600"/>
                  <a:gd name="T11" fmla="*/ 22275 w 22275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2275" h="21600" fill="none" extrusionOk="0">
                    <a:moveTo>
                      <a:pt x="-1" y="10"/>
                    </a:moveTo>
                    <a:cubicBezTo>
                      <a:pt x="224" y="3"/>
                      <a:pt x="449" y="-1"/>
                      <a:pt x="675" y="0"/>
                    </a:cubicBezTo>
                    <a:cubicBezTo>
                      <a:pt x="12604" y="0"/>
                      <a:pt x="22275" y="9670"/>
                      <a:pt x="22275" y="21600"/>
                    </a:cubicBezTo>
                  </a:path>
                  <a:path w="22275" h="21600" stroke="0" extrusionOk="0">
                    <a:moveTo>
                      <a:pt x="-1" y="10"/>
                    </a:moveTo>
                    <a:cubicBezTo>
                      <a:pt x="224" y="3"/>
                      <a:pt x="449" y="-1"/>
                      <a:pt x="675" y="0"/>
                    </a:cubicBezTo>
                    <a:cubicBezTo>
                      <a:pt x="12604" y="0"/>
                      <a:pt x="22275" y="9670"/>
                      <a:pt x="22275" y="21600"/>
                    </a:cubicBezTo>
                    <a:lnTo>
                      <a:pt x="675" y="21600"/>
                    </a:lnTo>
                    <a:lnTo>
                      <a:pt x="-1" y="1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3720" name="Arc 18"/>
              <p:cNvSpPr>
                <a:spLocks/>
              </p:cNvSpPr>
              <p:nvPr/>
            </p:nvSpPr>
            <p:spPr bwMode="auto">
              <a:xfrm>
                <a:off x="2608" y="2816"/>
                <a:ext cx="32" cy="80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</a:path>
                  <a:path w="21600" h="21600" stroke="0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  <a:lnTo>
                      <a:pt x="0" y="0"/>
                    </a:lnTo>
                    <a:lnTo>
                      <a:pt x="21600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23569" name="Arc 20"/>
            <p:cNvSpPr>
              <a:spLocks/>
            </p:cNvSpPr>
            <p:nvPr/>
          </p:nvSpPr>
          <p:spPr bwMode="auto">
            <a:xfrm>
              <a:off x="5475288" y="2370138"/>
              <a:ext cx="112712" cy="87312"/>
            </a:xfrm>
            <a:custGeom>
              <a:avLst/>
              <a:gdLst>
                <a:gd name="T0" fmla="*/ 2147483647 w 21600"/>
                <a:gd name="T1" fmla="*/ 2147483647 h 17255"/>
                <a:gd name="T2" fmla="*/ 2147483647 w 21600"/>
                <a:gd name="T3" fmla="*/ 0 h 17255"/>
                <a:gd name="T4" fmla="*/ 2147483647 w 21600"/>
                <a:gd name="T5" fmla="*/ 2147483647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3570" name="Line 21"/>
            <p:cNvSpPr>
              <a:spLocks noChangeShapeType="1"/>
            </p:cNvSpPr>
            <p:nvPr/>
          </p:nvSpPr>
          <p:spPr bwMode="auto">
            <a:xfrm>
              <a:off x="5237163" y="2424113"/>
              <a:ext cx="2381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71" name="Line 22"/>
            <p:cNvSpPr>
              <a:spLocks noChangeShapeType="1"/>
            </p:cNvSpPr>
            <p:nvPr/>
          </p:nvSpPr>
          <p:spPr bwMode="auto">
            <a:xfrm flipH="1">
              <a:off x="4694238" y="2366963"/>
              <a:ext cx="26511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72" name="Line 23"/>
            <p:cNvSpPr>
              <a:spLocks noChangeShapeType="1"/>
            </p:cNvSpPr>
            <p:nvPr/>
          </p:nvSpPr>
          <p:spPr bwMode="auto">
            <a:xfrm flipH="1">
              <a:off x="2411413" y="2424113"/>
              <a:ext cx="254158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73" name="Line 24"/>
            <p:cNvSpPr>
              <a:spLocks noChangeShapeType="1"/>
            </p:cNvSpPr>
            <p:nvPr/>
          </p:nvSpPr>
          <p:spPr bwMode="auto">
            <a:xfrm flipH="1" flipV="1">
              <a:off x="4824413" y="2495550"/>
              <a:ext cx="123825" cy="476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3574" name="Group 31"/>
            <p:cNvGrpSpPr>
              <a:grpSpLocks/>
            </p:cNvGrpSpPr>
            <p:nvPr/>
          </p:nvGrpSpPr>
          <p:grpSpPr bwMode="auto">
            <a:xfrm>
              <a:off x="4906963" y="2297113"/>
              <a:ext cx="320675" cy="268287"/>
              <a:chOff x="2608" y="2956"/>
              <a:chExt cx="217" cy="184"/>
            </a:xfrm>
          </p:grpSpPr>
          <p:sp>
            <p:nvSpPr>
              <p:cNvPr id="23709" name="Arc 25"/>
              <p:cNvSpPr>
                <a:spLocks/>
              </p:cNvSpPr>
              <p:nvPr/>
            </p:nvSpPr>
            <p:spPr bwMode="auto">
              <a:xfrm>
                <a:off x="2644" y="2961"/>
                <a:ext cx="181" cy="84"/>
              </a:xfrm>
              <a:custGeom>
                <a:avLst/>
                <a:gdLst>
                  <a:gd name="T0" fmla="*/ 0 w 21720"/>
                  <a:gd name="T1" fmla="*/ 0 h 21600"/>
                  <a:gd name="T2" fmla="*/ 0 w 21720"/>
                  <a:gd name="T3" fmla="*/ 0 h 21600"/>
                  <a:gd name="T4" fmla="*/ 0 w 2172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720"/>
                  <a:gd name="T10" fmla="*/ 0 h 21600"/>
                  <a:gd name="T11" fmla="*/ 21720 w 2172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720" h="21600" fill="none" extrusionOk="0">
                    <a:moveTo>
                      <a:pt x="0" y="0"/>
                    </a:moveTo>
                    <a:cubicBezTo>
                      <a:pt x="40" y="0"/>
                      <a:pt x="80" y="-1"/>
                      <a:pt x="120" y="0"/>
                    </a:cubicBezTo>
                    <a:cubicBezTo>
                      <a:pt x="12049" y="0"/>
                      <a:pt x="21720" y="9670"/>
                      <a:pt x="21720" y="21600"/>
                    </a:cubicBezTo>
                  </a:path>
                  <a:path w="21720" h="21600" stroke="0" extrusionOk="0">
                    <a:moveTo>
                      <a:pt x="0" y="0"/>
                    </a:moveTo>
                    <a:cubicBezTo>
                      <a:pt x="40" y="0"/>
                      <a:pt x="80" y="-1"/>
                      <a:pt x="120" y="0"/>
                    </a:cubicBezTo>
                    <a:cubicBezTo>
                      <a:pt x="12049" y="0"/>
                      <a:pt x="21720" y="9670"/>
                      <a:pt x="21720" y="21600"/>
                    </a:cubicBezTo>
                    <a:lnTo>
                      <a:pt x="12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3710" name="Arc 26"/>
              <p:cNvSpPr>
                <a:spLocks/>
              </p:cNvSpPr>
              <p:nvPr/>
            </p:nvSpPr>
            <p:spPr bwMode="auto">
              <a:xfrm>
                <a:off x="2644" y="3044"/>
                <a:ext cx="180" cy="84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</a:path>
                  <a:path w="21600" h="21600" stroke="0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  <a:lnTo>
                      <a:pt x="0" y="0"/>
                    </a:lnTo>
                    <a:lnTo>
                      <a:pt x="21600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3711" name="Line 27"/>
              <p:cNvSpPr>
                <a:spLocks noChangeShapeType="1"/>
              </p:cNvSpPr>
              <p:nvPr/>
            </p:nvSpPr>
            <p:spPr bwMode="auto">
              <a:xfrm>
                <a:off x="2616" y="2956"/>
                <a:ext cx="24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712" name="Line 28"/>
              <p:cNvSpPr>
                <a:spLocks noChangeShapeType="1"/>
              </p:cNvSpPr>
              <p:nvPr/>
            </p:nvSpPr>
            <p:spPr bwMode="auto">
              <a:xfrm>
                <a:off x="2616" y="3140"/>
                <a:ext cx="24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713" name="Arc 29"/>
              <p:cNvSpPr>
                <a:spLocks/>
              </p:cNvSpPr>
              <p:nvPr/>
            </p:nvSpPr>
            <p:spPr bwMode="auto">
              <a:xfrm>
                <a:off x="2608" y="2961"/>
                <a:ext cx="33" cy="84"/>
              </a:xfrm>
              <a:custGeom>
                <a:avLst/>
                <a:gdLst>
                  <a:gd name="T0" fmla="*/ 0 w 22275"/>
                  <a:gd name="T1" fmla="*/ 0 h 21600"/>
                  <a:gd name="T2" fmla="*/ 0 w 22275"/>
                  <a:gd name="T3" fmla="*/ 0 h 21600"/>
                  <a:gd name="T4" fmla="*/ 0 w 22275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2275"/>
                  <a:gd name="T10" fmla="*/ 0 h 21600"/>
                  <a:gd name="T11" fmla="*/ 22275 w 22275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2275" h="21600" fill="none" extrusionOk="0">
                    <a:moveTo>
                      <a:pt x="-1" y="10"/>
                    </a:moveTo>
                    <a:cubicBezTo>
                      <a:pt x="224" y="3"/>
                      <a:pt x="449" y="-1"/>
                      <a:pt x="675" y="0"/>
                    </a:cubicBezTo>
                    <a:cubicBezTo>
                      <a:pt x="12604" y="0"/>
                      <a:pt x="22275" y="9670"/>
                      <a:pt x="22275" y="21600"/>
                    </a:cubicBezTo>
                  </a:path>
                  <a:path w="22275" h="21600" stroke="0" extrusionOk="0">
                    <a:moveTo>
                      <a:pt x="-1" y="10"/>
                    </a:moveTo>
                    <a:cubicBezTo>
                      <a:pt x="224" y="3"/>
                      <a:pt x="449" y="-1"/>
                      <a:pt x="675" y="0"/>
                    </a:cubicBezTo>
                    <a:cubicBezTo>
                      <a:pt x="12604" y="0"/>
                      <a:pt x="22275" y="9670"/>
                      <a:pt x="22275" y="21600"/>
                    </a:cubicBezTo>
                    <a:lnTo>
                      <a:pt x="675" y="21600"/>
                    </a:lnTo>
                    <a:lnTo>
                      <a:pt x="-1" y="1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3714" name="Arc 30"/>
              <p:cNvSpPr>
                <a:spLocks/>
              </p:cNvSpPr>
              <p:nvPr/>
            </p:nvSpPr>
            <p:spPr bwMode="auto">
              <a:xfrm>
                <a:off x="2608" y="3044"/>
                <a:ext cx="32" cy="84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</a:path>
                  <a:path w="21600" h="21600" stroke="0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  <a:lnTo>
                      <a:pt x="0" y="0"/>
                    </a:lnTo>
                    <a:lnTo>
                      <a:pt x="21600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23575" name="Arc 32"/>
            <p:cNvSpPr>
              <a:spLocks/>
            </p:cNvSpPr>
            <p:nvPr/>
          </p:nvSpPr>
          <p:spPr bwMode="auto">
            <a:xfrm>
              <a:off x="5475288" y="2711450"/>
              <a:ext cx="112712" cy="90488"/>
            </a:xfrm>
            <a:custGeom>
              <a:avLst/>
              <a:gdLst>
                <a:gd name="T0" fmla="*/ 2147483647 w 21600"/>
                <a:gd name="T1" fmla="*/ 2147483647 h 17255"/>
                <a:gd name="T2" fmla="*/ 2147483647 w 21600"/>
                <a:gd name="T3" fmla="*/ 0 h 17255"/>
                <a:gd name="T4" fmla="*/ 2147483647 w 21600"/>
                <a:gd name="T5" fmla="*/ 2147483647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3576" name="Line 33"/>
            <p:cNvSpPr>
              <a:spLocks noChangeShapeType="1"/>
            </p:cNvSpPr>
            <p:nvPr/>
          </p:nvSpPr>
          <p:spPr bwMode="auto">
            <a:xfrm>
              <a:off x="5232400" y="2762250"/>
              <a:ext cx="24288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77" name="Line 34"/>
            <p:cNvSpPr>
              <a:spLocks noChangeShapeType="1"/>
            </p:cNvSpPr>
            <p:nvPr/>
          </p:nvSpPr>
          <p:spPr bwMode="auto">
            <a:xfrm flipH="1">
              <a:off x="4694238" y="2692400"/>
              <a:ext cx="24765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78" name="Line 35"/>
            <p:cNvSpPr>
              <a:spLocks noChangeShapeType="1"/>
            </p:cNvSpPr>
            <p:nvPr/>
          </p:nvSpPr>
          <p:spPr bwMode="auto">
            <a:xfrm flipH="1">
              <a:off x="4824413" y="2762250"/>
              <a:ext cx="1238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79" name="Line 36"/>
            <p:cNvSpPr>
              <a:spLocks noChangeShapeType="1"/>
            </p:cNvSpPr>
            <p:nvPr/>
          </p:nvSpPr>
          <p:spPr bwMode="auto">
            <a:xfrm flipH="1">
              <a:off x="4824413" y="2820988"/>
              <a:ext cx="1174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3580" name="Group 43"/>
            <p:cNvGrpSpPr>
              <a:grpSpLocks/>
            </p:cNvGrpSpPr>
            <p:nvPr/>
          </p:nvGrpSpPr>
          <p:grpSpPr bwMode="auto">
            <a:xfrm>
              <a:off x="4906963" y="2624138"/>
              <a:ext cx="320675" cy="266700"/>
              <a:chOff x="2608" y="3180"/>
              <a:chExt cx="217" cy="184"/>
            </a:xfrm>
          </p:grpSpPr>
          <p:sp>
            <p:nvSpPr>
              <p:cNvPr id="23703" name="Arc 37"/>
              <p:cNvSpPr>
                <a:spLocks/>
              </p:cNvSpPr>
              <p:nvPr/>
            </p:nvSpPr>
            <p:spPr bwMode="auto">
              <a:xfrm>
                <a:off x="2644" y="3185"/>
                <a:ext cx="181" cy="84"/>
              </a:xfrm>
              <a:custGeom>
                <a:avLst/>
                <a:gdLst>
                  <a:gd name="T0" fmla="*/ 0 w 21720"/>
                  <a:gd name="T1" fmla="*/ 0 h 21600"/>
                  <a:gd name="T2" fmla="*/ 0 w 21720"/>
                  <a:gd name="T3" fmla="*/ 0 h 21600"/>
                  <a:gd name="T4" fmla="*/ 0 w 2172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720"/>
                  <a:gd name="T10" fmla="*/ 0 h 21600"/>
                  <a:gd name="T11" fmla="*/ 21720 w 2172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720" h="21600" fill="none" extrusionOk="0">
                    <a:moveTo>
                      <a:pt x="0" y="0"/>
                    </a:moveTo>
                    <a:cubicBezTo>
                      <a:pt x="40" y="0"/>
                      <a:pt x="80" y="-1"/>
                      <a:pt x="120" y="0"/>
                    </a:cubicBezTo>
                    <a:cubicBezTo>
                      <a:pt x="12049" y="0"/>
                      <a:pt x="21720" y="9670"/>
                      <a:pt x="21720" y="21600"/>
                    </a:cubicBezTo>
                  </a:path>
                  <a:path w="21720" h="21600" stroke="0" extrusionOk="0">
                    <a:moveTo>
                      <a:pt x="0" y="0"/>
                    </a:moveTo>
                    <a:cubicBezTo>
                      <a:pt x="40" y="0"/>
                      <a:pt x="80" y="-1"/>
                      <a:pt x="120" y="0"/>
                    </a:cubicBezTo>
                    <a:cubicBezTo>
                      <a:pt x="12049" y="0"/>
                      <a:pt x="21720" y="9670"/>
                      <a:pt x="21720" y="21600"/>
                    </a:cubicBezTo>
                    <a:lnTo>
                      <a:pt x="12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3704" name="Arc 38"/>
              <p:cNvSpPr>
                <a:spLocks/>
              </p:cNvSpPr>
              <p:nvPr/>
            </p:nvSpPr>
            <p:spPr bwMode="auto">
              <a:xfrm>
                <a:off x="2644" y="3268"/>
                <a:ext cx="180" cy="84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</a:path>
                  <a:path w="21600" h="21600" stroke="0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  <a:lnTo>
                      <a:pt x="0" y="0"/>
                    </a:lnTo>
                    <a:lnTo>
                      <a:pt x="21600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3705" name="Line 39"/>
              <p:cNvSpPr>
                <a:spLocks noChangeShapeType="1"/>
              </p:cNvSpPr>
              <p:nvPr/>
            </p:nvSpPr>
            <p:spPr bwMode="auto">
              <a:xfrm>
                <a:off x="2616" y="3180"/>
                <a:ext cx="24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706" name="Line 40"/>
              <p:cNvSpPr>
                <a:spLocks noChangeShapeType="1"/>
              </p:cNvSpPr>
              <p:nvPr/>
            </p:nvSpPr>
            <p:spPr bwMode="auto">
              <a:xfrm>
                <a:off x="2616" y="3364"/>
                <a:ext cx="24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707" name="Arc 41"/>
              <p:cNvSpPr>
                <a:spLocks/>
              </p:cNvSpPr>
              <p:nvPr/>
            </p:nvSpPr>
            <p:spPr bwMode="auto">
              <a:xfrm>
                <a:off x="2608" y="3185"/>
                <a:ext cx="33" cy="84"/>
              </a:xfrm>
              <a:custGeom>
                <a:avLst/>
                <a:gdLst>
                  <a:gd name="T0" fmla="*/ 0 w 22275"/>
                  <a:gd name="T1" fmla="*/ 0 h 21600"/>
                  <a:gd name="T2" fmla="*/ 0 w 22275"/>
                  <a:gd name="T3" fmla="*/ 0 h 21600"/>
                  <a:gd name="T4" fmla="*/ 0 w 22275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2275"/>
                  <a:gd name="T10" fmla="*/ 0 h 21600"/>
                  <a:gd name="T11" fmla="*/ 22275 w 22275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2275" h="21600" fill="none" extrusionOk="0">
                    <a:moveTo>
                      <a:pt x="-1" y="10"/>
                    </a:moveTo>
                    <a:cubicBezTo>
                      <a:pt x="224" y="3"/>
                      <a:pt x="449" y="-1"/>
                      <a:pt x="675" y="0"/>
                    </a:cubicBezTo>
                    <a:cubicBezTo>
                      <a:pt x="12604" y="0"/>
                      <a:pt x="22275" y="9670"/>
                      <a:pt x="22275" y="21600"/>
                    </a:cubicBezTo>
                  </a:path>
                  <a:path w="22275" h="21600" stroke="0" extrusionOk="0">
                    <a:moveTo>
                      <a:pt x="-1" y="10"/>
                    </a:moveTo>
                    <a:cubicBezTo>
                      <a:pt x="224" y="3"/>
                      <a:pt x="449" y="-1"/>
                      <a:pt x="675" y="0"/>
                    </a:cubicBezTo>
                    <a:cubicBezTo>
                      <a:pt x="12604" y="0"/>
                      <a:pt x="22275" y="9670"/>
                      <a:pt x="22275" y="21600"/>
                    </a:cubicBezTo>
                    <a:lnTo>
                      <a:pt x="675" y="21600"/>
                    </a:lnTo>
                    <a:lnTo>
                      <a:pt x="-1" y="1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3708" name="Arc 42"/>
              <p:cNvSpPr>
                <a:spLocks/>
              </p:cNvSpPr>
              <p:nvPr/>
            </p:nvSpPr>
            <p:spPr bwMode="auto">
              <a:xfrm>
                <a:off x="2608" y="3268"/>
                <a:ext cx="32" cy="84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</a:path>
                  <a:path w="21600" h="21600" stroke="0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  <a:lnTo>
                      <a:pt x="0" y="0"/>
                    </a:lnTo>
                    <a:lnTo>
                      <a:pt x="21600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23581" name="Line 44"/>
            <p:cNvSpPr>
              <a:spLocks noChangeShapeType="1"/>
            </p:cNvSpPr>
            <p:nvPr/>
          </p:nvSpPr>
          <p:spPr bwMode="auto">
            <a:xfrm>
              <a:off x="5580063" y="1895475"/>
              <a:ext cx="0" cy="107315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82" name="Rectangle 45"/>
            <p:cNvSpPr>
              <a:spLocks noChangeArrowheads="1"/>
            </p:cNvSpPr>
            <p:nvPr/>
          </p:nvSpPr>
          <p:spPr bwMode="auto">
            <a:xfrm>
              <a:off x="5527675" y="1968500"/>
              <a:ext cx="330220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S</a:t>
              </a:r>
              <a:r>
                <a:rPr lang="en-US" altLang="ko-KR" sz="1100" b="1" baseline="-25000">
                  <a:solidFill>
                    <a:srgbClr val="000000"/>
                  </a:solidFill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23583" name="Rectangle 46"/>
            <p:cNvSpPr>
              <a:spLocks noChangeArrowheads="1"/>
            </p:cNvSpPr>
            <p:nvPr/>
          </p:nvSpPr>
          <p:spPr bwMode="auto">
            <a:xfrm>
              <a:off x="5534025" y="2306638"/>
              <a:ext cx="330220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S</a:t>
              </a:r>
              <a:r>
                <a:rPr lang="en-US" altLang="ko-KR" sz="1100" b="1" baseline="-25000">
                  <a:solidFill>
                    <a:srgbClr val="000000"/>
                  </a:solidFill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23584" name="Rectangle 47"/>
            <p:cNvSpPr>
              <a:spLocks noChangeArrowheads="1"/>
            </p:cNvSpPr>
            <p:nvPr/>
          </p:nvSpPr>
          <p:spPr bwMode="auto">
            <a:xfrm>
              <a:off x="5540375" y="2646363"/>
              <a:ext cx="330220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S</a:t>
              </a:r>
              <a:r>
                <a:rPr lang="en-US" altLang="ko-KR" sz="1100" b="1" baseline="-25000">
                  <a:solidFill>
                    <a:srgbClr val="000000"/>
                  </a:solidFill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23585" name="Line 48"/>
            <p:cNvSpPr>
              <a:spLocks noChangeShapeType="1"/>
            </p:cNvSpPr>
            <p:nvPr/>
          </p:nvSpPr>
          <p:spPr bwMode="auto">
            <a:xfrm>
              <a:off x="5592763" y="1901825"/>
              <a:ext cx="8128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86" name="Rectangle 49"/>
            <p:cNvSpPr>
              <a:spLocks noChangeArrowheads="1"/>
            </p:cNvSpPr>
            <p:nvPr/>
          </p:nvSpPr>
          <p:spPr bwMode="auto">
            <a:xfrm>
              <a:off x="5830888" y="2274888"/>
              <a:ext cx="450445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Bus</a:t>
              </a:r>
            </a:p>
          </p:txBody>
        </p:sp>
        <p:sp>
          <p:nvSpPr>
            <p:cNvPr id="23587" name="Line 50"/>
            <p:cNvSpPr>
              <a:spLocks noChangeShapeType="1"/>
            </p:cNvSpPr>
            <p:nvPr/>
          </p:nvSpPr>
          <p:spPr bwMode="auto">
            <a:xfrm>
              <a:off x="6397625" y="1895475"/>
              <a:ext cx="0" cy="10668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88" name="Line 51"/>
            <p:cNvSpPr>
              <a:spLocks noChangeShapeType="1"/>
            </p:cNvSpPr>
            <p:nvPr/>
          </p:nvSpPr>
          <p:spPr bwMode="auto">
            <a:xfrm>
              <a:off x="5586413" y="2959100"/>
              <a:ext cx="3270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89" name="Line 52"/>
            <p:cNvSpPr>
              <a:spLocks noChangeShapeType="1"/>
            </p:cNvSpPr>
            <p:nvPr/>
          </p:nvSpPr>
          <p:spPr bwMode="auto">
            <a:xfrm>
              <a:off x="6054725" y="2959100"/>
              <a:ext cx="3556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90" name="Line 53"/>
            <p:cNvSpPr>
              <a:spLocks noChangeShapeType="1"/>
            </p:cNvSpPr>
            <p:nvPr/>
          </p:nvSpPr>
          <p:spPr bwMode="auto">
            <a:xfrm>
              <a:off x="5918200" y="2965450"/>
              <a:ext cx="0" cy="31654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91" name="Rectangle 54"/>
            <p:cNvSpPr>
              <a:spLocks noChangeArrowheads="1"/>
            </p:cNvSpPr>
            <p:nvPr/>
          </p:nvSpPr>
          <p:spPr bwMode="auto">
            <a:xfrm>
              <a:off x="5857875" y="2986088"/>
              <a:ext cx="26129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23592" name="Line 55"/>
            <p:cNvSpPr>
              <a:spLocks noChangeShapeType="1"/>
            </p:cNvSpPr>
            <p:nvPr/>
          </p:nvSpPr>
          <p:spPr bwMode="auto">
            <a:xfrm>
              <a:off x="6048375" y="2965450"/>
              <a:ext cx="0" cy="330358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93" name="Rectangle 56"/>
            <p:cNvSpPr>
              <a:spLocks noChangeArrowheads="1"/>
            </p:cNvSpPr>
            <p:nvPr/>
          </p:nvSpPr>
          <p:spPr bwMode="auto">
            <a:xfrm>
              <a:off x="3440113" y="2825750"/>
              <a:ext cx="1123950" cy="569913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23594" name="Rectangle 57"/>
            <p:cNvSpPr>
              <a:spLocks noChangeArrowheads="1"/>
            </p:cNvSpPr>
            <p:nvPr/>
          </p:nvSpPr>
          <p:spPr bwMode="auto">
            <a:xfrm>
              <a:off x="3570288" y="2873375"/>
              <a:ext cx="722956" cy="428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Memory</a:t>
              </a:r>
            </a:p>
            <a:p>
              <a:pPr eaLnBrk="1" hangingPunct="1"/>
              <a:endParaRPr lang="en-US" altLang="ko-KR" sz="1100" b="1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3595" name="Rectangle 58"/>
            <p:cNvSpPr>
              <a:spLocks noChangeArrowheads="1"/>
            </p:cNvSpPr>
            <p:nvPr/>
          </p:nvSpPr>
          <p:spPr bwMode="auto">
            <a:xfrm>
              <a:off x="3746500" y="3048000"/>
              <a:ext cx="440827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unit</a:t>
              </a:r>
            </a:p>
          </p:txBody>
        </p:sp>
        <p:sp>
          <p:nvSpPr>
            <p:cNvPr id="23596" name="Line 59"/>
            <p:cNvSpPr>
              <a:spLocks noChangeShapeType="1"/>
            </p:cNvSpPr>
            <p:nvPr/>
          </p:nvSpPr>
          <p:spPr bwMode="auto">
            <a:xfrm>
              <a:off x="4711700" y="2036763"/>
              <a:ext cx="0" cy="65563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97" name="Arc 60"/>
            <p:cNvSpPr>
              <a:spLocks/>
            </p:cNvSpPr>
            <p:nvPr/>
          </p:nvSpPr>
          <p:spPr bwMode="auto">
            <a:xfrm>
              <a:off x="5807075" y="3033713"/>
              <a:ext cx="112713" cy="87312"/>
            </a:xfrm>
            <a:custGeom>
              <a:avLst/>
              <a:gdLst>
                <a:gd name="T0" fmla="*/ 2147483647 w 21600"/>
                <a:gd name="T1" fmla="*/ 2147483647 h 17255"/>
                <a:gd name="T2" fmla="*/ 2147483647 w 21600"/>
                <a:gd name="T3" fmla="*/ 0 h 17255"/>
                <a:gd name="T4" fmla="*/ 2147483647 w 21600"/>
                <a:gd name="T5" fmla="*/ 2147483647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3598" name="Line 61"/>
            <p:cNvSpPr>
              <a:spLocks noChangeShapeType="1"/>
            </p:cNvSpPr>
            <p:nvPr/>
          </p:nvSpPr>
          <p:spPr bwMode="auto">
            <a:xfrm>
              <a:off x="4575175" y="3087688"/>
              <a:ext cx="1230313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99" name="Arc 62"/>
            <p:cNvSpPr>
              <a:spLocks/>
            </p:cNvSpPr>
            <p:nvPr/>
          </p:nvSpPr>
          <p:spPr bwMode="auto">
            <a:xfrm>
              <a:off x="4581525" y="3230563"/>
              <a:ext cx="112713" cy="87312"/>
            </a:xfrm>
            <a:custGeom>
              <a:avLst/>
              <a:gdLst>
                <a:gd name="T0" fmla="*/ 2147483647 w 21600"/>
                <a:gd name="T1" fmla="*/ 0 h 17464"/>
                <a:gd name="T2" fmla="*/ 2147483647 w 21600"/>
                <a:gd name="T3" fmla="*/ 2147483647 h 17464"/>
                <a:gd name="T4" fmla="*/ 0 w 21600"/>
                <a:gd name="T5" fmla="*/ 2147483647 h 17464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464"/>
                <a:gd name="T11" fmla="*/ 21600 w 21600"/>
                <a:gd name="T12" fmla="*/ 17464 h 1746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464" fill="none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</a:path>
                <a:path w="21600" h="17464" stroke="0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  <a:lnTo>
                    <a:pt x="0" y="8852"/>
                  </a:lnTo>
                  <a:lnTo>
                    <a:pt x="1970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3600" name="Line 63"/>
            <p:cNvSpPr>
              <a:spLocks noChangeShapeType="1"/>
            </p:cNvSpPr>
            <p:nvPr/>
          </p:nvSpPr>
          <p:spPr bwMode="auto">
            <a:xfrm>
              <a:off x="4683125" y="3284538"/>
              <a:ext cx="7747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01" name="Rectangle 64"/>
            <p:cNvSpPr>
              <a:spLocks noChangeArrowheads="1"/>
            </p:cNvSpPr>
            <p:nvPr/>
          </p:nvSpPr>
          <p:spPr bwMode="auto">
            <a:xfrm>
              <a:off x="4633913" y="3255963"/>
              <a:ext cx="748604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Address</a:t>
              </a:r>
            </a:p>
          </p:txBody>
        </p:sp>
        <p:sp>
          <p:nvSpPr>
            <p:cNvPr id="23602" name="Arc 65"/>
            <p:cNvSpPr>
              <a:spLocks/>
            </p:cNvSpPr>
            <p:nvPr/>
          </p:nvSpPr>
          <p:spPr bwMode="auto">
            <a:xfrm>
              <a:off x="3992563" y="3402013"/>
              <a:ext cx="90487" cy="109537"/>
            </a:xfrm>
            <a:custGeom>
              <a:avLst/>
              <a:gdLst>
                <a:gd name="T0" fmla="*/ 2147483647 w 17464"/>
                <a:gd name="T1" fmla="*/ 2147483647 h 21600"/>
                <a:gd name="T2" fmla="*/ 0 w 17464"/>
                <a:gd name="T3" fmla="*/ 2147483647 h 21600"/>
                <a:gd name="T4" fmla="*/ 2147483647 w 17464"/>
                <a:gd name="T5" fmla="*/ 0 h 21600"/>
                <a:gd name="T6" fmla="*/ 0 60000 65536"/>
                <a:gd name="T7" fmla="*/ 0 60000 65536"/>
                <a:gd name="T8" fmla="*/ 0 60000 65536"/>
                <a:gd name="T9" fmla="*/ 0 w 17464"/>
                <a:gd name="T10" fmla="*/ 0 h 21600"/>
                <a:gd name="T11" fmla="*/ 17464 w 1746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464" h="21600" fill="none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</a:path>
                <a:path w="17464" h="21600" stroke="0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  <a:lnTo>
                    <a:pt x="8852" y="0"/>
                  </a:lnTo>
                  <a:lnTo>
                    <a:pt x="17463" y="1980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3603" name="Line 66"/>
            <p:cNvSpPr>
              <a:spLocks noChangeShapeType="1"/>
            </p:cNvSpPr>
            <p:nvPr/>
          </p:nvSpPr>
          <p:spPr bwMode="auto">
            <a:xfrm>
              <a:off x="4037013" y="3511550"/>
              <a:ext cx="0" cy="17462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04" name="Rectangle 67"/>
            <p:cNvSpPr>
              <a:spLocks noChangeArrowheads="1"/>
            </p:cNvSpPr>
            <p:nvPr/>
          </p:nvSpPr>
          <p:spPr bwMode="auto">
            <a:xfrm>
              <a:off x="4003675" y="3435350"/>
              <a:ext cx="528992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Read</a:t>
              </a:r>
            </a:p>
          </p:txBody>
        </p:sp>
        <p:sp>
          <p:nvSpPr>
            <p:cNvPr id="23605" name="Arc 68"/>
            <p:cNvSpPr>
              <a:spLocks/>
            </p:cNvSpPr>
            <p:nvPr/>
          </p:nvSpPr>
          <p:spPr bwMode="auto">
            <a:xfrm>
              <a:off x="3322638" y="3033713"/>
              <a:ext cx="112712" cy="87312"/>
            </a:xfrm>
            <a:custGeom>
              <a:avLst/>
              <a:gdLst>
                <a:gd name="T0" fmla="*/ 2147483647 w 21600"/>
                <a:gd name="T1" fmla="*/ 2147483647 h 17255"/>
                <a:gd name="T2" fmla="*/ 2147483647 w 21600"/>
                <a:gd name="T3" fmla="*/ 0 h 17255"/>
                <a:gd name="T4" fmla="*/ 2147483647 w 21600"/>
                <a:gd name="T5" fmla="*/ 2147483647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3606" name="Line 69"/>
            <p:cNvSpPr>
              <a:spLocks noChangeShapeType="1"/>
            </p:cNvSpPr>
            <p:nvPr/>
          </p:nvSpPr>
          <p:spPr bwMode="auto">
            <a:xfrm>
              <a:off x="2032000" y="3087688"/>
              <a:ext cx="129063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07" name="Line 70"/>
            <p:cNvSpPr>
              <a:spLocks noChangeShapeType="1"/>
            </p:cNvSpPr>
            <p:nvPr/>
          </p:nvSpPr>
          <p:spPr bwMode="auto">
            <a:xfrm>
              <a:off x="2700338" y="2430463"/>
              <a:ext cx="0" cy="203993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08" name="Line 71"/>
            <p:cNvSpPr>
              <a:spLocks noChangeShapeType="1"/>
            </p:cNvSpPr>
            <p:nvPr/>
          </p:nvSpPr>
          <p:spPr bwMode="auto">
            <a:xfrm>
              <a:off x="2901950" y="2036763"/>
              <a:ext cx="0" cy="38227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09" name="Line 72"/>
            <p:cNvSpPr>
              <a:spLocks noChangeShapeType="1"/>
            </p:cNvSpPr>
            <p:nvPr/>
          </p:nvSpPr>
          <p:spPr bwMode="auto">
            <a:xfrm flipH="1">
              <a:off x="3014663" y="3681413"/>
              <a:ext cx="1301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10" name="Line 73"/>
            <p:cNvSpPr>
              <a:spLocks noChangeShapeType="1"/>
            </p:cNvSpPr>
            <p:nvPr/>
          </p:nvSpPr>
          <p:spPr bwMode="auto">
            <a:xfrm flipH="1">
              <a:off x="2884488" y="3751263"/>
              <a:ext cx="26035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3611" name="Group 80"/>
            <p:cNvGrpSpPr>
              <a:grpSpLocks/>
            </p:cNvGrpSpPr>
            <p:nvPr/>
          </p:nvGrpSpPr>
          <p:grpSpPr bwMode="auto">
            <a:xfrm>
              <a:off x="3097213" y="3552825"/>
              <a:ext cx="320675" cy="254000"/>
              <a:chOff x="1384" y="3820"/>
              <a:chExt cx="217" cy="176"/>
            </a:xfrm>
          </p:grpSpPr>
          <p:sp>
            <p:nvSpPr>
              <p:cNvPr id="23697" name="Arc 74"/>
              <p:cNvSpPr>
                <a:spLocks/>
              </p:cNvSpPr>
              <p:nvPr/>
            </p:nvSpPr>
            <p:spPr bwMode="auto">
              <a:xfrm>
                <a:off x="1420" y="3825"/>
                <a:ext cx="181" cy="80"/>
              </a:xfrm>
              <a:custGeom>
                <a:avLst/>
                <a:gdLst>
                  <a:gd name="T0" fmla="*/ 0 w 21720"/>
                  <a:gd name="T1" fmla="*/ 0 h 21600"/>
                  <a:gd name="T2" fmla="*/ 0 w 21720"/>
                  <a:gd name="T3" fmla="*/ 0 h 21600"/>
                  <a:gd name="T4" fmla="*/ 0 w 2172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720"/>
                  <a:gd name="T10" fmla="*/ 0 h 21600"/>
                  <a:gd name="T11" fmla="*/ 21720 w 2172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720" h="21600" fill="none" extrusionOk="0">
                    <a:moveTo>
                      <a:pt x="0" y="0"/>
                    </a:moveTo>
                    <a:cubicBezTo>
                      <a:pt x="40" y="0"/>
                      <a:pt x="80" y="-1"/>
                      <a:pt x="120" y="0"/>
                    </a:cubicBezTo>
                    <a:cubicBezTo>
                      <a:pt x="12049" y="0"/>
                      <a:pt x="21720" y="9670"/>
                      <a:pt x="21720" y="21600"/>
                    </a:cubicBezTo>
                  </a:path>
                  <a:path w="21720" h="21600" stroke="0" extrusionOk="0">
                    <a:moveTo>
                      <a:pt x="0" y="0"/>
                    </a:moveTo>
                    <a:cubicBezTo>
                      <a:pt x="40" y="0"/>
                      <a:pt x="80" y="-1"/>
                      <a:pt x="120" y="0"/>
                    </a:cubicBezTo>
                    <a:cubicBezTo>
                      <a:pt x="12049" y="0"/>
                      <a:pt x="21720" y="9670"/>
                      <a:pt x="21720" y="21600"/>
                    </a:cubicBezTo>
                    <a:lnTo>
                      <a:pt x="12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3698" name="Arc 75"/>
              <p:cNvSpPr>
                <a:spLocks/>
              </p:cNvSpPr>
              <p:nvPr/>
            </p:nvSpPr>
            <p:spPr bwMode="auto">
              <a:xfrm>
                <a:off x="1420" y="3904"/>
                <a:ext cx="180" cy="80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</a:path>
                  <a:path w="21600" h="21600" stroke="0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  <a:lnTo>
                      <a:pt x="0" y="0"/>
                    </a:lnTo>
                    <a:lnTo>
                      <a:pt x="21600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3699" name="Line 76"/>
              <p:cNvSpPr>
                <a:spLocks noChangeShapeType="1"/>
              </p:cNvSpPr>
              <p:nvPr/>
            </p:nvSpPr>
            <p:spPr bwMode="auto">
              <a:xfrm>
                <a:off x="1392" y="3820"/>
                <a:ext cx="24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700" name="Line 77"/>
              <p:cNvSpPr>
                <a:spLocks noChangeShapeType="1"/>
              </p:cNvSpPr>
              <p:nvPr/>
            </p:nvSpPr>
            <p:spPr bwMode="auto">
              <a:xfrm>
                <a:off x="1392" y="3996"/>
                <a:ext cx="24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701" name="Arc 78"/>
              <p:cNvSpPr>
                <a:spLocks/>
              </p:cNvSpPr>
              <p:nvPr/>
            </p:nvSpPr>
            <p:spPr bwMode="auto">
              <a:xfrm>
                <a:off x="1384" y="3825"/>
                <a:ext cx="33" cy="80"/>
              </a:xfrm>
              <a:custGeom>
                <a:avLst/>
                <a:gdLst>
                  <a:gd name="T0" fmla="*/ 0 w 22275"/>
                  <a:gd name="T1" fmla="*/ 0 h 21600"/>
                  <a:gd name="T2" fmla="*/ 0 w 22275"/>
                  <a:gd name="T3" fmla="*/ 0 h 21600"/>
                  <a:gd name="T4" fmla="*/ 0 w 22275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2275"/>
                  <a:gd name="T10" fmla="*/ 0 h 21600"/>
                  <a:gd name="T11" fmla="*/ 22275 w 22275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2275" h="21600" fill="none" extrusionOk="0">
                    <a:moveTo>
                      <a:pt x="-1" y="10"/>
                    </a:moveTo>
                    <a:cubicBezTo>
                      <a:pt x="224" y="3"/>
                      <a:pt x="449" y="-1"/>
                      <a:pt x="675" y="0"/>
                    </a:cubicBezTo>
                    <a:cubicBezTo>
                      <a:pt x="12604" y="0"/>
                      <a:pt x="22275" y="9670"/>
                      <a:pt x="22275" y="21600"/>
                    </a:cubicBezTo>
                  </a:path>
                  <a:path w="22275" h="21600" stroke="0" extrusionOk="0">
                    <a:moveTo>
                      <a:pt x="-1" y="10"/>
                    </a:moveTo>
                    <a:cubicBezTo>
                      <a:pt x="224" y="3"/>
                      <a:pt x="449" y="-1"/>
                      <a:pt x="675" y="0"/>
                    </a:cubicBezTo>
                    <a:cubicBezTo>
                      <a:pt x="12604" y="0"/>
                      <a:pt x="22275" y="9670"/>
                      <a:pt x="22275" y="21600"/>
                    </a:cubicBezTo>
                    <a:lnTo>
                      <a:pt x="675" y="21600"/>
                    </a:lnTo>
                    <a:lnTo>
                      <a:pt x="-1" y="1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3702" name="Arc 79"/>
              <p:cNvSpPr>
                <a:spLocks/>
              </p:cNvSpPr>
              <p:nvPr/>
            </p:nvSpPr>
            <p:spPr bwMode="auto">
              <a:xfrm>
                <a:off x="1384" y="3904"/>
                <a:ext cx="32" cy="80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</a:path>
                  <a:path w="21600" h="21600" stroke="0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  <a:lnTo>
                      <a:pt x="0" y="0"/>
                    </a:lnTo>
                    <a:lnTo>
                      <a:pt x="21600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23612" name="Line 81"/>
            <p:cNvSpPr>
              <a:spLocks noChangeShapeType="1"/>
            </p:cNvSpPr>
            <p:nvPr/>
          </p:nvSpPr>
          <p:spPr bwMode="auto">
            <a:xfrm flipH="1" flipV="1">
              <a:off x="3014663" y="3609975"/>
              <a:ext cx="123825" cy="635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13" name="Line 83"/>
            <p:cNvSpPr>
              <a:spLocks noChangeShapeType="1"/>
            </p:cNvSpPr>
            <p:nvPr/>
          </p:nvSpPr>
          <p:spPr bwMode="auto">
            <a:xfrm flipH="1">
              <a:off x="2695575" y="4464050"/>
              <a:ext cx="449263" cy="635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3614" name="Group 90"/>
            <p:cNvGrpSpPr>
              <a:grpSpLocks/>
            </p:cNvGrpSpPr>
            <p:nvPr/>
          </p:nvGrpSpPr>
          <p:grpSpPr bwMode="auto">
            <a:xfrm>
              <a:off x="3097213" y="4273550"/>
              <a:ext cx="320675" cy="266700"/>
              <a:chOff x="1384" y="4316"/>
              <a:chExt cx="217" cy="184"/>
            </a:xfrm>
          </p:grpSpPr>
          <p:sp>
            <p:nvSpPr>
              <p:cNvPr id="23691" name="Arc 84"/>
              <p:cNvSpPr>
                <a:spLocks/>
              </p:cNvSpPr>
              <p:nvPr/>
            </p:nvSpPr>
            <p:spPr bwMode="auto">
              <a:xfrm>
                <a:off x="1420" y="4321"/>
                <a:ext cx="181" cy="84"/>
              </a:xfrm>
              <a:custGeom>
                <a:avLst/>
                <a:gdLst>
                  <a:gd name="T0" fmla="*/ 0 w 21720"/>
                  <a:gd name="T1" fmla="*/ 0 h 21600"/>
                  <a:gd name="T2" fmla="*/ 0 w 21720"/>
                  <a:gd name="T3" fmla="*/ 0 h 21600"/>
                  <a:gd name="T4" fmla="*/ 0 w 2172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720"/>
                  <a:gd name="T10" fmla="*/ 0 h 21600"/>
                  <a:gd name="T11" fmla="*/ 21720 w 2172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720" h="21600" fill="none" extrusionOk="0">
                    <a:moveTo>
                      <a:pt x="0" y="0"/>
                    </a:moveTo>
                    <a:cubicBezTo>
                      <a:pt x="40" y="0"/>
                      <a:pt x="80" y="-1"/>
                      <a:pt x="120" y="0"/>
                    </a:cubicBezTo>
                    <a:cubicBezTo>
                      <a:pt x="12049" y="0"/>
                      <a:pt x="21720" y="9670"/>
                      <a:pt x="21720" y="21600"/>
                    </a:cubicBezTo>
                  </a:path>
                  <a:path w="21720" h="21600" stroke="0" extrusionOk="0">
                    <a:moveTo>
                      <a:pt x="0" y="0"/>
                    </a:moveTo>
                    <a:cubicBezTo>
                      <a:pt x="40" y="0"/>
                      <a:pt x="80" y="-1"/>
                      <a:pt x="120" y="0"/>
                    </a:cubicBezTo>
                    <a:cubicBezTo>
                      <a:pt x="12049" y="0"/>
                      <a:pt x="21720" y="9670"/>
                      <a:pt x="21720" y="21600"/>
                    </a:cubicBezTo>
                    <a:lnTo>
                      <a:pt x="12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3692" name="Arc 85"/>
              <p:cNvSpPr>
                <a:spLocks/>
              </p:cNvSpPr>
              <p:nvPr/>
            </p:nvSpPr>
            <p:spPr bwMode="auto">
              <a:xfrm>
                <a:off x="1420" y="4404"/>
                <a:ext cx="180" cy="84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</a:path>
                  <a:path w="21600" h="21600" stroke="0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  <a:lnTo>
                      <a:pt x="0" y="0"/>
                    </a:lnTo>
                    <a:lnTo>
                      <a:pt x="21600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3693" name="Line 86"/>
              <p:cNvSpPr>
                <a:spLocks noChangeShapeType="1"/>
              </p:cNvSpPr>
              <p:nvPr/>
            </p:nvSpPr>
            <p:spPr bwMode="auto">
              <a:xfrm>
                <a:off x="1392" y="4316"/>
                <a:ext cx="24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694" name="Line 87"/>
              <p:cNvSpPr>
                <a:spLocks noChangeShapeType="1"/>
              </p:cNvSpPr>
              <p:nvPr/>
            </p:nvSpPr>
            <p:spPr bwMode="auto">
              <a:xfrm>
                <a:off x="1392" y="4500"/>
                <a:ext cx="24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695" name="Arc 88"/>
              <p:cNvSpPr>
                <a:spLocks/>
              </p:cNvSpPr>
              <p:nvPr/>
            </p:nvSpPr>
            <p:spPr bwMode="auto">
              <a:xfrm>
                <a:off x="1384" y="4321"/>
                <a:ext cx="33" cy="84"/>
              </a:xfrm>
              <a:custGeom>
                <a:avLst/>
                <a:gdLst>
                  <a:gd name="T0" fmla="*/ 0 w 22275"/>
                  <a:gd name="T1" fmla="*/ 0 h 21600"/>
                  <a:gd name="T2" fmla="*/ 0 w 22275"/>
                  <a:gd name="T3" fmla="*/ 0 h 21600"/>
                  <a:gd name="T4" fmla="*/ 0 w 22275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2275"/>
                  <a:gd name="T10" fmla="*/ 0 h 21600"/>
                  <a:gd name="T11" fmla="*/ 22275 w 22275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2275" h="21600" fill="none" extrusionOk="0">
                    <a:moveTo>
                      <a:pt x="-1" y="10"/>
                    </a:moveTo>
                    <a:cubicBezTo>
                      <a:pt x="224" y="3"/>
                      <a:pt x="449" y="-1"/>
                      <a:pt x="675" y="0"/>
                    </a:cubicBezTo>
                    <a:cubicBezTo>
                      <a:pt x="12604" y="0"/>
                      <a:pt x="22275" y="9670"/>
                      <a:pt x="22275" y="21600"/>
                    </a:cubicBezTo>
                  </a:path>
                  <a:path w="22275" h="21600" stroke="0" extrusionOk="0">
                    <a:moveTo>
                      <a:pt x="-1" y="10"/>
                    </a:moveTo>
                    <a:cubicBezTo>
                      <a:pt x="224" y="3"/>
                      <a:pt x="449" y="-1"/>
                      <a:pt x="675" y="0"/>
                    </a:cubicBezTo>
                    <a:cubicBezTo>
                      <a:pt x="12604" y="0"/>
                      <a:pt x="22275" y="9670"/>
                      <a:pt x="22275" y="21600"/>
                    </a:cubicBezTo>
                    <a:lnTo>
                      <a:pt x="675" y="21600"/>
                    </a:lnTo>
                    <a:lnTo>
                      <a:pt x="-1" y="1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3696" name="Arc 89"/>
              <p:cNvSpPr>
                <a:spLocks/>
              </p:cNvSpPr>
              <p:nvPr/>
            </p:nvSpPr>
            <p:spPr bwMode="auto">
              <a:xfrm>
                <a:off x="1384" y="4404"/>
                <a:ext cx="32" cy="84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</a:path>
                  <a:path w="21600" h="21600" stroke="0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  <a:lnTo>
                      <a:pt x="0" y="0"/>
                    </a:lnTo>
                    <a:lnTo>
                      <a:pt x="21600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23615" name="Line 91"/>
            <p:cNvSpPr>
              <a:spLocks noChangeShapeType="1"/>
            </p:cNvSpPr>
            <p:nvPr/>
          </p:nvSpPr>
          <p:spPr bwMode="auto">
            <a:xfrm flipH="1">
              <a:off x="3014663" y="4341813"/>
              <a:ext cx="1238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16" name="Line 92"/>
            <p:cNvSpPr>
              <a:spLocks noChangeShapeType="1"/>
            </p:cNvSpPr>
            <p:nvPr/>
          </p:nvSpPr>
          <p:spPr bwMode="auto">
            <a:xfrm>
              <a:off x="3427413" y="3681413"/>
              <a:ext cx="60483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17" name="Rectangle 93"/>
            <p:cNvSpPr>
              <a:spLocks noChangeArrowheads="1"/>
            </p:cNvSpPr>
            <p:nvPr/>
          </p:nvSpPr>
          <p:spPr bwMode="auto">
            <a:xfrm>
              <a:off x="3711575" y="3954463"/>
              <a:ext cx="852488" cy="230187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23618" name="Rectangle 94"/>
            <p:cNvSpPr>
              <a:spLocks noChangeArrowheads="1"/>
            </p:cNvSpPr>
            <p:nvPr/>
          </p:nvSpPr>
          <p:spPr bwMode="auto">
            <a:xfrm>
              <a:off x="3941763" y="3935413"/>
              <a:ext cx="387928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AR</a:t>
              </a:r>
            </a:p>
          </p:txBody>
        </p:sp>
        <p:sp>
          <p:nvSpPr>
            <p:cNvPr id="23619" name="Arc 95"/>
            <p:cNvSpPr>
              <a:spLocks/>
            </p:cNvSpPr>
            <p:nvPr/>
          </p:nvSpPr>
          <p:spPr bwMode="auto">
            <a:xfrm>
              <a:off x="5807075" y="4021138"/>
              <a:ext cx="112713" cy="88900"/>
            </a:xfrm>
            <a:custGeom>
              <a:avLst/>
              <a:gdLst>
                <a:gd name="T0" fmla="*/ 2147483647 w 21600"/>
                <a:gd name="T1" fmla="*/ 2147483647 h 17255"/>
                <a:gd name="T2" fmla="*/ 2147483647 w 21600"/>
                <a:gd name="T3" fmla="*/ 0 h 17255"/>
                <a:gd name="T4" fmla="*/ 2147483647 w 21600"/>
                <a:gd name="T5" fmla="*/ 2147483647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3620" name="Line 96"/>
            <p:cNvSpPr>
              <a:spLocks noChangeShapeType="1"/>
            </p:cNvSpPr>
            <p:nvPr/>
          </p:nvSpPr>
          <p:spPr bwMode="auto">
            <a:xfrm>
              <a:off x="4556125" y="4076700"/>
              <a:ext cx="1249363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21" name="Line 97"/>
            <p:cNvSpPr>
              <a:spLocks noChangeShapeType="1"/>
            </p:cNvSpPr>
            <p:nvPr/>
          </p:nvSpPr>
          <p:spPr bwMode="auto">
            <a:xfrm>
              <a:off x="5445125" y="3290888"/>
              <a:ext cx="0" cy="76835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22" name="Arc 98"/>
            <p:cNvSpPr>
              <a:spLocks/>
            </p:cNvSpPr>
            <p:nvPr/>
          </p:nvSpPr>
          <p:spPr bwMode="auto">
            <a:xfrm>
              <a:off x="3595688" y="4021138"/>
              <a:ext cx="111125" cy="88900"/>
            </a:xfrm>
            <a:custGeom>
              <a:avLst/>
              <a:gdLst>
                <a:gd name="T0" fmla="*/ 2147483647 w 21600"/>
                <a:gd name="T1" fmla="*/ 2147483647 h 17255"/>
                <a:gd name="T2" fmla="*/ 2147483647 w 21600"/>
                <a:gd name="T3" fmla="*/ 0 h 17255"/>
                <a:gd name="T4" fmla="*/ 2147483647 w 21600"/>
                <a:gd name="T5" fmla="*/ 2147483647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3623" name="Line 99"/>
            <p:cNvSpPr>
              <a:spLocks noChangeShapeType="1"/>
            </p:cNvSpPr>
            <p:nvPr/>
          </p:nvSpPr>
          <p:spPr bwMode="auto">
            <a:xfrm>
              <a:off x="2032000" y="4076700"/>
              <a:ext cx="159385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24" name="Line 100"/>
            <p:cNvSpPr>
              <a:spLocks noChangeShapeType="1"/>
            </p:cNvSpPr>
            <p:nvPr/>
          </p:nvSpPr>
          <p:spPr bwMode="auto">
            <a:xfrm flipV="1">
              <a:off x="3427413" y="4400550"/>
              <a:ext cx="403225" cy="635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25" name="Arc 101"/>
            <p:cNvSpPr>
              <a:spLocks/>
            </p:cNvSpPr>
            <p:nvPr/>
          </p:nvSpPr>
          <p:spPr bwMode="auto">
            <a:xfrm>
              <a:off x="3792538" y="4191000"/>
              <a:ext cx="90487" cy="111125"/>
            </a:xfrm>
            <a:custGeom>
              <a:avLst/>
              <a:gdLst>
                <a:gd name="T0" fmla="*/ 2147483647 w 17464"/>
                <a:gd name="T1" fmla="*/ 2147483647 h 21600"/>
                <a:gd name="T2" fmla="*/ 0 w 17464"/>
                <a:gd name="T3" fmla="*/ 2147483647 h 21600"/>
                <a:gd name="T4" fmla="*/ 2147483647 w 17464"/>
                <a:gd name="T5" fmla="*/ 0 h 21600"/>
                <a:gd name="T6" fmla="*/ 0 60000 65536"/>
                <a:gd name="T7" fmla="*/ 0 60000 65536"/>
                <a:gd name="T8" fmla="*/ 0 60000 65536"/>
                <a:gd name="T9" fmla="*/ 0 w 17464"/>
                <a:gd name="T10" fmla="*/ 0 h 21600"/>
                <a:gd name="T11" fmla="*/ 17464 w 1746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464" h="21600" fill="none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</a:path>
                <a:path w="17464" h="21600" stroke="0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  <a:lnTo>
                    <a:pt x="8852" y="0"/>
                  </a:lnTo>
                  <a:lnTo>
                    <a:pt x="17463" y="1980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3626" name="Line 102"/>
            <p:cNvSpPr>
              <a:spLocks noChangeShapeType="1"/>
            </p:cNvSpPr>
            <p:nvPr/>
          </p:nvSpPr>
          <p:spPr bwMode="auto">
            <a:xfrm flipV="1">
              <a:off x="3836988" y="4279900"/>
              <a:ext cx="0" cy="1270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27" name="Rectangle 103"/>
            <p:cNvSpPr>
              <a:spLocks noChangeArrowheads="1"/>
            </p:cNvSpPr>
            <p:nvPr/>
          </p:nvSpPr>
          <p:spPr bwMode="auto">
            <a:xfrm>
              <a:off x="3756025" y="4351338"/>
              <a:ext cx="371898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LD</a:t>
              </a:r>
            </a:p>
          </p:txBody>
        </p:sp>
        <p:sp>
          <p:nvSpPr>
            <p:cNvPr id="23628" name="Line 104"/>
            <p:cNvSpPr>
              <a:spLocks noChangeShapeType="1"/>
            </p:cNvSpPr>
            <p:nvPr/>
          </p:nvSpPr>
          <p:spPr bwMode="auto">
            <a:xfrm>
              <a:off x="4440238" y="4191000"/>
              <a:ext cx="0" cy="20955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29" name="Freeform 105"/>
            <p:cNvSpPr>
              <a:spLocks/>
            </p:cNvSpPr>
            <p:nvPr/>
          </p:nvSpPr>
          <p:spPr bwMode="auto">
            <a:xfrm>
              <a:off x="4368800" y="4122738"/>
              <a:ext cx="131763" cy="58737"/>
            </a:xfrm>
            <a:custGeom>
              <a:avLst/>
              <a:gdLst>
                <a:gd name="T0" fmla="*/ 0 w 89"/>
                <a:gd name="T1" fmla="*/ 2147483647 h 41"/>
                <a:gd name="T2" fmla="*/ 2147483647 w 89"/>
                <a:gd name="T3" fmla="*/ 0 h 41"/>
                <a:gd name="T4" fmla="*/ 2147483647 w 89"/>
                <a:gd name="T5" fmla="*/ 2147483647 h 41"/>
                <a:gd name="T6" fmla="*/ 0 60000 65536"/>
                <a:gd name="T7" fmla="*/ 0 60000 65536"/>
                <a:gd name="T8" fmla="*/ 0 60000 65536"/>
                <a:gd name="T9" fmla="*/ 0 w 89"/>
                <a:gd name="T10" fmla="*/ 0 h 41"/>
                <a:gd name="T11" fmla="*/ 89 w 89"/>
                <a:gd name="T12" fmla="*/ 41 h 4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9" h="41">
                  <a:moveTo>
                    <a:pt x="0" y="40"/>
                  </a:moveTo>
                  <a:lnTo>
                    <a:pt x="40" y="0"/>
                  </a:lnTo>
                  <a:lnTo>
                    <a:pt x="88" y="40"/>
                  </a:lnTo>
                </a:path>
              </a:pathLst>
            </a:custGeom>
            <a:noFill/>
            <a:ln w="254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3630" name="Line 106"/>
            <p:cNvSpPr>
              <a:spLocks noChangeShapeType="1"/>
            </p:cNvSpPr>
            <p:nvPr/>
          </p:nvSpPr>
          <p:spPr bwMode="auto">
            <a:xfrm flipH="1">
              <a:off x="3014663" y="4400550"/>
              <a:ext cx="1174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31" name="Line 107"/>
            <p:cNvSpPr>
              <a:spLocks noChangeShapeType="1"/>
            </p:cNvSpPr>
            <p:nvPr/>
          </p:nvSpPr>
          <p:spPr bwMode="auto">
            <a:xfrm flipH="1">
              <a:off x="3014663" y="5064125"/>
              <a:ext cx="1301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32" name="Line 108"/>
            <p:cNvSpPr>
              <a:spLocks noChangeShapeType="1"/>
            </p:cNvSpPr>
            <p:nvPr/>
          </p:nvSpPr>
          <p:spPr bwMode="auto">
            <a:xfrm flipH="1">
              <a:off x="2884488" y="5127625"/>
              <a:ext cx="241300" cy="635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3633" name="Group 115"/>
            <p:cNvGrpSpPr>
              <a:grpSpLocks/>
            </p:cNvGrpSpPr>
            <p:nvPr/>
          </p:nvGrpSpPr>
          <p:grpSpPr bwMode="auto">
            <a:xfrm>
              <a:off x="3097213" y="4935538"/>
              <a:ext cx="320675" cy="257175"/>
              <a:chOff x="1384" y="4772"/>
              <a:chExt cx="217" cy="176"/>
            </a:xfrm>
          </p:grpSpPr>
          <p:sp>
            <p:nvSpPr>
              <p:cNvPr id="23685" name="Arc 109"/>
              <p:cNvSpPr>
                <a:spLocks/>
              </p:cNvSpPr>
              <p:nvPr/>
            </p:nvSpPr>
            <p:spPr bwMode="auto">
              <a:xfrm>
                <a:off x="1420" y="4777"/>
                <a:ext cx="181" cy="80"/>
              </a:xfrm>
              <a:custGeom>
                <a:avLst/>
                <a:gdLst>
                  <a:gd name="T0" fmla="*/ 0 w 21720"/>
                  <a:gd name="T1" fmla="*/ 0 h 21600"/>
                  <a:gd name="T2" fmla="*/ 0 w 21720"/>
                  <a:gd name="T3" fmla="*/ 0 h 21600"/>
                  <a:gd name="T4" fmla="*/ 0 w 2172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720"/>
                  <a:gd name="T10" fmla="*/ 0 h 21600"/>
                  <a:gd name="T11" fmla="*/ 21720 w 2172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720" h="21600" fill="none" extrusionOk="0">
                    <a:moveTo>
                      <a:pt x="0" y="0"/>
                    </a:moveTo>
                    <a:cubicBezTo>
                      <a:pt x="40" y="0"/>
                      <a:pt x="80" y="-1"/>
                      <a:pt x="120" y="0"/>
                    </a:cubicBezTo>
                    <a:cubicBezTo>
                      <a:pt x="12049" y="0"/>
                      <a:pt x="21720" y="9670"/>
                      <a:pt x="21720" y="21600"/>
                    </a:cubicBezTo>
                  </a:path>
                  <a:path w="21720" h="21600" stroke="0" extrusionOk="0">
                    <a:moveTo>
                      <a:pt x="0" y="0"/>
                    </a:moveTo>
                    <a:cubicBezTo>
                      <a:pt x="40" y="0"/>
                      <a:pt x="80" y="-1"/>
                      <a:pt x="120" y="0"/>
                    </a:cubicBezTo>
                    <a:cubicBezTo>
                      <a:pt x="12049" y="0"/>
                      <a:pt x="21720" y="9670"/>
                      <a:pt x="21720" y="21600"/>
                    </a:cubicBezTo>
                    <a:lnTo>
                      <a:pt x="12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3686" name="Arc 110"/>
              <p:cNvSpPr>
                <a:spLocks/>
              </p:cNvSpPr>
              <p:nvPr/>
            </p:nvSpPr>
            <p:spPr bwMode="auto">
              <a:xfrm>
                <a:off x="1420" y="4856"/>
                <a:ext cx="180" cy="80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</a:path>
                  <a:path w="21600" h="21600" stroke="0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  <a:lnTo>
                      <a:pt x="0" y="0"/>
                    </a:lnTo>
                    <a:lnTo>
                      <a:pt x="21600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3687" name="Line 111"/>
              <p:cNvSpPr>
                <a:spLocks noChangeShapeType="1"/>
              </p:cNvSpPr>
              <p:nvPr/>
            </p:nvSpPr>
            <p:spPr bwMode="auto">
              <a:xfrm>
                <a:off x="1392" y="4772"/>
                <a:ext cx="24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688" name="Line 112"/>
              <p:cNvSpPr>
                <a:spLocks noChangeShapeType="1"/>
              </p:cNvSpPr>
              <p:nvPr/>
            </p:nvSpPr>
            <p:spPr bwMode="auto">
              <a:xfrm>
                <a:off x="1392" y="4948"/>
                <a:ext cx="24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689" name="Arc 113"/>
              <p:cNvSpPr>
                <a:spLocks/>
              </p:cNvSpPr>
              <p:nvPr/>
            </p:nvSpPr>
            <p:spPr bwMode="auto">
              <a:xfrm>
                <a:off x="1384" y="4777"/>
                <a:ext cx="33" cy="80"/>
              </a:xfrm>
              <a:custGeom>
                <a:avLst/>
                <a:gdLst>
                  <a:gd name="T0" fmla="*/ 0 w 22275"/>
                  <a:gd name="T1" fmla="*/ 0 h 21600"/>
                  <a:gd name="T2" fmla="*/ 0 w 22275"/>
                  <a:gd name="T3" fmla="*/ 0 h 21600"/>
                  <a:gd name="T4" fmla="*/ 0 w 22275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2275"/>
                  <a:gd name="T10" fmla="*/ 0 h 21600"/>
                  <a:gd name="T11" fmla="*/ 22275 w 22275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2275" h="21600" fill="none" extrusionOk="0">
                    <a:moveTo>
                      <a:pt x="-1" y="10"/>
                    </a:moveTo>
                    <a:cubicBezTo>
                      <a:pt x="224" y="3"/>
                      <a:pt x="449" y="-1"/>
                      <a:pt x="675" y="0"/>
                    </a:cubicBezTo>
                    <a:cubicBezTo>
                      <a:pt x="12604" y="0"/>
                      <a:pt x="22275" y="9670"/>
                      <a:pt x="22275" y="21600"/>
                    </a:cubicBezTo>
                  </a:path>
                  <a:path w="22275" h="21600" stroke="0" extrusionOk="0">
                    <a:moveTo>
                      <a:pt x="-1" y="10"/>
                    </a:moveTo>
                    <a:cubicBezTo>
                      <a:pt x="224" y="3"/>
                      <a:pt x="449" y="-1"/>
                      <a:pt x="675" y="0"/>
                    </a:cubicBezTo>
                    <a:cubicBezTo>
                      <a:pt x="12604" y="0"/>
                      <a:pt x="22275" y="9670"/>
                      <a:pt x="22275" y="21600"/>
                    </a:cubicBezTo>
                    <a:lnTo>
                      <a:pt x="675" y="21600"/>
                    </a:lnTo>
                    <a:lnTo>
                      <a:pt x="-1" y="1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3690" name="Arc 114"/>
              <p:cNvSpPr>
                <a:spLocks/>
              </p:cNvSpPr>
              <p:nvPr/>
            </p:nvSpPr>
            <p:spPr bwMode="auto">
              <a:xfrm>
                <a:off x="1384" y="4856"/>
                <a:ext cx="32" cy="80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</a:path>
                  <a:path w="21600" h="21600" stroke="0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  <a:lnTo>
                      <a:pt x="0" y="0"/>
                    </a:lnTo>
                    <a:lnTo>
                      <a:pt x="21600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23634" name="Line 116"/>
            <p:cNvSpPr>
              <a:spLocks noChangeShapeType="1"/>
            </p:cNvSpPr>
            <p:nvPr/>
          </p:nvSpPr>
          <p:spPr bwMode="auto">
            <a:xfrm flipH="1">
              <a:off x="3014663" y="4992688"/>
              <a:ext cx="1174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35" name="Rectangle 117"/>
            <p:cNvSpPr>
              <a:spLocks noChangeArrowheads="1"/>
            </p:cNvSpPr>
            <p:nvPr/>
          </p:nvSpPr>
          <p:spPr bwMode="auto">
            <a:xfrm>
              <a:off x="3711575" y="4605338"/>
              <a:ext cx="852488" cy="242887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23636" name="Rectangle 118"/>
            <p:cNvSpPr>
              <a:spLocks noChangeArrowheads="1"/>
            </p:cNvSpPr>
            <p:nvPr/>
          </p:nvSpPr>
          <p:spPr bwMode="auto">
            <a:xfrm>
              <a:off x="3941763" y="4595813"/>
              <a:ext cx="379913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PC</a:t>
              </a:r>
            </a:p>
          </p:txBody>
        </p:sp>
        <p:sp>
          <p:nvSpPr>
            <p:cNvPr id="23637" name="Arc 119"/>
            <p:cNvSpPr>
              <a:spLocks/>
            </p:cNvSpPr>
            <p:nvPr/>
          </p:nvSpPr>
          <p:spPr bwMode="auto">
            <a:xfrm>
              <a:off x="5807075" y="4683125"/>
              <a:ext cx="112713" cy="87313"/>
            </a:xfrm>
            <a:custGeom>
              <a:avLst/>
              <a:gdLst>
                <a:gd name="T0" fmla="*/ 2147483647 w 21600"/>
                <a:gd name="T1" fmla="*/ 2147483647 h 17255"/>
                <a:gd name="T2" fmla="*/ 2147483647 w 21600"/>
                <a:gd name="T3" fmla="*/ 0 h 17255"/>
                <a:gd name="T4" fmla="*/ 2147483647 w 21600"/>
                <a:gd name="T5" fmla="*/ 2147483647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3638" name="Line 120"/>
            <p:cNvSpPr>
              <a:spLocks noChangeShapeType="1"/>
            </p:cNvSpPr>
            <p:nvPr/>
          </p:nvSpPr>
          <p:spPr bwMode="auto">
            <a:xfrm>
              <a:off x="4562475" y="4738688"/>
              <a:ext cx="1243013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39" name="Arc 121"/>
            <p:cNvSpPr>
              <a:spLocks/>
            </p:cNvSpPr>
            <p:nvPr/>
          </p:nvSpPr>
          <p:spPr bwMode="auto">
            <a:xfrm>
              <a:off x="3595688" y="4683125"/>
              <a:ext cx="111125" cy="87313"/>
            </a:xfrm>
            <a:custGeom>
              <a:avLst/>
              <a:gdLst>
                <a:gd name="T0" fmla="*/ 2147483647 w 21600"/>
                <a:gd name="T1" fmla="*/ 2147483647 h 17255"/>
                <a:gd name="T2" fmla="*/ 2147483647 w 21600"/>
                <a:gd name="T3" fmla="*/ 0 h 17255"/>
                <a:gd name="T4" fmla="*/ 2147483647 w 21600"/>
                <a:gd name="T5" fmla="*/ 2147483647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3640" name="Line 122"/>
            <p:cNvSpPr>
              <a:spLocks noChangeShapeType="1"/>
            </p:cNvSpPr>
            <p:nvPr/>
          </p:nvSpPr>
          <p:spPr bwMode="auto">
            <a:xfrm>
              <a:off x="2032000" y="4738688"/>
              <a:ext cx="15875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41" name="Line 123"/>
            <p:cNvSpPr>
              <a:spLocks noChangeShapeType="1"/>
            </p:cNvSpPr>
            <p:nvPr/>
          </p:nvSpPr>
          <p:spPr bwMode="auto">
            <a:xfrm>
              <a:off x="3422650" y="5064125"/>
              <a:ext cx="555625" cy="476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42" name="Arc 124"/>
            <p:cNvSpPr>
              <a:spLocks/>
            </p:cNvSpPr>
            <p:nvPr/>
          </p:nvSpPr>
          <p:spPr bwMode="auto">
            <a:xfrm>
              <a:off x="3933825" y="4854575"/>
              <a:ext cx="88900" cy="111125"/>
            </a:xfrm>
            <a:custGeom>
              <a:avLst/>
              <a:gdLst>
                <a:gd name="T0" fmla="*/ 2147483647 w 17464"/>
                <a:gd name="T1" fmla="*/ 2147483647 h 21600"/>
                <a:gd name="T2" fmla="*/ 0 w 17464"/>
                <a:gd name="T3" fmla="*/ 2147483647 h 21600"/>
                <a:gd name="T4" fmla="*/ 2147483647 w 17464"/>
                <a:gd name="T5" fmla="*/ 0 h 21600"/>
                <a:gd name="T6" fmla="*/ 0 60000 65536"/>
                <a:gd name="T7" fmla="*/ 0 60000 65536"/>
                <a:gd name="T8" fmla="*/ 0 60000 65536"/>
                <a:gd name="T9" fmla="*/ 0 w 17464"/>
                <a:gd name="T10" fmla="*/ 0 h 21600"/>
                <a:gd name="T11" fmla="*/ 17464 w 1746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464" h="21600" fill="none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</a:path>
                <a:path w="17464" h="21600" stroke="0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  <a:lnTo>
                    <a:pt x="8852" y="0"/>
                  </a:lnTo>
                  <a:lnTo>
                    <a:pt x="17463" y="1980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3643" name="Line 125"/>
            <p:cNvSpPr>
              <a:spLocks noChangeShapeType="1"/>
            </p:cNvSpPr>
            <p:nvPr/>
          </p:nvSpPr>
          <p:spPr bwMode="auto">
            <a:xfrm flipV="1">
              <a:off x="3978275" y="4940300"/>
              <a:ext cx="0" cy="12858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44" name="Rectangle 126"/>
            <p:cNvSpPr>
              <a:spLocks noChangeArrowheads="1"/>
            </p:cNvSpPr>
            <p:nvPr/>
          </p:nvSpPr>
          <p:spPr bwMode="auto">
            <a:xfrm>
              <a:off x="3883025" y="5041900"/>
              <a:ext cx="426400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INR</a:t>
              </a:r>
            </a:p>
          </p:txBody>
        </p:sp>
        <p:sp>
          <p:nvSpPr>
            <p:cNvPr id="23645" name="Line 127"/>
            <p:cNvSpPr>
              <a:spLocks noChangeShapeType="1"/>
            </p:cNvSpPr>
            <p:nvPr/>
          </p:nvSpPr>
          <p:spPr bwMode="auto">
            <a:xfrm>
              <a:off x="4440238" y="4854575"/>
              <a:ext cx="0" cy="20955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46" name="Freeform 128"/>
            <p:cNvSpPr>
              <a:spLocks/>
            </p:cNvSpPr>
            <p:nvPr/>
          </p:nvSpPr>
          <p:spPr bwMode="auto">
            <a:xfrm>
              <a:off x="4375150" y="4765675"/>
              <a:ext cx="131763" cy="71438"/>
            </a:xfrm>
            <a:custGeom>
              <a:avLst/>
              <a:gdLst>
                <a:gd name="T0" fmla="*/ 0 w 89"/>
                <a:gd name="T1" fmla="*/ 2147483647 h 49"/>
                <a:gd name="T2" fmla="*/ 2147483647 w 89"/>
                <a:gd name="T3" fmla="*/ 0 h 49"/>
                <a:gd name="T4" fmla="*/ 2147483647 w 89"/>
                <a:gd name="T5" fmla="*/ 2147483647 h 49"/>
                <a:gd name="T6" fmla="*/ 0 60000 65536"/>
                <a:gd name="T7" fmla="*/ 0 60000 65536"/>
                <a:gd name="T8" fmla="*/ 0 60000 65536"/>
                <a:gd name="T9" fmla="*/ 0 w 89"/>
                <a:gd name="T10" fmla="*/ 0 h 49"/>
                <a:gd name="T11" fmla="*/ 89 w 89"/>
                <a:gd name="T12" fmla="*/ 49 h 4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9" h="49">
                  <a:moveTo>
                    <a:pt x="0" y="48"/>
                  </a:moveTo>
                  <a:lnTo>
                    <a:pt x="40" y="0"/>
                  </a:lnTo>
                  <a:lnTo>
                    <a:pt x="88" y="48"/>
                  </a:lnTo>
                </a:path>
              </a:pathLst>
            </a:custGeom>
            <a:noFill/>
            <a:ln w="254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3647" name="Rectangle 129"/>
            <p:cNvSpPr>
              <a:spLocks noChangeArrowheads="1"/>
            </p:cNvSpPr>
            <p:nvPr/>
          </p:nvSpPr>
          <p:spPr bwMode="auto">
            <a:xfrm>
              <a:off x="3440113" y="5394325"/>
              <a:ext cx="1123950" cy="24447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23648" name="Rectangle 130"/>
            <p:cNvSpPr>
              <a:spLocks noChangeArrowheads="1"/>
            </p:cNvSpPr>
            <p:nvPr/>
          </p:nvSpPr>
          <p:spPr bwMode="auto">
            <a:xfrm>
              <a:off x="3814763" y="5387975"/>
              <a:ext cx="323808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IR</a:t>
              </a:r>
            </a:p>
          </p:txBody>
        </p:sp>
        <p:sp>
          <p:nvSpPr>
            <p:cNvPr id="23649" name="Arc 131"/>
            <p:cNvSpPr>
              <a:spLocks/>
            </p:cNvSpPr>
            <p:nvPr/>
          </p:nvSpPr>
          <p:spPr bwMode="auto">
            <a:xfrm>
              <a:off x="5807075" y="5473700"/>
              <a:ext cx="112713" cy="87313"/>
            </a:xfrm>
            <a:custGeom>
              <a:avLst/>
              <a:gdLst>
                <a:gd name="T0" fmla="*/ 2147483647 w 21600"/>
                <a:gd name="T1" fmla="*/ 2147483647 h 17255"/>
                <a:gd name="T2" fmla="*/ 2147483647 w 21600"/>
                <a:gd name="T3" fmla="*/ 0 h 17255"/>
                <a:gd name="T4" fmla="*/ 2147483647 w 21600"/>
                <a:gd name="T5" fmla="*/ 2147483647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3650" name="Line 132"/>
            <p:cNvSpPr>
              <a:spLocks noChangeShapeType="1"/>
            </p:cNvSpPr>
            <p:nvPr/>
          </p:nvSpPr>
          <p:spPr bwMode="auto">
            <a:xfrm>
              <a:off x="4556125" y="5527675"/>
              <a:ext cx="1249363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51" name="Line 133"/>
            <p:cNvSpPr>
              <a:spLocks noChangeShapeType="1"/>
            </p:cNvSpPr>
            <p:nvPr/>
          </p:nvSpPr>
          <p:spPr bwMode="auto">
            <a:xfrm>
              <a:off x="2889250" y="5853113"/>
              <a:ext cx="746125" cy="635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52" name="Arc 134"/>
            <p:cNvSpPr>
              <a:spLocks/>
            </p:cNvSpPr>
            <p:nvPr/>
          </p:nvSpPr>
          <p:spPr bwMode="auto">
            <a:xfrm>
              <a:off x="3590925" y="5645150"/>
              <a:ext cx="90488" cy="109538"/>
            </a:xfrm>
            <a:custGeom>
              <a:avLst/>
              <a:gdLst>
                <a:gd name="T0" fmla="*/ 2147483647 w 17464"/>
                <a:gd name="T1" fmla="*/ 2147483647 h 21600"/>
                <a:gd name="T2" fmla="*/ 0 w 17464"/>
                <a:gd name="T3" fmla="*/ 2147483647 h 21600"/>
                <a:gd name="T4" fmla="*/ 2147483647 w 17464"/>
                <a:gd name="T5" fmla="*/ 0 h 21600"/>
                <a:gd name="T6" fmla="*/ 0 60000 65536"/>
                <a:gd name="T7" fmla="*/ 0 60000 65536"/>
                <a:gd name="T8" fmla="*/ 0 60000 65536"/>
                <a:gd name="T9" fmla="*/ 0 w 17464"/>
                <a:gd name="T10" fmla="*/ 0 h 21600"/>
                <a:gd name="T11" fmla="*/ 17464 w 1746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464" h="21600" fill="none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</a:path>
                <a:path w="17464" h="21600" stroke="0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  <a:lnTo>
                    <a:pt x="8852" y="0"/>
                  </a:lnTo>
                  <a:lnTo>
                    <a:pt x="17463" y="1980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3653" name="Line 135"/>
            <p:cNvSpPr>
              <a:spLocks noChangeShapeType="1"/>
            </p:cNvSpPr>
            <p:nvPr/>
          </p:nvSpPr>
          <p:spPr bwMode="auto">
            <a:xfrm flipV="1">
              <a:off x="3635375" y="5732463"/>
              <a:ext cx="0" cy="1270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54" name="Rectangle 136"/>
            <p:cNvSpPr>
              <a:spLocks noChangeArrowheads="1"/>
            </p:cNvSpPr>
            <p:nvPr/>
          </p:nvSpPr>
          <p:spPr bwMode="auto">
            <a:xfrm>
              <a:off x="3621088" y="5788025"/>
              <a:ext cx="371898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LD</a:t>
              </a:r>
            </a:p>
          </p:txBody>
        </p:sp>
        <p:sp>
          <p:nvSpPr>
            <p:cNvPr id="23655" name="Line 137"/>
            <p:cNvSpPr>
              <a:spLocks noChangeShapeType="1"/>
            </p:cNvSpPr>
            <p:nvPr/>
          </p:nvSpPr>
          <p:spPr bwMode="auto">
            <a:xfrm>
              <a:off x="4440238" y="5649913"/>
              <a:ext cx="0" cy="32543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56" name="Freeform 138"/>
            <p:cNvSpPr>
              <a:spLocks/>
            </p:cNvSpPr>
            <p:nvPr/>
          </p:nvSpPr>
          <p:spPr bwMode="auto">
            <a:xfrm>
              <a:off x="4379913" y="5557838"/>
              <a:ext cx="131762" cy="71437"/>
            </a:xfrm>
            <a:custGeom>
              <a:avLst/>
              <a:gdLst>
                <a:gd name="T0" fmla="*/ 0 w 89"/>
                <a:gd name="T1" fmla="*/ 2147483647 h 49"/>
                <a:gd name="T2" fmla="*/ 2147483647 w 89"/>
                <a:gd name="T3" fmla="*/ 0 h 49"/>
                <a:gd name="T4" fmla="*/ 2147483647 w 89"/>
                <a:gd name="T5" fmla="*/ 2147483647 h 49"/>
                <a:gd name="T6" fmla="*/ 0 60000 65536"/>
                <a:gd name="T7" fmla="*/ 0 60000 65536"/>
                <a:gd name="T8" fmla="*/ 0 60000 65536"/>
                <a:gd name="T9" fmla="*/ 0 w 89"/>
                <a:gd name="T10" fmla="*/ 0 h 49"/>
                <a:gd name="T11" fmla="*/ 89 w 89"/>
                <a:gd name="T12" fmla="*/ 49 h 4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9" h="49">
                  <a:moveTo>
                    <a:pt x="0" y="48"/>
                  </a:moveTo>
                  <a:lnTo>
                    <a:pt x="40" y="0"/>
                  </a:lnTo>
                  <a:lnTo>
                    <a:pt x="88" y="48"/>
                  </a:lnTo>
                </a:path>
              </a:pathLst>
            </a:custGeom>
            <a:noFill/>
            <a:ln w="254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3657" name="Line 139"/>
            <p:cNvSpPr>
              <a:spLocks noChangeShapeType="1"/>
            </p:cNvSpPr>
            <p:nvPr/>
          </p:nvSpPr>
          <p:spPr bwMode="auto">
            <a:xfrm>
              <a:off x="4445000" y="4400550"/>
              <a:ext cx="538163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58" name="Line 140"/>
            <p:cNvSpPr>
              <a:spLocks noChangeShapeType="1"/>
            </p:cNvSpPr>
            <p:nvPr/>
          </p:nvSpPr>
          <p:spPr bwMode="auto">
            <a:xfrm>
              <a:off x="4425950" y="5064125"/>
              <a:ext cx="53975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59" name="Line 141"/>
            <p:cNvSpPr>
              <a:spLocks noChangeShapeType="1"/>
            </p:cNvSpPr>
            <p:nvPr/>
          </p:nvSpPr>
          <p:spPr bwMode="auto">
            <a:xfrm>
              <a:off x="4983163" y="4406900"/>
              <a:ext cx="0" cy="155733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60" name="Line 142"/>
            <p:cNvSpPr>
              <a:spLocks noChangeShapeType="1"/>
            </p:cNvSpPr>
            <p:nvPr/>
          </p:nvSpPr>
          <p:spPr bwMode="auto">
            <a:xfrm>
              <a:off x="4445000" y="5981700"/>
              <a:ext cx="6508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61" name="Rectangle 143"/>
            <p:cNvSpPr>
              <a:spLocks noChangeArrowheads="1"/>
            </p:cNvSpPr>
            <p:nvPr/>
          </p:nvSpPr>
          <p:spPr bwMode="auto">
            <a:xfrm>
              <a:off x="5151438" y="5853113"/>
              <a:ext cx="567464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Clock</a:t>
              </a:r>
            </a:p>
          </p:txBody>
        </p:sp>
        <p:sp>
          <p:nvSpPr>
            <p:cNvPr id="23662" name="Rectangle 144"/>
            <p:cNvSpPr>
              <a:spLocks noChangeArrowheads="1"/>
            </p:cNvSpPr>
            <p:nvPr/>
          </p:nvSpPr>
          <p:spPr bwMode="auto">
            <a:xfrm>
              <a:off x="5842000" y="3962400"/>
              <a:ext cx="26129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23663" name="Rectangle 145"/>
            <p:cNvSpPr>
              <a:spLocks noChangeArrowheads="1"/>
            </p:cNvSpPr>
            <p:nvPr/>
          </p:nvSpPr>
          <p:spPr bwMode="auto">
            <a:xfrm>
              <a:off x="5853113" y="4624388"/>
              <a:ext cx="26129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23664" name="Rectangle 146"/>
            <p:cNvSpPr>
              <a:spLocks noChangeArrowheads="1"/>
            </p:cNvSpPr>
            <p:nvPr/>
          </p:nvSpPr>
          <p:spPr bwMode="auto">
            <a:xfrm>
              <a:off x="5861050" y="5414963"/>
              <a:ext cx="26129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23665" name="Line 147"/>
            <p:cNvSpPr>
              <a:spLocks noChangeShapeType="1"/>
            </p:cNvSpPr>
            <p:nvPr/>
          </p:nvSpPr>
          <p:spPr bwMode="auto">
            <a:xfrm flipH="1">
              <a:off x="2017713" y="6121400"/>
              <a:ext cx="391636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66" name="Rectangle 148"/>
            <p:cNvSpPr>
              <a:spLocks noChangeArrowheads="1"/>
            </p:cNvSpPr>
            <p:nvPr/>
          </p:nvSpPr>
          <p:spPr bwMode="auto">
            <a:xfrm>
              <a:off x="3484563" y="6061075"/>
              <a:ext cx="1085234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Common bus</a:t>
              </a:r>
            </a:p>
          </p:txBody>
        </p:sp>
        <p:sp>
          <p:nvSpPr>
            <p:cNvPr id="23667" name="Line 149"/>
            <p:cNvSpPr>
              <a:spLocks noChangeShapeType="1"/>
            </p:cNvSpPr>
            <p:nvPr/>
          </p:nvSpPr>
          <p:spPr bwMode="auto">
            <a:xfrm flipH="1">
              <a:off x="1897063" y="6249988"/>
              <a:ext cx="417671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68" name="Line 150"/>
            <p:cNvSpPr>
              <a:spLocks noChangeShapeType="1"/>
            </p:cNvSpPr>
            <p:nvPr/>
          </p:nvSpPr>
          <p:spPr bwMode="auto">
            <a:xfrm>
              <a:off x="2027238" y="2897188"/>
              <a:ext cx="0" cy="323056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69" name="Line 151"/>
            <p:cNvSpPr>
              <a:spLocks noChangeShapeType="1"/>
            </p:cNvSpPr>
            <p:nvPr/>
          </p:nvSpPr>
          <p:spPr bwMode="auto">
            <a:xfrm>
              <a:off x="1895475" y="2897188"/>
              <a:ext cx="0" cy="33655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70" name="Oval 152"/>
            <p:cNvSpPr>
              <a:spLocks noChangeArrowheads="1"/>
            </p:cNvSpPr>
            <p:nvPr/>
          </p:nvSpPr>
          <p:spPr bwMode="auto">
            <a:xfrm>
              <a:off x="1901825" y="2854325"/>
              <a:ext cx="117475" cy="71438"/>
            </a:xfrm>
            <a:prstGeom prst="ellips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23671" name="Rectangle 153"/>
            <p:cNvSpPr>
              <a:spLocks noChangeArrowheads="1"/>
            </p:cNvSpPr>
            <p:nvPr/>
          </p:nvSpPr>
          <p:spPr bwMode="auto">
            <a:xfrm>
              <a:off x="2068513" y="1906588"/>
              <a:ext cx="347853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T1</a:t>
              </a:r>
            </a:p>
          </p:txBody>
        </p:sp>
        <p:sp>
          <p:nvSpPr>
            <p:cNvPr id="23672" name="Rectangle 154"/>
            <p:cNvSpPr>
              <a:spLocks noChangeArrowheads="1"/>
            </p:cNvSpPr>
            <p:nvPr/>
          </p:nvSpPr>
          <p:spPr bwMode="auto">
            <a:xfrm>
              <a:off x="2068513" y="2287588"/>
              <a:ext cx="347853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T0</a:t>
              </a:r>
            </a:p>
          </p:txBody>
        </p:sp>
        <p:sp>
          <p:nvSpPr>
            <p:cNvPr id="23673" name="Arc 155"/>
            <p:cNvSpPr>
              <a:spLocks/>
            </p:cNvSpPr>
            <p:nvPr/>
          </p:nvSpPr>
          <p:spPr bwMode="auto">
            <a:xfrm>
              <a:off x="3322638" y="5473700"/>
              <a:ext cx="112712" cy="87313"/>
            </a:xfrm>
            <a:custGeom>
              <a:avLst/>
              <a:gdLst>
                <a:gd name="T0" fmla="*/ 2147483647 w 21600"/>
                <a:gd name="T1" fmla="*/ 2147483647 h 17255"/>
                <a:gd name="T2" fmla="*/ 2147483647 w 21600"/>
                <a:gd name="T3" fmla="*/ 0 h 17255"/>
                <a:gd name="T4" fmla="*/ 2147483647 w 21600"/>
                <a:gd name="T5" fmla="*/ 2147483647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3674" name="Line 156"/>
            <p:cNvSpPr>
              <a:spLocks noChangeShapeType="1"/>
            </p:cNvSpPr>
            <p:nvPr/>
          </p:nvSpPr>
          <p:spPr bwMode="auto">
            <a:xfrm>
              <a:off x="2032000" y="5527675"/>
              <a:ext cx="129063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75" name="Oval 157"/>
            <p:cNvSpPr>
              <a:spLocks noChangeArrowheads="1"/>
            </p:cNvSpPr>
            <p:nvPr/>
          </p:nvSpPr>
          <p:spPr bwMode="auto">
            <a:xfrm>
              <a:off x="4683125" y="2012950"/>
              <a:ext cx="46038" cy="33338"/>
            </a:xfrm>
            <a:prstGeom prst="ellipse">
              <a:avLst/>
            </a:prstGeom>
            <a:solidFill>
              <a:srgbClr val="000000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23676" name="Oval 158"/>
            <p:cNvSpPr>
              <a:spLocks noChangeArrowheads="1"/>
            </p:cNvSpPr>
            <p:nvPr/>
          </p:nvSpPr>
          <p:spPr bwMode="auto">
            <a:xfrm>
              <a:off x="4683125" y="2349500"/>
              <a:ext cx="46038" cy="34925"/>
            </a:xfrm>
            <a:prstGeom prst="ellipse">
              <a:avLst/>
            </a:prstGeom>
            <a:solidFill>
              <a:srgbClr val="000000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23677" name="Oval 159"/>
            <p:cNvSpPr>
              <a:spLocks noChangeArrowheads="1"/>
            </p:cNvSpPr>
            <p:nvPr/>
          </p:nvSpPr>
          <p:spPr bwMode="auto">
            <a:xfrm>
              <a:off x="2871788" y="3732213"/>
              <a:ext cx="47625" cy="34925"/>
            </a:xfrm>
            <a:prstGeom prst="ellipse">
              <a:avLst/>
            </a:prstGeom>
            <a:solidFill>
              <a:srgbClr val="000000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23678" name="Oval 160"/>
            <p:cNvSpPr>
              <a:spLocks noChangeArrowheads="1"/>
            </p:cNvSpPr>
            <p:nvPr/>
          </p:nvSpPr>
          <p:spPr bwMode="auto">
            <a:xfrm>
              <a:off x="2884488" y="5116513"/>
              <a:ext cx="46037" cy="33337"/>
            </a:xfrm>
            <a:prstGeom prst="ellipse">
              <a:avLst/>
            </a:prstGeom>
            <a:solidFill>
              <a:srgbClr val="000000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23679" name="Oval 161"/>
            <p:cNvSpPr>
              <a:spLocks noChangeArrowheads="1"/>
            </p:cNvSpPr>
            <p:nvPr/>
          </p:nvSpPr>
          <p:spPr bwMode="auto">
            <a:xfrm>
              <a:off x="2878138" y="2012950"/>
              <a:ext cx="47625" cy="33338"/>
            </a:xfrm>
            <a:prstGeom prst="ellipse">
              <a:avLst/>
            </a:prstGeom>
            <a:solidFill>
              <a:srgbClr val="000000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23680" name="Oval 162"/>
            <p:cNvSpPr>
              <a:spLocks noChangeArrowheads="1"/>
            </p:cNvSpPr>
            <p:nvPr/>
          </p:nvSpPr>
          <p:spPr bwMode="auto">
            <a:xfrm>
              <a:off x="2682875" y="2408238"/>
              <a:ext cx="47625" cy="34925"/>
            </a:xfrm>
            <a:prstGeom prst="ellipse">
              <a:avLst/>
            </a:prstGeom>
            <a:solidFill>
              <a:srgbClr val="000000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23681" name="Oval 163"/>
            <p:cNvSpPr>
              <a:spLocks noChangeArrowheads="1"/>
            </p:cNvSpPr>
            <p:nvPr/>
          </p:nvSpPr>
          <p:spPr bwMode="auto">
            <a:xfrm>
              <a:off x="5421313" y="4059238"/>
              <a:ext cx="47625" cy="33337"/>
            </a:xfrm>
            <a:prstGeom prst="ellipse">
              <a:avLst/>
            </a:prstGeom>
            <a:solidFill>
              <a:srgbClr val="000000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23682" name="Oval 164"/>
            <p:cNvSpPr>
              <a:spLocks noChangeArrowheads="1"/>
            </p:cNvSpPr>
            <p:nvPr/>
          </p:nvSpPr>
          <p:spPr bwMode="auto">
            <a:xfrm>
              <a:off x="4953000" y="5054600"/>
              <a:ext cx="49213" cy="33338"/>
            </a:xfrm>
            <a:prstGeom prst="ellipse">
              <a:avLst/>
            </a:prstGeom>
            <a:solidFill>
              <a:srgbClr val="000000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23683" name="Oval 165"/>
            <p:cNvSpPr>
              <a:spLocks noChangeArrowheads="1"/>
            </p:cNvSpPr>
            <p:nvPr/>
          </p:nvSpPr>
          <p:spPr bwMode="auto">
            <a:xfrm>
              <a:off x="4953000" y="5964238"/>
              <a:ext cx="49213" cy="33337"/>
            </a:xfrm>
            <a:prstGeom prst="ellipse">
              <a:avLst/>
            </a:prstGeom>
            <a:solidFill>
              <a:srgbClr val="000000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23684" name="Rectangle 167"/>
            <p:cNvSpPr>
              <a:spLocks noChangeArrowheads="1"/>
            </p:cNvSpPr>
            <p:nvPr/>
          </p:nvSpPr>
          <p:spPr bwMode="auto">
            <a:xfrm>
              <a:off x="3011488" y="1089025"/>
              <a:ext cx="5327650" cy="69373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2297561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4580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582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Flow Chart (Instruction Cycle)</a:t>
            </a:r>
          </a:p>
        </p:txBody>
      </p:sp>
      <p:grpSp>
        <p:nvGrpSpPr>
          <p:cNvPr id="24583" name="Group 131"/>
          <p:cNvGrpSpPr>
            <a:grpSpLocks/>
          </p:cNvGrpSpPr>
          <p:nvPr/>
        </p:nvGrpSpPr>
        <p:grpSpPr bwMode="auto">
          <a:xfrm>
            <a:off x="2913064" y="1323976"/>
            <a:ext cx="6435681" cy="5229225"/>
            <a:chOff x="1389063" y="857250"/>
            <a:chExt cx="5953080" cy="4848225"/>
          </a:xfrm>
        </p:grpSpPr>
        <p:sp>
          <p:nvSpPr>
            <p:cNvPr id="10" name="Rectangle 3"/>
            <p:cNvSpPr>
              <a:spLocks noChangeArrowheads="1"/>
            </p:cNvSpPr>
            <p:nvPr/>
          </p:nvSpPr>
          <p:spPr bwMode="auto">
            <a:xfrm>
              <a:off x="1389063" y="5547989"/>
              <a:ext cx="35243" cy="15748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2" name="Rectangle 98"/>
            <p:cNvSpPr>
              <a:spLocks noChangeArrowheads="1"/>
            </p:cNvSpPr>
            <p:nvPr/>
          </p:nvSpPr>
          <p:spPr bwMode="auto">
            <a:xfrm>
              <a:off x="6283426" y="3427074"/>
              <a:ext cx="1058717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= 0 (direct)</a:t>
              </a:r>
            </a:p>
          </p:txBody>
        </p:sp>
        <p:sp>
          <p:nvSpPr>
            <p:cNvPr id="14" name="Rectangle 4"/>
            <p:cNvSpPr>
              <a:spLocks noChangeArrowheads="1"/>
            </p:cNvSpPr>
            <p:nvPr/>
          </p:nvSpPr>
          <p:spPr bwMode="auto">
            <a:xfrm>
              <a:off x="3687196" y="857250"/>
              <a:ext cx="762159" cy="29296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70000"/>
                </a:lnSpc>
                <a:defRPr/>
              </a:pPr>
              <a:r>
                <a:rPr lang="en-US" altLang="ko-KR" sz="1050" b="1" dirty="0">
                  <a:solidFill>
                    <a:srgbClr val="000000"/>
                  </a:solidFill>
                  <a:cs typeface="Arial" pitchFamily="34" charset="0"/>
                </a:rPr>
                <a:t>Start</a:t>
              </a:r>
            </a:p>
            <a:p>
              <a:pPr defTabSz="762000">
                <a:lnSpc>
                  <a:spcPct val="70000"/>
                </a:lnSpc>
                <a:defRPr/>
              </a:pPr>
              <a:r>
                <a:rPr lang="en-US" altLang="ko-KR" sz="1050" b="1" dirty="0">
                  <a:solidFill>
                    <a:srgbClr val="000000"/>
                  </a:solidFill>
                  <a:cs typeface="Arial" pitchFamily="34" charset="0"/>
                </a:rPr>
                <a:t>SC &lt;-- 0</a:t>
              </a:r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3588810" y="869025"/>
              <a:ext cx="801777" cy="289952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6" name="Rectangle 9"/>
            <p:cNvSpPr>
              <a:spLocks noChangeArrowheads="1"/>
            </p:cNvSpPr>
            <p:nvPr/>
          </p:nvSpPr>
          <p:spPr bwMode="auto">
            <a:xfrm>
              <a:off x="3488955" y="1431266"/>
              <a:ext cx="317320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AR</a:t>
              </a:r>
            </a:p>
          </p:txBody>
        </p:sp>
        <p:sp>
          <p:nvSpPr>
            <p:cNvPr id="17" name="Rectangle 10"/>
            <p:cNvSpPr>
              <a:spLocks noChangeArrowheads="1"/>
            </p:cNvSpPr>
            <p:nvPr/>
          </p:nvSpPr>
          <p:spPr bwMode="auto">
            <a:xfrm>
              <a:off x="3797331" y="1431266"/>
              <a:ext cx="391459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 dirty="0">
                  <a:solidFill>
                    <a:srgbClr val="000000"/>
                  </a:solidFill>
                  <a:cs typeface="Arial" pitchFamily="34" charset="0"/>
                </a:rPr>
                <a:t>&lt;--</a:t>
              </a:r>
            </a:p>
          </p:txBody>
        </p:sp>
        <p:sp>
          <p:nvSpPr>
            <p:cNvPr id="18" name="Rectangle 11"/>
            <p:cNvSpPr>
              <a:spLocks noChangeArrowheads="1"/>
            </p:cNvSpPr>
            <p:nvPr/>
          </p:nvSpPr>
          <p:spPr bwMode="auto">
            <a:xfrm>
              <a:off x="4041094" y="1431266"/>
              <a:ext cx="317320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PC</a:t>
              </a:r>
            </a:p>
          </p:txBody>
        </p:sp>
        <p:sp>
          <p:nvSpPr>
            <p:cNvPr id="19" name="Rectangle 12"/>
            <p:cNvSpPr>
              <a:spLocks noChangeArrowheads="1"/>
            </p:cNvSpPr>
            <p:nvPr/>
          </p:nvSpPr>
          <p:spPr bwMode="auto">
            <a:xfrm>
              <a:off x="3453712" y="1444513"/>
              <a:ext cx="1020576" cy="203113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20" name="Arc 13"/>
            <p:cNvSpPr>
              <a:spLocks/>
            </p:cNvSpPr>
            <p:nvPr/>
          </p:nvSpPr>
          <p:spPr bwMode="auto">
            <a:xfrm>
              <a:off x="3954455" y="1335597"/>
              <a:ext cx="93981" cy="95669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21" name="Line 14"/>
            <p:cNvSpPr>
              <a:spLocks noChangeShapeType="1"/>
            </p:cNvSpPr>
            <p:nvPr/>
          </p:nvSpPr>
          <p:spPr bwMode="auto">
            <a:xfrm>
              <a:off x="3999978" y="1153089"/>
              <a:ext cx="0" cy="19133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22" name="Arc 15"/>
            <p:cNvSpPr>
              <a:spLocks/>
            </p:cNvSpPr>
            <p:nvPr/>
          </p:nvSpPr>
          <p:spPr bwMode="auto">
            <a:xfrm>
              <a:off x="3537414" y="1335597"/>
              <a:ext cx="92513" cy="95669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23" name="Line 16"/>
            <p:cNvSpPr>
              <a:spLocks noChangeShapeType="1"/>
            </p:cNvSpPr>
            <p:nvPr/>
          </p:nvSpPr>
          <p:spPr bwMode="auto">
            <a:xfrm flipV="1">
              <a:off x="3582936" y="1253174"/>
              <a:ext cx="0" cy="11185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24" name="Rectangle 17"/>
            <p:cNvSpPr>
              <a:spLocks noChangeArrowheads="1"/>
            </p:cNvSpPr>
            <p:nvPr/>
          </p:nvSpPr>
          <p:spPr bwMode="auto">
            <a:xfrm>
              <a:off x="4436109" y="1320879"/>
              <a:ext cx="317320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T0</a:t>
              </a:r>
            </a:p>
          </p:txBody>
        </p:sp>
        <p:sp>
          <p:nvSpPr>
            <p:cNvPr id="25" name="Rectangle 18"/>
            <p:cNvSpPr>
              <a:spLocks noChangeArrowheads="1"/>
            </p:cNvSpPr>
            <p:nvPr/>
          </p:nvSpPr>
          <p:spPr bwMode="auto">
            <a:xfrm>
              <a:off x="2935347" y="1886063"/>
              <a:ext cx="317320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IR</a:t>
              </a:r>
            </a:p>
          </p:txBody>
        </p:sp>
        <p:sp>
          <p:nvSpPr>
            <p:cNvPr id="26" name="Rectangle 19"/>
            <p:cNvSpPr>
              <a:spLocks noChangeArrowheads="1"/>
            </p:cNvSpPr>
            <p:nvPr/>
          </p:nvSpPr>
          <p:spPr bwMode="auto">
            <a:xfrm>
              <a:off x="3168832" y="1887535"/>
              <a:ext cx="391459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 dirty="0">
                  <a:solidFill>
                    <a:srgbClr val="000000"/>
                  </a:solidFill>
                  <a:cs typeface="Arial" pitchFamily="34" charset="0"/>
                </a:rPr>
                <a:t>&lt;--</a:t>
              </a:r>
            </a:p>
          </p:txBody>
        </p:sp>
        <p:sp>
          <p:nvSpPr>
            <p:cNvPr id="27" name="Rectangle 20"/>
            <p:cNvSpPr>
              <a:spLocks noChangeArrowheads="1"/>
            </p:cNvSpPr>
            <p:nvPr/>
          </p:nvSpPr>
          <p:spPr bwMode="auto">
            <a:xfrm>
              <a:off x="3414063" y="1886063"/>
              <a:ext cx="613878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M[AR],</a:t>
              </a:r>
            </a:p>
          </p:txBody>
        </p:sp>
        <p:sp>
          <p:nvSpPr>
            <p:cNvPr id="28" name="Rectangle 21"/>
            <p:cNvSpPr>
              <a:spLocks noChangeArrowheads="1"/>
            </p:cNvSpPr>
            <p:nvPr/>
          </p:nvSpPr>
          <p:spPr bwMode="auto">
            <a:xfrm>
              <a:off x="3980887" y="1886063"/>
              <a:ext cx="317320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PC</a:t>
              </a:r>
            </a:p>
          </p:txBody>
        </p:sp>
        <p:sp>
          <p:nvSpPr>
            <p:cNvPr id="29" name="Rectangle 22"/>
            <p:cNvSpPr>
              <a:spLocks noChangeArrowheads="1"/>
            </p:cNvSpPr>
            <p:nvPr/>
          </p:nvSpPr>
          <p:spPr bwMode="auto">
            <a:xfrm>
              <a:off x="4233462" y="1887535"/>
              <a:ext cx="391459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 dirty="0">
                  <a:solidFill>
                    <a:srgbClr val="000000"/>
                  </a:solidFill>
                  <a:cs typeface="Arial" pitchFamily="34" charset="0"/>
                </a:rPr>
                <a:t>&lt;--</a:t>
              </a:r>
            </a:p>
          </p:txBody>
        </p:sp>
        <p:sp>
          <p:nvSpPr>
            <p:cNvPr id="30" name="Rectangle 23"/>
            <p:cNvSpPr>
              <a:spLocks noChangeArrowheads="1"/>
            </p:cNvSpPr>
            <p:nvPr/>
          </p:nvSpPr>
          <p:spPr bwMode="auto">
            <a:xfrm>
              <a:off x="4461073" y="1886063"/>
              <a:ext cx="613878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PC + 1</a:t>
              </a:r>
            </a:p>
          </p:txBody>
        </p:sp>
        <p:sp>
          <p:nvSpPr>
            <p:cNvPr id="31" name="Rectangle 24"/>
            <p:cNvSpPr>
              <a:spLocks noChangeArrowheads="1"/>
            </p:cNvSpPr>
            <p:nvPr/>
          </p:nvSpPr>
          <p:spPr bwMode="auto">
            <a:xfrm>
              <a:off x="2961779" y="1899309"/>
              <a:ext cx="2201216" cy="213417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32" name="Arc 25"/>
            <p:cNvSpPr>
              <a:spLocks/>
            </p:cNvSpPr>
            <p:nvPr/>
          </p:nvSpPr>
          <p:spPr bwMode="auto">
            <a:xfrm>
              <a:off x="3954455" y="1788922"/>
              <a:ext cx="93981" cy="97141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33" name="Line 26"/>
            <p:cNvSpPr>
              <a:spLocks noChangeShapeType="1"/>
            </p:cNvSpPr>
            <p:nvPr/>
          </p:nvSpPr>
          <p:spPr bwMode="auto">
            <a:xfrm>
              <a:off x="3999978" y="1666759"/>
              <a:ext cx="0" cy="13246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34" name="Rectangle 27"/>
            <p:cNvSpPr>
              <a:spLocks noChangeArrowheads="1"/>
            </p:cNvSpPr>
            <p:nvPr/>
          </p:nvSpPr>
          <p:spPr bwMode="auto">
            <a:xfrm>
              <a:off x="5101320" y="1713858"/>
              <a:ext cx="317320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T1</a:t>
              </a:r>
            </a:p>
          </p:txBody>
        </p:sp>
        <p:sp>
          <p:nvSpPr>
            <p:cNvPr id="35" name="Rectangle 28"/>
            <p:cNvSpPr>
              <a:spLocks noChangeArrowheads="1"/>
            </p:cNvSpPr>
            <p:nvPr/>
          </p:nvSpPr>
          <p:spPr bwMode="auto">
            <a:xfrm>
              <a:off x="2935347" y="2514536"/>
              <a:ext cx="317320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AR</a:t>
              </a:r>
            </a:p>
          </p:txBody>
        </p:sp>
        <p:sp>
          <p:nvSpPr>
            <p:cNvPr id="36" name="Rectangle 29"/>
            <p:cNvSpPr>
              <a:spLocks noChangeArrowheads="1"/>
            </p:cNvSpPr>
            <p:nvPr/>
          </p:nvSpPr>
          <p:spPr bwMode="auto">
            <a:xfrm>
              <a:off x="3207011" y="2514536"/>
              <a:ext cx="391459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 dirty="0">
                  <a:solidFill>
                    <a:srgbClr val="000000"/>
                  </a:solidFill>
                  <a:cs typeface="Arial" pitchFamily="34" charset="0"/>
                </a:rPr>
                <a:t>&lt;--</a:t>
              </a:r>
            </a:p>
          </p:txBody>
        </p:sp>
        <p:sp>
          <p:nvSpPr>
            <p:cNvPr id="37" name="Rectangle 30"/>
            <p:cNvSpPr>
              <a:spLocks noChangeArrowheads="1"/>
            </p:cNvSpPr>
            <p:nvPr/>
          </p:nvSpPr>
          <p:spPr bwMode="auto">
            <a:xfrm>
              <a:off x="3414063" y="2514536"/>
              <a:ext cx="836298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IR(0-11),</a:t>
              </a:r>
            </a:p>
          </p:txBody>
        </p:sp>
        <p:sp>
          <p:nvSpPr>
            <p:cNvPr id="38" name="Rectangle 31"/>
            <p:cNvSpPr>
              <a:spLocks noChangeArrowheads="1"/>
            </p:cNvSpPr>
            <p:nvPr/>
          </p:nvSpPr>
          <p:spPr bwMode="auto">
            <a:xfrm>
              <a:off x="4176192" y="2514536"/>
              <a:ext cx="243179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I</a:t>
              </a:r>
            </a:p>
          </p:txBody>
        </p:sp>
        <p:sp>
          <p:nvSpPr>
            <p:cNvPr id="39" name="Rectangle 32"/>
            <p:cNvSpPr>
              <a:spLocks noChangeArrowheads="1"/>
            </p:cNvSpPr>
            <p:nvPr/>
          </p:nvSpPr>
          <p:spPr bwMode="auto">
            <a:xfrm>
              <a:off x="4259894" y="2505705"/>
              <a:ext cx="391459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 dirty="0">
                  <a:solidFill>
                    <a:srgbClr val="000000"/>
                  </a:solidFill>
                  <a:cs typeface="Arial" pitchFamily="34" charset="0"/>
                </a:rPr>
                <a:t>&lt;--</a:t>
              </a:r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4461073" y="2514536"/>
              <a:ext cx="613878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IR(15)</a:t>
              </a:r>
            </a:p>
          </p:txBody>
        </p:sp>
        <p:sp>
          <p:nvSpPr>
            <p:cNvPr id="41" name="Rectangle 34"/>
            <p:cNvSpPr>
              <a:spLocks noChangeArrowheads="1"/>
            </p:cNvSpPr>
            <p:nvPr/>
          </p:nvSpPr>
          <p:spPr bwMode="auto">
            <a:xfrm>
              <a:off x="2800249" y="2352635"/>
              <a:ext cx="2170815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Decode Opcode in IR(12-14),</a:t>
              </a:r>
            </a:p>
          </p:txBody>
        </p:sp>
        <p:sp>
          <p:nvSpPr>
            <p:cNvPr id="42" name="Rectangle 35"/>
            <p:cNvSpPr>
              <a:spLocks noChangeArrowheads="1"/>
            </p:cNvSpPr>
            <p:nvPr/>
          </p:nvSpPr>
          <p:spPr bwMode="auto">
            <a:xfrm>
              <a:off x="2753258" y="2355578"/>
              <a:ext cx="2556582" cy="382677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43" name="Arc 36"/>
            <p:cNvSpPr>
              <a:spLocks/>
            </p:cNvSpPr>
            <p:nvPr/>
          </p:nvSpPr>
          <p:spPr bwMode="auto">
            <a:xfrm>
              <a:off x="3954455" y="2245191"/>
              <a:ext cx="93981" cy="95669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44" name="Line 37"/>
            <p:cNvSpPr>
              <a:spLocks noChangeShapeType="1"/>
            </p:cNvSpPr>
            <p:nvPr/>
          </p:nvSpPr>
          <p:spPr bwMode="auto">
            <a:xfrm>
              <a:off x="3999978" y="2133332"/>
              <a:ext cx="0" cy="12069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45" name="Rectangle 38"/>
            <p:cNvSpPr>
              <a:spLocks noChangeArrowheads="1"/>
            </p:cNvSpPr>
            <p:nvPr/>
          </p:nvSpPr>
          <p:spPr bwMode="auto">
            <a:xfrm>
              <a:off x="5234949" y="2171599"/>
              <a:ext cx="317320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T2</a:t>
              </a:r>
            </a:p>
          </p:txBody>
        </p:sp>
        <p:sp>
          <p:nvSpPr>
            <p:cNvPr id="46" name="Arc 39"/>
            <p:cNvSpPr>
              <a:spLocks/>
            </p:cNvSpPr>
            <p:nvPr/>
          </p:nvSpPr>
          <p:spPr bwMode="auto">
            <a:xfrm>
              <a:off x="3967672" y="2932538"/>
              <a:ext cx="92512" cy="97141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47" name="Line 40"/>
            <p:cNvSpPr>
              <a:spLocks noChangeShapeType="1"/>
            </p:cNvSpPr>
            <p:nvPr/>
          </p:nvSpPr>
          <p:spPr bwMode="auto">
            <a:xfrm>
              <a:off x="4013193" y="2750030"/>
              <a:ext cx="0" cy="211944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grpSp>
          <p:nvGrpSpPr>
            <p:cNvPr id="24620" name="Group 127"/>
            <p:cNvGrpSpPr>
              <a:grpSpLocks/>
            </p:cNvGrpSpPr>
            <p:nvPr/>
          </p:nvGrpSpPr>
          <p:grpSpPr bwMode="auto">
            <a:xfrm>
              <a:off x="3730625" y="3006725"/>
              <a:ext cx="515938" cy="420688"/>
              <a:chOff x="1696" y="3024"/>
              <a:chExt cx="376" cy="368"/>
            </a:xfrm>
          </p:grpSpPr>
          <p:sp>
            <p:nvSpPr>
              <p:cNvPr id="49" name="Line 41"/>
              <p:cNvSpPr>
                <a:spLocks noChangeShapeType="1"/>
              </p:cNvSpPr>
              <p:nvPr/>
            </p:nvSpPr>
            <p:spPr bwMode="auto">
              <a:xfrm flipH="1">
                <a:off x="1696" y="3021"/>
                <a:ext cx="208" cy="17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050" b="1">
                  <a:cs typeface="Arial" pitchFamily="34" charset="0"/>
                </a:endParaRPr>
              </a:p>
            </p:txBody>
          </p:sp>
          <p:sp>
            <p:nvSpPr>
              <p:cNvPr id="50" name="Line 42"/>
              <p:cNvSpPr>
                <a:spLocks noChangeShapeType="1"/>
              </p:cNvSpPr>
              <p:nvPr/>
            </p:nvSpPr>
            <p:spPr bwMode="auto">
              <a:xfrm>
                <a:off x="1900" y="3021"/>
                <a:ext cx="180" cy="17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050" b="1">
                  <a:cs typeface="Arial" pitchFamily="34" charset="0"/>
                </a:endParaRPr>
              </a:p>
            </p:txBody>
          </p:sp>
          <p:sp>
            <p:nvSpPr>
              <p:cNvPr id="51" name="Line 43"/>
              <p:cNvSpPr>
                <a:spLocks noChangeShapeType="1"/>
              </p:cNvSpPr>
              <p:nvPr/>
            </p:nvSpPr>
            <p:spPr bwMode="auto">
              <a:xfrm flipH="1" flipV="1">
                <a:off x="1696" y="3183"/>
                <a:ext cx="208" cy="209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050" b="1">
                  <a:cs typeface="Arial" pitchFamily="34" charset="0"/>
                </a:endParaRPr>
              </a:p>
            </p:txBody>
          </p:sp>
          <p:sp>
            <p:nvSpPr>
              <p:cNvPr id="52" name="Line 44"/>
              <p:cNvSpPr>
                <a:spLocks noChangeShapeType="1"/>
              </p:cNvSpPr>
              <p:nvPr/>
            </p:nvSpPr>
            <p:spPr bwMode="auto">
              <a:xfrm flipV="1">
                <a:off x="1900" y="3183"/>
                <a:ext cx="180" cy="209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050" b="1">
                  <a:cs typeface="Arial" pitchFamily="34" charset="0"/>
                </a:endParaRPr>
              </a:p>
            </p:txBody>
          </p:sp>
        </p:grpSp>
        <p:sp>
          <p:nvSpPr>
            <p:cNvPr id="53" name="Rectangle 45"/>
            <p:cNvSpPr>
              <a:spLocks noChangeArrowheads="1"/>
            </p:cNvSpPr>
            <p:nvPr/>
          </p:nvSpPr>
          <p:spPr bwMode="auto">
            <a:xfrm>
              <a:off x="3797331" y="3100327"/>
              <a:ext cx="317320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D7</a:t>
              </a:r>
            </a:p>
          </p:txBody>
        </p:sp>
        <p:sp>
          <p:nvSpPr>
            <p:cNvPr id="54" name="Line 46"/>
            <p:cNvSpPr>
              <a:spLocks noChangeShapeType="1"/>
            </p:cNvSpPr>
            <p:nvPr/>
          </p:nvSpPr>
          <p:spPr bwMode="auto">
            <a:xfrm flipV="1">
              <a:off x="4252552" y="3204828"/>
              <a:ext cx="1745994" cy="441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55" name="Line 47"/>
            <p:cNvSpPr>
              <a:spLocks noChangeShapeType="1"/>
            </p:cNvSpPr>
            <p:nvPr/>
          </p:nvSpPr>
          <p:spPr bwMode="auto">
            <a:xfrm>
              <a:off x="3035202" y="3209243"/>
              <a:ext cx="701922" cy="441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56" name="Rectangle 48"/>
            <p:cNvSpPr>
              <a:spLocks noChangeArrowheads="1"/>
            </p:cNvSpPr>
            <p:nvPr/>
          </p:nvSpPr>
          <p:spPr bwMode="auto">
            <a:xfrm>
              <a:off x="4262831" y="2979636"/>
              <a:ext cx="1800116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= 0 (Memory-reference)</a:t>
              </a:r>
            </a:p>
          </p:txBody>
        </p:sp>
        <p:sp>
          <p:nvSpPr>
            <p:cNvPr id="57" name="Rectangle 49"/>
            <p:cNvSpPr>
              <a:spLocks noChangeArrowheads="1"/>
            </p:cNvSpPr>
            <p:nvPr/>
          </p:nvSpPr>
          <p:spPr bwMode="auto">
            <a:xfrm>
              <a:off x="2098327" y="2979636"/>
              <a:ext cx="1725976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(Register or I/O) = 1</a:t>
              </a:r>
            </a:p>
          </p:txBody>
        </p:sp>
        <p:sp>
          <p:nvSpPr>
            <p:cNvPr id="58" name="Line 50"/>
            <p:cNvSpPr>
              <a:spLocks noChangeShapeType="1"/>
            </p:cNvSpPr>
            <p:nvPr/>
          </p:nvSpPr>
          <p:spPr bwMode="auto">
            <a:xfrm flipH="1">
              <a:off x="5729819" y="3446209"/>
              <a:ext cx="305439" cy="22371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59" name="Line 51"/>
            <p:cNvSpPr>
              <a:spLocks noChangeShapeType="1"/>
            </p:cNvSpPr>
            <p:nvPr/>
          </p:nvSpPr>
          <p:spPr bwMode="auto">
            <a:xfrm>
              <a:off x="6024978" y="3446209"/>
              <a:ext cx="268728" cy="22371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60" name="Line 52"/>
            <p:cNvSpPr>
              <a:spLocks noChangeShapeType="1"/>
            </p:cNvSpPr>
            <p:nvPr/>
          </p:nvSpPr>
          <p:spPr bwMode="auto">
            <a:xfrm flipH="1" flipV="1">
              <a:off x="5729819" y="3659624"/>
              <a:ext cx="305439" cy="25315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61" name="Line 53"/>
            <p:cNvSpPr>
              <a:spLocks noChangeShapeType="1"/>
            </p:cNvSpPr>
            <p:nvPr/>
          </p:nvSpPr>
          <p:spPr bwMode="auto">
            <a:xfrm flipV="1">
              <a:off x="6024978" y="3659624"/>
              <a:ext cx="268728" cy="25315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62" name="Rectangle 54"/>
            <p:cNvSpPr>
              <a:spLocks noChangeArrowheads="1"/>
            </p:cNvSpPr>
            <p:nvPr/>
          </p:nvSpPr>
          <p:spPr bwMode="auto">
            <a:xfrm>
              <a:off x="5879601" y="3571314"/>
              <a:ext cx="243179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I</a:t>
              </a:r>
            </a:p>
          </p:txBody>
        </p:sp>
        <p:sp>
          <p:nvSpPr>
            <p:cNvPr id="63" name="Line 55"/>
            <p:cNvSpPr>
              <a:spLocks noChangeShapeType="1"/>
            </p:cNvSpPr>
            <p:nvPr/>
          </p:nvSpPr>
          <p:spPr bwMode="auto">
            <a:xfrm flipH="1">
              <a:off x="2726826" y="3446209"/>
              <a:ext cx="321592" cy="22371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64" name="Line 56"/>
            <p:cNvSpPr>
              <a:spLocks noChangeShapeType="1"/>
            </p:cNvSpPr>
            <p:nvPr/>
          </p:nvSpPr>
          <p:spPr bwMode="auto">
            <a:xfrm>
              <a:off x="3035202" y="3446209"/>
              <a:ext cx="258448" cy="22371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65" name="Line 57"/>
            <p:cNvSpPr>
              <a:spLocks noChangeShapeType="1"/>
            </p:cNvSpPr>
            <p:nvPr/>
          </p:nvSpPr>
          <p:spPr bwMode="auto">
            <a:xfrm flipH="1" flipV="1">
              <a:off x="2726826" y="3659624"/>
              <a:ext cx="321592" cy="25315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66" name="Line 58"/>
            <p:cNvSpPr>
              <a:spLocks noChangeShapeType="1"/>
            </p:cNvSpPr>
            <p:nvPr/>
          </p:nvSpPr>
          <p:spPr bwMode="auto">
            <a:xfrm flipV="1">
              <a:off x="3035202" y="3659624"/>
              <a:ext cx="258448" cy="25315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67" name="Rectangle 59"/>
            <p:cNvSpPr>
              <a:spLocks noChangeArrowheads="1"/>
            </p:cNvSpPr>
            <p:nvPr/>
          </p:nvSpPr>
          <p:spPr bwMode="auto">
            <a:xfrm>
              <a:off x="2904510" y="3575730"/>
              <a:ext cx="243179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I</a:t>
              </a:r>
            </a:p>
          </p:txBody>
        </p:sp>
        <p:sp>
          <p:nvSpPr>
            <p:cNvPr id="68" name="Rectangle 60"/>
            <p:cNvSpPr>
              <a:spLocks noChangeArrowheads="1"/>
            </p:cNvSpPr>
            <p:nvPr/>
          </p:nvSpPr>
          <p:spPr bwMode="auto">
            <a:xfrm>
              <a:off x="3562378" y="4071738"/>
              <a:ext cx="688018" cy="38284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Execute</a:t>
              </a:r>
            </a:p>
            <a:p>
              <a:pPr defTabSz="762000">
                <a:defRPr/>
              </a:pPr>
              <a:endParaRPr lang="en-US" altLang="ko-KR" sz="1050" b="1">
                <a:solidFill>
                  <a:srgbClr val="000000"/>
                </a:solidFill>
                <a:cs typeface="Arial" pitchFamily="34" charset="0"/>
              </a:endParaRPr>
            </a:p>
          </p:txBody>
        </p:sp>
        <p:sp>
          <p:nvSpPr>
            <p:cNvPr id="69" name="Rectangle 61"/>
            <p:cNvSpPr>
              <a:spLocks noChangeArrowheads="1"/>
            </p:cNvSpPr>
            <p:nvPr/>
          </p:nvSpPr>
          <p:spPr bwMode="auto">
            <a:xfrm>
              <a:off x="3168832" y="4211563"/>
              <a:ext cx="1503557" cy="38284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register-reference</a:t>
              </a:r>
            </a:p>
            <a:p>
              <a:pPr defTabSz="762000">
                <a:defRPr/>
              </a:pPr>
              <a:endParaRPr lang="en-US" altLang="ko-KR" sz="1050" b="1">
                <a:solidFill>
                  <a:srgbClr val="000000"/>
                </a:solidFill>
                <a:cs typeface="Arial" pitchFamily="34" charset="0"/>
              </a:endParaRPr>
            </a:p>
          </p:txBody>
        </p:sp>
        <p:sp>
          <p:nvSpPr>
            <p:cNvPr id="70" name="Rectangle 62"/>
            <p:cNvSpPr>
              <a:spLocks noChangeArrowheads="1"/>
            </p:cNvSpPr>
            <p:nvPr/>
          </p:nvSpPr>
          <p:spPr bwMode="auto">
            <a:xfrm>
              <a:off x="3463991" y="4354330"/>
              <a:ext cx="984578" cy="38284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instruction</a:t>
              </a:r>
            </a:p>
            <a:p>
              <a:pPr defTabSz="762000">
                <a:defRPr/>
              </a:pPr>
              <a:endParaRPr lang="en-US" altLang="ko-KR" sz="1050" b="1">
                <a:solidFill>
                  <a:srgbClr val="000000"/>
                </a:solidFill>
                <a:cs typeface="Arial" pitchFamily="34" charset="0"/>
              </a:endParaRPr>
            </a:p>
          </p:txBody>
        </p:sp>
        <p:sp>
          <p:nvSpPr>
            <p:cNvPr id="71" name="Rectangle 63"/>
            <p:cNvSpPr>
              <a:spLocks noChangeArrowheads="1"/>
            </p:cNvSpPr>
            <p:nvPr/>
          </p:nvSpPr>
          <p:spPr bwMode="auto">
            <a:xfrm>
              <a:off x="3549161" y="4526536"/>
              <a:ext cx="317320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SC</a:t>
              </a:r>
            </a:p>
          </p:txBody>
        </p:sp>
        <p:sp>
          <p:nvSpPr>
            <p:cNvPr id="72" name="Rectangle 64"/>
            <p:cNvSpPr>
              <a:spLocks noChangeArrowheads="1"/>
            </p:cNvSpPr>
            <p:nvPr/>
          </p:nvSpPr>
          <p:spPr bwMode="auto">
            <a:xfrm>
              <a:off x="3841384" y="4526536"/>
              <a:ext cx="391459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 dirty="0">
                  <a:solidFill>
                    <a:srgbClr val="000000"/>
                  </a:solidFill>
                  <a:cs typeface="Arial" pitchFamily="34" charset="0"/>
                </a:rPr>
                <a:t>&lt;--</a:t>
              </a:r>
            </a:p>
          </p:txBody>
        </p:sp>
        <p:sp>
          <p:nvSpPr>
            <p:cNvPr id="73" name="Rectangle 65"/>
            <p:cNvSpPr>
              <a:spLocks noChangeArrowheads="1"/>
            </p:cNvSpPr>
            <p:nvPr/>
          </p:nvSpPr>
          <p:spPr bwMode="auto">
            <a:xfrm>
              <a:off x="4115985" y="4526536"/>
              <a:ext cx="243179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0</a:t>
              </a:r>
            </a:p>
          </p:txBody>
        </p:sp>
        <p:sp>
          <p:nvSpPr>
            <p:cNvPr id="74" name="Rectangle 66"/>
            <p:cNvSpPr>
              <a:spLocks noChangeArrowheads="1"/>
            </p:cNvSpPr>
            <p:nvPr/>
          </p:nvSpPr>
          <p:spPr bwMode="auto">
            <a:xfrm>
              <a:off x="2038121" y="4071738"/>
              <a:ext cx="688018" cy="38284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Execute</a:t>
              </a:r>
            </a:p>
            <a:p>
              <a:pPr defTabSz="762000">
                <a:defRPr/>
              </a:pPr>
              <a:endParaRPr lang="en-US" altLang="ko-KR" sz="1050" b="1">
                <a:solidFill>
                  <a:srgbClr val="000000"/>
                </a:solidFill>
                <a:cs typeface="Arial" pitchFamily="34" charset="0"/>
              </a:endParaRPr>
            </a:p>
          </p:txBody>
        </p:sp>
        <p:sp>
          <p:nvSpPr>
            <p:cNvPr id="75" name="Rectangle 67"/>
            <p:cNvSpPr>
              <a:spLocks noChangeArrowheads="1"/>
            </p:cNvSpPr>
            <p:nvPr/>
          </p:nvSpPr>
          <p:spPr bwMode="auto">
            <a:xfrm>
              <a:off x="1878058" y="4211563"/>
              <a:ext cx="1058717" cy="38284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input-output</a:t>
              </a:r>
            </a:p>
            <a:p>
              <a:pPr defTabSz="762000">
                <a:defRPr/>
              </a:pPr>
              <a:endParaRPr lang="en-US" altLang="ko-KR" sz="1050" b="1">
                <a:solidFill>
                  <a:srgbClr val="000000"/>
                </a:solidFill>
                <a:cs typeface="Arial" pitchFamily="34" charset="0"/>
              </a:endParaRPr>
            </a:p>
          </p:txBody>
        </p:sp>
        <p:sp>
          <p:nvSpPr>
            <p:cNvPr id="76" name="Rectangle 68"/>
            <p:cNvSpPr>
              <a:spLocks noChangeArrowheads="1"/>
            </p:cNvSpPr>
            <p:nvPr/>
          </p:nvSpPr>
          <p:spPr bwMode="auto">
            <a:xfrm>
              <a:off x="1939734" y="4354330"/>
              <a:ext cx="984578" cy="38284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instruction</a:t>
              </a:r>
            </a:p>
            <a:p>
              <a:pPr defTabSz="762000">
                <a:defRPr/>
              </a:pPr>
              <a:endParaRPr lang="en-US" altLang="ko-KR" sz="1050" b="1">
                <a:solidFill>
                  <a:srgbClr val="000000"/>
                </a:solidFill>
                <a:cs typeface="Arial" pitchFamily="34" charset="0"/>
              </a:endParaRPr>
            </a:p>
          </p:txBody>
        </p:sp>
        <p:sp>
          <p:nvSpPr>
            <p:cNvPr id="77" name="Rectangle 69"/>
            <p:cNvSpPr>
              <a:spLocks noChangeArrowheads="1"/>
            </p:cNvSpPr>
            <p:nvPr/>
          </p:nvSpPr>
          <p:spPr bwMode="auto">
            <a:xfrm>
              <a:off x="2023436" y="4526536"/>
              <a:ext cx="317320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SC</a:t>
              </a:r>
            </a:p>
          </p:txBody>
        </p:sp>
        <p:sp>
          <p:nvSpPr>
            <p:cNvPr id="78" name="Rectangle 70"/>
            <p:cNvSpPr>
              <a:spLocks noChangeArrowheads="1"/>
            </p:cNvSpPr>
            <p:nvPr/>
          </p:nvSpPr>
          <p:spPr bwMode="auto">
            <a:xfrm>
              <a:off x="2303911" y="4526536"/>
              <a:ext cx="391459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 dirty="0">
                  <a:solidFill>
                    <a:srgbClr val="000000"/>
                  </a:solidFill>
                  <a:cs typeface="Arial" pitchFamily="34" charset="0"/>
                </a:rPr>
                <a:t>&lt;--</a:t>
              </a:r>
            </a:p>
          </p:txBody>
        </p:sp>
        <p:sp>
          <p:nvSpPr>
            <p:cNvPr id="79" name="Rectangle 71"/>
            <p:cNvSpPr>
              <a:spLocks noChangeArrowheads="1"/>
            </p:cNvSpPr>
            <p:nvPr/>
          </p:nvSpPr>
          <p:spPr bwMode="auto">
            <a:xfrm>
              <a:off x="2578512" y="4526536"/>
              <a:ext cx="243179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0</a:t>
              </a:r>
            </a:p>
          </p:txBody>
        </p:sp>
        <p:sp>
          <p:nvSpPr>
            <p:cNvPr id="80" name="Rectangle 72"/>
            <p:cNvSpPr>
              <a:spLocks noChangeArrowheads="1"/>
            </p:cNvSpPr>
            <p:nvPr/>
          </p:nvSpPr>
          <p:spPr bwMode="auto">
            <a:xfrm>
              <a:off x="5333336" y="4071738"/>
              <a:ext cx="539739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M[AR]</a:t>
              </a:r>
            </a:p>
          </p:txBody>
        </p:sp>
        <p:sp>
          <p:nvSpPr>
            <p:cNvPr id="81" name="Rectangle 73"/>
            <p:cNvSpPr>
              <a:spLocks noChangeArrowheads="1"/>
            </p:cNvSpPr>
            <p:nvPr/>
          </p:nvSpPr>
          <p:spPr bwMode="auto">
            <a:xfrm>
              <a:off x="5142436" y="4071738"/>
              <a:ext cx="391459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 dirty="0">
                  <a:solidFill>
                    <a:srgbClr val="000000"/>
                  </a:solidFill>
                  <a:cs typeface="Arial" pitchFamily="34" charset="0"/>
                </a:rPr>
                <a:t>&lt;--</a:t>
              </a:r>
            </a:p>
          </p:txBody>
        </p:sp>
        <p:sp>
          <p:nvSpPr>
            <p:cNvPr id="82" name="Rectangle 74"/>
            <p:cNvSpPr>
              <a:spLocks noChangeArrowheads="1"/>
            </p:cNvSpPr>
            <p:nvPr/>
          </p:nvSpPr>
          <p:spPr bwMode="auto">
            <a:xfrm>
              <a:off x="4878114" y="4071738"/>
              <a:ext cx="317320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AR</a:t>
              </a:r>
            </a:p>
          </p:txBody>
        </p:sp>
        <p:sp>
          <p:nvSpPr>
            <p:cNvPr id="83" name="Rectangle 75"/>
            <p:cNvSpPr>
              <a:spLocks noChangeArrowheads="1"/>
            </p:cNvSpPr>
            <p:nvPr/>
          </p:nvSpPr>
          <p:spPr bwMode="auto">
            <a:xfrm>
              <a:off x="6199725" y="4062907"/>
              <a:ext cx="688018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Nothing</a:t>
              </a:r>
            </a:p>
          </p:txBody>
        </p:sp>
        <p:sp>
          <p:nvSpPr>
            <p:cNvPr id="84" name="Arc 76"/>
            <p:cNvSpPr>
              <a:spLocks/>
            </p:cNvSpPr>
            <p:nvPr/>
          </p:nvSpPr>
          <p:spPr bwMode="auto">
            <a:xfrm>
              <a:off x="2982337" y="3381448"/>
              <a:ext cx="93981" cy="97141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85" name="Line 77"/>
            <p:cNvSpPr>
              <a:spLocks noChangeShapeType="1"/>
            </p:cNvSpPr>
            <p:nvPr/>
          </p:nvSpPr>
          <p:spPr bwMode="auto">
            <a:xfrm flipV="1">
              <a:off x="3035202" y="3223961"/>
              <a:ext cx="0" cy="17220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86" name="Arc 78"/>
            <p:cNvSpPr>
              <a:spLocks/>
            </p:cNvSpPr>
            <p:nvPr/>
          </p:nvSpPr>
          <p:spPr bwMode="auto">
            <a:xfrm>
              <a:off x="5972114" y="3357898"/>
              <a:ext cx="93981" cy="94197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87" name="Line 79"/>
            <p:cNvSpPr>
              <a:spLocks noChangeShapeType="1"/>
            </p:cNvSpPr>
            <p:nvPr/>
          </p:nvSpPr>
          <p:spPr bwMode="auto">
            <a:xfrm flipV="1">
              <a:off x="6011762" y="3198940"/>
              <a:ext cx="0" cy="17073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88" name="Rectangle 80"/>
            <p:cNvSpPr>
              <a:spLocks noChangeArrowheads="1"/>
            </p:cNvSpPr>
            <p:nvPr/>
          </p:nvSpPr>
          <p:spPr bwMode="auto">
            <a:xfrm>
              <a:off x="1916238" y="4073210"/>
              <a:ext cx="1020577" cy="682932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89" name="Rectangle 81"/>
            <p:cNvSpPr>
              <a:spLocks noChangeArrowheads="1"/>
            </p:cNvSpPr>
            <p:nvPr/>
          </p:nvSpPr>
          <p:spPr bwMode="auto">
            <a:xfrm>
              <a:off x="3170300" y="4073210"/>
              <a:ext cx="1512510" cy="674101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90" name="Rectangle 82"/>
            <p:cNvSpPr>
              <a:spLocks noChangeArrowheads="1"/>
            </p:cNvSpPr>
            <p:nvPr/>
          </p:nvSpPr>
          <p:spPr bwMode="auto">
            <a:xfrm>
              <a:off x="4916294" y="4073210"/>
              <a:ext cx="1020576" cy="211944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91" name="Rectangle 83"/>
            <p:cNvSpPr>
              <a:spLocks noChangeArrowheads="1"/>
            </p:cNvSpPr>
            <p:nvPr/>
          </p:nvSpPr>
          <p:spPr bwMode="auto">
            <a:xfrm>
              <a:off x="6171824" y="4073210"/>
              <a:ext cx="812057" cy="211944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92" name="Arc 84"/>
            <p:cNvSpPr>
              <a:spLocks/>
            </p:cNvSpPr>
            <p:nvPr/>
          </p:nvSpPr>
          <p:spPr bwMode="auto">
            <a:xfrm>
              <a:off x="2355307" y="3964294"/>
              <a:ext cx="93981" cy="97141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93" name="Line 85"/>
            <p:cNvSpPr>
              <a:spLocks noChangeShapeType="1"/>
            </p:cNvSpPr>
            <p:nvPr/>
          </p:nvSpPr>
          <p:spPr bwMode="auto">
            <a:xfrm flipV="1">
              <a:off x="2402298" y="3668455"/>
              <a:ext cx="0" cy="323804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94" name="Arc 86"/>
            <p:cNvSpPr>
              <a:spLocks/>
            </p:cNvSpPr>
            <p:nvPr/>
          </p:nvSpPr>
          <p:spPr bwMode="auto">
            <a:xfrm>
              <a:off x="3954455" y="3964294"/>
              <a:ext cx="93981" cy="97141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95" name="Line 87"/>
            <p:cNvSpPr>
              <a:spLocks noChangeShapeType="1"/>
            </p:cNvSpPr>
            <p:nvPr/>
          </p:nvSpPr>
          <p:spPr bwMode="auto">
            <a:xfrm flipV="1">
              <a:off x="3999978" y="3678758"/>
              <a:ext cx="0" cy="3135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96" name="Arc 88"/>
            <p:cNvSpPr>
              <a:spLocks/>
            </p:cNvSpPr>
            <p:nvPr/>
          </p:nvSpPr>
          <p:spPr bwMode="auto">
            <a:xfrm>
              <a:off x="5345083" y="3964294"/>
              <a:ext cx="92512" cy="97141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97" name="Line 89"/>
            <p:cNvSpPr>
              <a:spLocks noChangeShapeType="1"/>
            </p:cNvSpPr>
            <p:nvPr/>
          </p:nvSpPr>
          <p:spPr bwMode="auto">
            <a:xfrm flipV="1">
              <a:off x="5389137" y="3678758"/>
              <a:ext cx="0" cy="3135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98" name="Arc 90"/>
            <p:cNvSpPr>
              <a:spLocks/>
            </p:cNvSpPr>
            <p:nvPr/>
          </p:nvSpPr>
          <p:spPr bwMode="auto">
            <a:xfrm>
              <a:off x="6612360" y="3964294"/>
              <a:ext cx="91044" cy="97141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99" name="Line 91"/>
            <p:cNvSpPr>
              <a:spLocks noChangeShapeType="1"/>
            </p:cNvSpPr>
            <p:nvPr/>
          </p:nvSpPr>
          <p:spPr bwMode="auto">
            <a:xfrm flipV="1">
              <a:off x="6656414" y="3659624"/>
              <a:ext cx="0" cy="33263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00" name="Line 92"/>
            <p:cNvSpPr>
              <a:spLocks noChangeShapeType="1"/>
            </p:cNvSpPr>
            <p:nvPr/>
          </p:nvSpPr>
          <p:spPr bwMode="auto">
            <a:xfrm>
              <a:off x="2408171" y="3672871"/>
              <a:ext cx="33774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01" name="Line 93"/>
            <p:cNvSpPr>
              <a:spLocks noChangeShapeType="1"/>
            </p:cNvSpPr>
            <p:nvPr/>
          </p:nvSpPr>
          <p:spPr bwMode="auto">
            <a:xfrm>
              <a:off x="3287776" y="3672871"/>
              <a:ext cx="71367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02" name="Line 94"/>
            <p:cNvSpPr>
              <a:spLocks noChangeShapeType="1"/>
            </p:cNvSpPr>
            <p:nvPr/>
          </p:nvSpPr>
          <p:spPr bwMode="auto">
            <a:xfrm>
              <a:off x="5397948" y="3672871"/>
              <a:ext cx="331871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03" name="Line 95"/>
            <p:cNvSpPr>
              <a:spLocks noChangeShapeType="1"/>
            </p:cNvSpPr>
            <p:nvPr/>
          </p:nvSpPr>
          <p:spPr bwMode="auto">
            <a:xfrm>
              <a:off x="6287832" y="3664040"/>
              <a:ext cx="38767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04" name="Rectangle 96"/>
            <p:cNvSpPr>
              <a:spLocks noChangeArrowheads="1"/>
            </p:cNvSpPr>
            <p:nvPr/>
          </p:nvSpPr>
          <p:spPr bwMode="auto">
            <a:xfrm>
              <a:off x="3289245" y="3446209"/>
              <a:ext cx="1206997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= 0 (register)</a:t>
              </a:r>
            </a:p>
          </p:txBody>
        </p:sp>
        <p:sp>
          <p:nvSpPr>
            <p:cNvPr id="105" name="Rectangle 97"/>
            <p:cNvSpPr>
              <a:spLocks noChangeArrowheads="1"/>
            </p:cNvSpPr>
            <p:nvPr/>
          </p:nvSpPr>
          <p:spPr bwMode="auto">
            <a:xfrm>
              <a:off x="2033715" y="3437377"/>
              <a:ext cx="836298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(I/O) = 1</a:t>
              </a:r>
            </a:p>
          </p:txBody>
        </p:sp>
        <p:sp>
          <p:nvSpPr>
            <p:cNvPr id="106" name="Rectangle 99"/>
            <p:cNvSpPr>
              <a:spLocks noChangeArrowheads="1"/>
            </p:cNvSpPr>
            <p:nvPr/>
          </p:nvSpPr>
          <p:spPr bwMode="auto">
            <a:xfrm>
              <a:off x="4681341" y="3446209"/>
              <a:ext cx="1206997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(indirect) = 1</a:t>
              </a:r>
            </a:p>
          </p:txBody>
        </p:sp>
        <p:sp>
          <p:nvSpPr>
            <p:cNvPr id="107" name="Rectangle 100"/>
            <p:cNvSpPr>
              <a:spLocks noChangeArrowheads="1"/>
            </p:cNvSpPr>
            <p:nvPr/>
          </p:nvSpPr>
          <p:spPr bwMode="auto">
            <a:xfrm>
              <a:off x="2653403" y="3881872"/>
              <a:ext cx="317320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T3</a:t>
              </a:r>
            </a:p>
          </p:txBody>
        </p:sp>
        <p:sp>
          <p:nvSpPr>
            <p:cNvPr id="108" name="Rectangle 101"/>
            <p:cNvSpPr>
              <a:spLocks noChangeArrowheads="1"/>
            </p:cNvSpPr>
            <p:nvPr/>
          </p:nvSpPr>
          <p:spPr bwMode="auto">
            <a:xfrm>
              <a:off x="4399398" y="3881872"/>
              <a:ext cx="317320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T3</a:t>
              </a:r>
            </a:p>
          </p:txBody>
        </p:sp>
        <p:sp>
          <p:nvSpPr>
            <p:cNvPr id="109" name="Rectangle 102"/>
            <p:cNvSpPr>
              <a:spLocks noChangeArrowheads="1"/>
            </p:cNvSpPr>
            <p:nvPr/>
          </p:nvSpPr>
          <p:spPr bwMode="auto">
            <a:xfrm>
              <a:off x="5653459" y="3881872"/>
              <a:ext cx="317320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T3</a:t>
              </a:r>
            </a:p>
          </p:txBody>
        </p:sp>
        <p:sp>
          <p:nvSpPr>
            <p:cNvPr id="110" name="Rectangle 103"/>
            <p:cNvSpPr>
              <a:spLocks noChangeArrowheads="1"/>
            </p:cNvSpPr>
            <p:nvPr/>
          </p:nvSpPr>
          <p:spPr bwMode="auto">
            <a:xfrm>
              <a:off x="6772422" y="3881872"/>
              <a:ext cx="317320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T3</a:t>
              </a:r>
            </a:p>
          </p:txBody>
        </p:sp>
        <p:sp>
          <p:nvSpPr>
            <p:cNvPr id="111" name="Rectangle 104"/>
            <p:cNvSpPr>
              <a:spLocks noChangeArrowheads="1"/>
            </p:cNvSpPr>
            <p:nvPr/>
          </p:nvSpPr>
          <p:spPr bwMode="auto">
            <a:xfrm>
              <a:off x="5653459" y="4526536"/>
              <a:ext cx="688018" cy="38284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Execute</a:t>
              </a:r>
            </a:p>
            <a:p>
              <a:pPr defTabSz="762000">
                <a:defRPr/>
              </a:pPr>
              <a:endParaRPr lang="en-US" altLang="ko-KR" sz="1050" b="1">
                <a:solidFill>
                  <a:srgbClr val="000000"/>
                </a:solidFill>
                <a:cs typeface="Arial" pitchFamily="34" charset="0"/>
              </a:endParaRPr>
            </a:p>
          </p:txBody>
        </p:sp>
        <p:sp>
          <p:nvSpPr>
            <p:cNvPr id="112" name="Rectangle 105"/>
            <p:cNvSpPr>
              <a:spLocks noChangeArrowheads="1"/>
            </p:cNvSpPr>
            <p:nvPr/>
          </p:nvSpPr>
          <p:spPr bwMode="auto">
            <a:xfrm>
              <a:off x="5248165" y="4669303"/>
              <a:ext cx="1355277" cy="38284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memory-reference</a:t>
              </a:r>
            </a:p>
            <a:p>
              <a:pPr defTabSz="762000">
                <a:defRPr/>
              </a:pPr>
              <a:endParaRPr lang="en-US" altLang="ko-KR" sz="1050" b="1">
                <a:solidFill>
                  <a:srgbClr val="000000"/>
                </a:solidFill>
                <a:cs typeface="Arial" pitchFamily="34" charset="0"/>
              </a:endParaRPr>
            </a:p>
          </p:txBody>
        </p:sp>
        <p:sp>
          <p:nvSpPr>
            <p:cNvPr id="113" name="Rectangle 106"/>
            <p:cNvSpPr>
              <a:spLocks noChangeArrowheads="1"/>
            </p:cNvSpPr>
            <p:nvPr/>
          </p:nvSpPr>
          <p:spPr bwMode="auto">
            <a:xfrm>
              <a:off x="5555072" y="4809128"/>
              <a:ext cx="984578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instruction</a:t>
              </a:r>
            </a:p>
          </p:txBody>
        </p:sp>
        <p:sp>
          <p:nvSpPr>
            <p:cNvPr id="114" name="Rectangle 107"/>
            <p:cNvSpPr>
              <a:spLocks noChangeArrowheads="1"/>
            </p:cNvSpPr>
            <p:nvPr/>
          </p:nvSpPr>
          <p:spPr bwMode="auto">
            <a:xfrm>
              <a:off x="5640242" y="4971030"/>
              <a:ext cx="317320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SC</a:t>
              </a:r>
            </a:p>
          </p:txBody>
        </p:sp>
        <p:sp>
          <p:nvSpPr>
            <p:cNvPr id="115" name="Rectangle 108"/>
            <p:cNvSpPr>
              <a:spLocks noChangeArrowheads="1"/>
            </p:cNvSpPr>
            <p:nvPr/>
          </p:nvSpPr>
          <p:spPr bwMode="auto">
            <a:xfrm>
              <a:off x="5960366" y="4971030"/>
              <a:ext cx="391459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 dirty="0">
                  <a:solidFill>
                    <a:srgbClr val="000000"/>
                  </a:solidFill>
                  <a:cs typeface="Arial" pitchFamily="34" charset="0"/>
                </a:rPr>
                <a:t>&lt;--</a:t>
              </a:r>
            </a:p>
          </p:txBody>
        </p:sp>
        <p:sp>
          <p:nvSpPr>
            <p:cNvPr id="116" name="Rectangle 109"/>
            <p:cNvSpPr>
              <a:spLocks noChangeArrowheads="1"/>
            </p:cNvSpPr>
            <p:nvPr/>
          </p:nvSpPr>
          <p:spPr bwMode="auto">
            <a:xfrm>
              <a:off x="6207066" y="4971030"/>
              <a:ext cx="243179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0</a:t>
              </a:r>
            </a:p>
          </p:txBody>
        </p:sp>
        <p:sp>
          <p:nvSpPr>
            <p:cNvPr id="117" name="Rectangle 110"/>
            <p:cNvSpPr>
              <a:spLocks noChangeArrowheads="1"/>
            </p:cNvSpPr>
            <p:nvPr/>
          </p:nvSpPr>
          <p:spPr bwMode="auto">
            <a:xfrm>
              <a:off x="5187958" y="4538310"/>
              <a:ext cx="1669635" cy="663797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18" name="Arc 111"/>
            <p:cNvSpPr>
              <a:spLocks/>
            </p:cNvSpPr>
            <p:nvPr/>
          </p:nvSpPr>
          <p:spPr bwMode="auto">
            <a:xfrm>
              <a:off x="5345083" y="4429394"/>
              <a:ext cx="92512" cy="95669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19" name="Line 112"/>
            <p:cNvSpPr>
              <a:spLocks noChangeShapeType="1"/>
            </p:cNvSpPr>
            <p:nvPr/>
          </p:nvSpPr>
          <p:spPr bwMode="auto">
            <a:xfrm flipV="1">
              <a:off x="5389137" y="4285155"/>
              <a:ext cx="0" cy="172204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20" name="Arc 113"/>
            <p:cNvSpPr>
              <a:spLocks/>
            </p:cNvSpPr>
            <p:nvPr/>
          </p:nvSpPr>
          <p:spPr bwMode="auto">
            <a:xfrm>
              <a:off x="6612360" y="4429394"/>
              <a:ext cx="91044" cy="95669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21" name="Line 114"/>
            <p:cNvSpPr>
              <a:spLocks noChangeShapeType="1"/>
            </p:cNvSpPr>
            <p:nvPr/>
          </p:nvSpPr>
          <p:spPr bwMode="auto">
            <a:xfrm flipV="1">
              <a:off x="6656414" y="4285155"/>
              <a:ext cx="0" cy="172204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22" name="Arc 115"/>
            <p:cNvSpPr>
              <a:spLocks/>
            </p:cNvSpPr>
            <p:nvPr/>
          </p:nvSpPr>
          <p:spPr bwMode="auto">
            <a:xfrm>
              <a:off x="5972114" y="5286002"/>
              <a:ext cx="93981" cy="97141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23" name="Line 116"/>
            <p:cNvSpPr>
              <a:spLocks noChangeShapeType="1"/>
            </p:cNvSpPr>
            <p:nvPr/>
          </p:nvSpPr>
          <p:spPr bwMode="auto">
            <a:xfrm flipV="1">
              <a:off x="6017636" y="5212411"/>
              <a:ext cx="0" cy="1045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24" name="Line 117"/>
            <p:cNvSpPr>
              <a:spLocks noChangeShapeType="1"/>
            </p:cNvSpPr>
            <p:nvPr/>
          </p:nvSpPr>
          <p:spPr bwMode="auto">
            <a:xfrm flipH="1">
              <a:off x="1682754" y="5393446"/>
              <a:ext cx="4342224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25" name="Arc 118"/>
            <p:cNvSpPr>
              <a:spLocks/>
            </p:cNvSpPr>
            <p:nvPr/>
          </p:nvSpPr>
          <p:spPr bwMode="auto">
            <a:xfrm>
              <a:off x="2355307" y="5286002"/>
              <a:ext cx="93981" cy="97141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26" name="Line 119"/>
            <p:cNvSpPr>
              <a:spLocks noChangeShapeType="1"/>
            </p:cNvSpPr>
            <p:nvPr/>
          </p:nvSpPr>
          <p:spPr bwMode="auto">
            <a:xfrm flipV="1">
              <a:off x="2402298" y="4764973"/>
              <a:ext cx="0" cy="55193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27" name="Arc 120"/>
            <p:cNvSpPr>
              <a:spLocks/>
            </p:cNvSpPr>
            <p:nvPr/>
          </p:nvSpPr>
          <p:spPr bwMode="auto">
            <a:xfrm>
              <a:off x="3881032" y="5286002"/>
              <a:ext cx="93981" cy="97141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28" name="Line 121"/>
            <p:cNvSpPr>
              <a:spLocks noChangeShapeType="1"/>
            </p:cNvSpPr>
            <p:nvPr/>
          </p:nvSpPr>
          <p:spPr bwMode="auto">
            <a:xfrm flipV="1">
              <a:off x="3928023" y="4747311"/>
              <a:ext cx="0" cy="5696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29" name="Line 122"/>
            <p:cNvSpPr>
              <a:spLocks noChangeShapeType="1"/>
            </p:cNvSpPr>
            <p:nvPr/>
          </p:nvSpPr>
          <p:spPr bwMode="auto">
            <a:xfrm>
              <a:off x="1700376" y="1273780"/>
              <a:ext cx="0" cy="410494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30" name="Line 123"/>
            <p:cNvSpPr>
              <a:spLocks noChangeShapeType="1"/>
            </p:cNvSpPr>
            <p:nvPr/>
          </p:nvSpPr>
          <p:spPr bwMode="auto">
            <a:xfrm flipH="1">
              <a:off x="1682754" y="1259061"/>
              <a:ext cx="1906056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31" name="Rectangle 126"/>
            <p:cNvSpPr>
              <a:spLocks noChangeArrowheads="1"/>
            </p:cNvSpPr>
            <p:nvPr/>
          </p:nvSpPr>
          <p:spPr bwMode="auto">
            <a:xfrm>
              <a:off x="6884025" y="4526536"/>
              <a:ext cx="317320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T4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6655538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604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606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Determining Type of Instruction</a:t>
            </a:r>
          </a:p>
        </p:txBody>
      </p:sp>
      <p:sp>
        <p:nvSpPr>
          <p:cNvPr id="25607" name="Rectangle 124"/>
          <p:cNvSpPr>
            <a:spLocks noChangeArrowheads="1"/>
          </p:cNvSpPr>
          <p:nvPr/>
        </p:nvSpPr>
        <p:spPr bwMode="auto">
          <a:xfrm>
            <a:off x="2209801" y="1676400"/>
            <a:ext cx="7104063" cy="217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 defTabSz="152400">
              <a:tabLst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152400">
              <a:tabLst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152400">
              <a:tabLst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152400">
              <a:tabLst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152400">
              <a:tabLst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152400" eaLnBrk="0" fontAlgn="base" hangingPunct="0">
              <a:spcBef>
                <a:spcPct val="0"/>
              </a:spcBef>
              <a:spcAft>
                <a:spcPct val="0"/>
              </a:spcAft>
              <a:tabLst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152400" eaLnBrk="0" fontAlgn="base" hangingPunct="0">
              <a:spcBef>
                <a:spcPct val="0"/>
              </a:spcBef>
              <a:spcAft>
                <a:spcPct val="0"/>
              </a:spcAft>
              <a:tabLst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152400" eaLnBrk="0" fontAlgn="base" hangingPunct="0">
              <a:spcBef>
                <a:spcPct val="0"/>
              </a:spcBef>
              <a:spcAft>
                <a:spcPct val="0"/>
              </a:spcAft>
              <a:tabLst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152400" eaLnBrk="0" fontAlgn="base" hangingPunct="0">
              <a:spcBef>
                <a:spcPct val="0"/>
              </a:spcBef>
              <a:spcAft>
                <a:spcPct val="0"/>
              </a:spcAft>
              <a:tabLst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66000"/>
              </a:lnSpc>
              <a:spcBef>
                <a:spcPct val="19000"/>
              </a:spcBef>
              <a:buFont typeface="Wingdings" panose="05000000000000000000" pitchFamily="2" charset="2"/>
              <a:buChar char="Ø"/>
            </a:pPr>
            <a:r>
              <a:rPr lang="en-US" altLang="ko-KR" sz="2400" b="1">
                <a:latin typeface="Calibri" panose="020F0502020204030204" pitchFamily="34" charset="0"/>
              </a:rPr>
              <a:t>D'7IT</a:t>
            </a:r>
            <a:r>
              <a:rPr lang="en-US" altLang="ko-KR" b="1">
                <a:latin typeface="Calibri" panose="020F0502020204030204" pitchFamily="34" charset="0"/>
              </a:rPr>
              <a:t>3</a:t>
            </a:r>
            <a:r>
              <a:rPr lang="en-US" altLang="ko-KR" sz="2400" b="1">
                <a:latin typeface="Calibri" panose="020F0502020204030204" pitchFamily="34" charset="0"/>
              </a:rPr>
              <a:t>:	AR </a:t>
            </a:r>
            <a:r>
              <a:rPr lang="en-US" altLang="ko-KR" sz="2400" b="1">
                <a:latin typeface="Symbol" panose="05050102010706020507" pitchFamily="18" charset="2"/>
              </a:rPr>
              <a:t></a:t>
            </a:r>
            <a:r>
              <a:rPr lang="en-US" altLang="ko-KR" sz="2400" b="1">
                <a:latin typeface="Calibri" panose="020F0502020204030204" pitchFamily="34" charset="0"/>
              </a:rPr>
              <a:t>M[AR]</a:t>
            </a:r>
          </a:p>
          <a:p>
            <a:pPr eaLnBrk="1" hangingPunct="1">
              <a:lnSpc>
                <a:spcPct val="66000"/>
              </a:lnSpc>
              <a:spcBef>
                <a:spcPct val="19000"/>
              </a:spcBef>
              <a:buFont typeface="Wingdings" panose="05000000000000000000" pitchFamily="2" charset="2"/>
              <a:buChar char="Ø"/>
            </a:pPr>
            <a:endParaRPr lang="en-US" altLang="ko-KR" sz="2400" b="1">
              <a:latin typeface="Calibri" panose="020F0502020204030204" pitchFamily="34" charset="0"/>
            </a:endParaRPr>
          </a:p>
          <a:p>
            <a:pPr eaLnBrk="1" hangingPunct="1">
              <a:lnSpc>
                <a:spcPct val="66000"/>
              </a:lnSpc>
              <a:spcBef>
                <a:spcPct val="19000"/>
              </a:spcBef>
              <a:buFont typeface="Wingdings" panose="05000000000000000000" pitchFamily="2" charset="2"/>
              <a:buChar char="Ø"/>
            </a:pPr>
            <a:r>
              <a:rPr lang="en-US" altLang="ko-KR" sz="2400" b="1">
                <a:latin typeface="Calibri" panose="020F0502020204030204" pitchFamily="34" charset="0"/>
              </a:rPr>
              <a:t>D'</a:t>
            </a:r>
            <a:r>
              <a:rPr lang="en-US" altLang="ko-KR" b="1">
                <a:latin typeface="Calibri" panose="020F0502020204030204" pitchFamily="34" charset="0"/>
              </a:rPr>
              <a:t>7</a:t>
            </a:r>
            <a:r>
              <a:rPr lang="en-US" altLang="ko-KR" sz="2400" b="1">
                <a:latin typeface="Calibri" panose="020F0502020204030204" pitchFamily="34" charset="0"/>
              </a:rPr>
              <a:t>I'T</a:t>
            </a:r>
            <a:r>
              <a:rPr lang="en-US" altLang="ko-KR" b="1">
                <a:latin typeface="Calibri" panose="020F0502020204030204" pitchFamily="34" charset="0"/>
              </a:rPr>
              <a:t>3</a:t>
            </a:r>
            <a:r>
              <a:rPr lang="en-US" altLang="ko-KR" sz="2400" b="1">
                <a:latin typeface="Calibri" panose="020F0502020204030204" pitchFamily="34" charset="0"/>
              </a:rPr>
              <a:t>:	Nothing</a:t>
            </a:r>
          </a:p>
          <a:p>
            <a:pPr eaLnBrk="1" hangingPunct="1">
              <a:lnSpc>
                <a:spcPct val="66000"/>
              </a:lnSpc>
              <a:spcBef>
                <a:spcPct val="19000"/>
              </a:spcBef>
              <a:buFont typeface="Wingdings" panose="05000000000000000000" pitchFamily="2" charset="2"/>
              <a:buChar char="Ø"/>
            </a:pPr>
            <a:endParaRPr lang="en-US" altLang="ko-KR" sz="2400" b="1">
              <a:latin typeface="Calibri" panose="020F0502020204030204" pitchFamily="34" charset="0"/>
            </a:endParaRPr>
          </a:p>
          <a:p>
            <a:pPr eaLnBrk="1" hangingPunct="1">
              <a:lnSpc>
                <a:spcPct val="66000"/>
              </a:lnSpc>
              <a:spcBef>
                <a:spcPct val="19000"/>
              </a:spcBef>
              <a:buFont typeface="Wingdings" panose="05000000000000000000" pitchFamily="2" charset="2"/>
              <a:buChar char="Ø"/>
            </a:pPr>
            <a:r>
              <a:rPr lang="en-US" altLang="ko-KR" sz="2400" b="1">
                <a:latin typeface="Calibri" panose="020F0502020204030204" pitchFamily="34" charset="0"/>
              </a:rPr>
              <a:t>D</a:t>
            </a:r>
            <a:r>
              <a:rPr lang="en-US" altLang="ko-KR" b="1">
                <a:latin typeface="Calibri" panose="020F0502020204030204" pitchFamily="34" charset="0"/>
              </a:rPr>
              <a:t>7</a:t>
            </a:r>
            <a:r>
              <a:rPr lang="en-US" altLang="ko-KR" sz="2400" b="1">
                <a:latin typeface="Calibri" panose="020F0502020204030204" pitchFamily="34" charset="0"/>
              </a:rPr>
              <a:t>I'T</a:t>
            </a:r>
            <a:r>
              <a:rPr lang="en-US" altLang="ko-KR" b="1">
                <a:latin typeface="Calibri" panose="020F0502020204030204" pitchFamily="34" charset="0"/>
              </a:rPr>
              <a:t>3</a:t>
            </a:r>
            <a:r>
              <a:rPr lang="en-US" altLang="ko-KR" sz="2400" b="1">
                <a:latin typeface="Calibri" panose="020F0502020204030204" pitchFamily="34" charset="0"/>
              </a:rPr>
              <a:t>:	Execute a register-reference instr.</a:t>
            </a:r>
          </a:p>
          <a:p>
            <a:pPr eaLnBrk="1" hangingPunct="1">
              <a:lnSpc>
                <a:spcPct val="66000"/>
              </a:lnSpc>
              <a:spcBef>
                <a:spcPct val="19000"/>
              </a:spcBef>
              <a:buFont typeface="Wingdings" panose="05000000000000000000" pitchFamily="2" charset="2"/>
              <a:buChar char="Ø"/>
            </a:pPr>
            <a:endParaRPr lang="en-US" altLang="ko-KR" sz="2400" b="1">
              <a:latin typeface="Calibri" panose="020F0502020204030204" pitchFamily="34" charset="0"/>
            </a:endParaRPr>
          </a:p>
          <a:p>
            <a:pPr eaLnBrk="1" hangingPunct="1">
              <a:lnSpc>
                <a:spcPct val="66000"/>
              </a:lnSpc>
              <a:spcBef>
                <a:spcPct val="19000"/>
              </a:spcBef>
              <a:buFont typeface="Wingdings" panose="05000000000000000000" pitchFamily="2" charset="2"/>
              <a:buChar char="Ø"/>
            </a:pPr>
            <a:r>
              <a:rPr lang="en-US" altLang="ko-KR" sz="2400" b="1">
                <a:latin typeface="Calibri" panose="020F0502020204030204" pitchFamily="34" charset="0"/>
              </a:rPr>
              <a:t>D</a:t>
            </a:r>
            <a:r>
              <a:rPr lang="en-US" altLang="ko-KR" b="1">
                <a:latin typeface="Calibri" panose="020F0502020204030204" pitchFamily="34" charset="0"/>
              </a:rPr>
              <a:t>7</a:t>
            </a:r>
            <a:r>
              <a:rPr lang="en-US" altLang="ko-KR" sz="2400" b="1">
                <a:latin typeface="Calibri" panose="020F0502020204030204" pitchFamily="34" charset="0"/>
              </a:rPr>
              <a:t>IT</a:t>
            </a:r>
            <a:r>
              <a:rPr lang="en-US" altLang="ko-KR" b="1">
                <a:latin typeface="Calibri" panose="020F0502020204030204" pitchFamily="34" charset="0"/>
              </a:rPr>
              <a:t>3</a:t>
            </a:r>
            <a:r>
              <a:rPr lang="en-US" altLang="ko-KR" sz="2400" b="1">
                <a:latin typeface="Calibri" panose="020F0502020204030204" pitchFamily="34" charset="0"/>
              </a:rPr>
              <a:t>:	Execute an input-output instr.</a:t>
            </a:r>
          </a:p>
        </p:txBody>
      </p:sp>
    </p:spTree>
    <p:extLst>
      <p:ext uri="{BB962C8B-B14F-4D97-AF65-F5344CB8AC3E}">
        <p14:creationId xmlns:p14="http://schemas.microsoft.com/office/powerpoint/2010/main" val="201650852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6628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630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Register Reference Instruction</a:t>
            </a:r>
          </a:p>
        </p:txBody>
      </p:sp>
      <p:sp>
        <p:nvSpPr>
          <p:cNvPr id="26631" name="Rectangle 3"/>
          <p:cNvSpPr>
            <a:spLocks noChangeArrowheads="1"/>
          </p:cNvSpPr>
          <p:nvPr/>
        </p:nvSpPr>
        <p:spPr bwMode="auto">
          <a:xfrm>
            <a:off x="2524126" y="2492376"/>
            <a:ext cx="4492625" cy="544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ko-KR" sz="1600" b="1">
                <a:cs typeface="Arial" panose="020B0604020202020204" pitchFamily="34" charset="0"/>
              </a:rPr>
              <a:t>r = D</a:t>
            </a:r>
            <a:r>
              <a:rPr lang="en-US" altLang="ko-KR" sz="1600" b="1" baseline="-25000">
                <a:cs typeface="Arial" panose="020B0604020202020204" pitchFamily="34" charset="0"/>
              </a:rPr>
              <a:t>7</a:t>
            </a:r>
            <a:r>
              <a:rPr lang="en-US" altLang="ko-KR" sz="1600" b="1">
                <a:cs typeface="Arial" panose="020B0604020202020204" pitchFamily="34" charset="0"/>
              </a:rPr>
              <a:t> I</a:t>
            </a:r>
            <a:r>
              <a:rPr lang="en-US" altLang="ko-KR" sz="1600" b="1">
                <a:cs typeface="Arial" panose="020B0604020202020204" pitchFamily="34" charset="0"/>
                <a:sym typeface="Symbol" panose="05050102010706020507" pitchFamily="18" charset="2"/>
              </a:rPr>
              <a:t></a:t>
            </a:r>
            <a:r>
              <a:rPr lang="en-US" altLang="ko-KR" sz="1600" b="1">
                <a:cs typeface="Arial" panose="020B0604020202020204" pitchFamily="34" charset="0"/>
              </a:rPr>
              <a:t>T</a:t>
            </a:r>
            <a:r>
              <a:rPr lang="en-US" altLang="ko-KR" sz="1600" b="1" baseline="-25000">
                <a:cs typeface="Arial" panose="020B0604020202020204" pitchFamily="34" charset="0"/>
              </a:rPr>
              <a:t>3</a:t>
            </a:r>
            <a:r>
              <a:rPr lang="en-US" altLang="ko-KR" sz="1600" b="1">
                <a:cs typeface="Arial" panose="020B0604020202020204" pitchFamily="34" charset="0"/>
              </a:rPr>
              <a:t>   =&gt; Register Reference Instruction</a:t>
            </a:r>
          </a:p>
          <a:p>
            <a:pPr eaLnBrk="1" hangingPunct="1"/>
            <a:r>
              <a:rPr lang="en-US" altLang="ko-KR" sz="1600" b="1">
                <a:cs typeface="Arial" panose="020B0604020202020204" pitchFamily="34" charset="0"/>
              </a:rPr>
              <a:t>B</a:t>
            </a:r>
            <a:r>
              <a:rPr lang="en-US" altLang="ko-KR" sz="1600" b="1" baseline="-25000">
                <a:cs typeface="Arial" panose="020B0604020202020204" pitchFamily="34" charset="0"/>
              </a:rPr>
              <a:t>i</a:t>
            </a:r>
            <a:r>
              <a:rPr lang="en-US" altLang="ko-KR" sz="1600" b="1">
                <a:cs typeface="Arial" panose="020B0604020202020204" pitchFamily="34" charset="0"/>
              </a:rPr>
              <a:t> = IR(i) , i=0,1,2,...,11</a:t>
            </a:r>
          </a:p>
        </p:txBody>
      </p:sp>
      <p:sp>
        <p:nvSpPr>
          <p:cNvPr id="26632" name="Rectangle 5"/>
          <p:cNvSpPr>
            <a:spLocks noChangeArrowheads="1"/>
          </p:cNvSpPr>
          <p:nvPr/>
        </p:nvSpPr>
        <p:spPr bwMode="auto">
          <a:xfrm>
            <a:off x="2968626" y="1471614"/>
            <a:ext cx="4822825" cy="75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ko-KR" sz="1600" b="1">
                <a:cs typeface="Arial" panose="020B0604020202020204" pitchFamily="34" charset="0"/>
              </a:rPr>
              <a:t>-  D</a:t>
            </a:r>
            <a:r>
              <a:rPr lang="en-US" altLang="ko-KR" sz="1600" b="1" baseline="-25000">
                <a:cs typeface="Arial" panose="020B0604020202020204" pitchFamily="34" charset="0"/>
              </a:rPr>
              <a:t>7</a:t>
            </a:r>
            <a:r>
              <a:rPr lang="en-US" altLang="ko-KR" sz="1600" b="1">
                <a:cs typeface="Arial" panose="020B0604020202020204" pitchFamily="34" charset="0"/>
              </a:rPr>
              <a:t> = 1,  I = 0</a:t>
            </a:r>
          </a:p>
          <a:p>
            <a:pPr eaLnBrk="1" hangingPunct="1"/>
            <a:r>
              <a:rPr lang="en-US" altLang="ko-KR" sz="1600" b="1">
                <a:cs typeface="Arial" panose="020B0604020202020204" pitchFamily="34" charset="0"/>
              </a:rPr>
              <a:t>-  Register Ref. Instr. is specified in b</a:t>
            </a:r>
            <a:r>
              <a:rPr lang="en-US" altLang="ko-KR" sz="1600" b="1" baseline="-25000">
                <a:cs typeface="Arial" panose="020B0604020202020204" pitchFamily="34" charset="0"/>
              </a:rPr>
              <a:t>0</a:t>
            </a:r>
            <a:r>
              <a:rPr lang="en-US" altLang="ko-KR" sz="1600" b="1">
                <a:cs typeface="Arial" panose="020B0604020202020204" pitchFamily="34" charset="0"/>
              </a:rPr>
              <a:t> ~ b</a:t>
            </a:r>
            <a:r>
              <a:rPr lang="en-US" altLang="ko-KR" sz="1600" b="1" baseline="-25000">
                <a:cs typeface="Arial" panose="020B0604020202020204" pitchFamily="34" charset="0"/>
              </a:rPr>
              <a:t>11</a:t>
            </a:r>
            <a:r>
              <a:rPr lang="en-US" altLang="ko-KR" sz="1600" b="1">
                <a:cs typeface="Arial" panose="020B0604020202020204" pitchFamily="34" charset="0"/>
              </a:rPr>
              <a:t> of IR</a:t>
            </a:r>
          </a:p>
          <a:p>
            <a:pPr eaLnBrk="1" hangingPunct="1">
              <a:lnSpc>
                <a:spcPct val="85000"/>
              </a:lnSpc>
            </a:pPr>
            <a:r>
              <a:rPr lang="en-US" altLang="ko-KR" sz="1600" b="1">
                <a:cs typeface="Arial" panose="020B0604020202020204" pitchFamily="34" charset="0"/>
              </a:rPr>
              <a:t>-  Execution starts with timing signal T</a:t>
            </a:r>
            <a:r>
              <a:rPr lang="en-US" altLang="ko-KR" sz="1600" b="1" baseline="-25000">
                <a:cs typeface="Arial" panose="020B0604020202020204" pitchFamily="34" charset="0"/>
              </a:rPr>
              <a:t>3</a:t>
            </a:r>
            <a:endParaRPr lang="en-US" altLang="ko-KR" sz="1600" b="1">
              <a:cs typeface="Arial" panose="020B0604020202020204" pitchFamily="34" charset="0"/>
            </a:endParaRPr>
          </a:p>
        </p:txBody>
      </p:sp>
      <p:sp>
        <p:nvSpPr>
          <p:cNvPr id="26633" name="Rectangle 12"/>
          <p:cNvSpPr>
            <a:spLocks noChangeArrowheads="1"/>
          </p:cNvSpPr>
          <p:nvPr/>
        </p:nvSpPr>
        <p:spPr bwMode="auto">
          <a:xfrm>
            <a:off x="2078039" y="1095375"/>
            <a:ext cx="52038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ko-KR" sz="1600" b="1">
                <a:cs typeface="Arial" panose="020B0604020202020204" pitchFamily="34" charset="0"/>
              </a:rPr>
              <a:t>Register Reference Instructions are identified when</a:t>
            </a:r>
          </a:p>
        </p:txBody>
      </p:sp>
      <p:sp>
        <p:nvSpPr>
          <p:cNvPr id="26634" name="Text Box 73"/>
          <p:cNvSpPr txBox="1">
            <a:spLocks noChangeArrowheads="1"/>
          </p:cNvSpPr>
          <p:nvPr/>
        </p:nvSpPr>
        <p:spPr bwMode="auto">
          <a:xfrm>
            <a:off x="2613026" y="3117851"/>
            <a:ext cx="6099175" cy="329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ko-KR" sz="1600" b="1">
                <a:solidFill>
                  <a:srgbClr val="000000"/>
                </a:solidFill>
                <a:cs typeface="Arial" panose="020B0604020202020204" pitchFamily="34" charset="0"/>
              </a:rPr>
              <a:t>	r:		SC </a:t>
            </a:r>
            <a:r>
              <a:rPr lang="en-US" altLang="ko-KR" sz="16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 0</a:t>
            </a:r>
            <a:endParaRPr lang="en-US" altLang="ko-KR" sz="1600" b="1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1600" b="1">
                <a:solidFill>
                  <a:srgbClr val="000000"/>
                </a:solidFill>
                <a:cs typeface="Arial" panose="020B0604020202020204" pitchFamily="34" charset="0"/>
              </a:rPr>
              <a:t>CLA	rB</a:t>
            </a:r>
            <a:r>
              <a:rPr lang="en-US" altLang="ko-KR" sz="1600" b="1" baseline="-25000">
                <a:solidFill>
                  <a:srgbClr val="000000"/>
                </a:solidFill>
                <a:cs typeface="Arial" panose="020B0604020202020204" pitchFamily="34" charset="0"/>
              </a:rPr>
              <a:t>11</a:t>
            </a:r>
            <a:r>
              <a:rPr lang="en-US" altLang="ko-KR" sz="1600" b="1">
                <a:solidFill>
                  <a:srgbClr val="000000"/>
                </a:solidFill>
                <a:cs typeface="Arial" panose="020B0604020202020204" pitchFamily="34" charset="0"/>
              </a:rPr>
              <a:t>:		AC </a:t>
            </a:r>
            <a:r>
              <a:rPr lang="en-US" altLang="ko-KR" sz="16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 0</a:t>
            </a:r>
          </a:p>
          <a:p>
            <a:pPr eaLnBrk="1" hangingPunct="1"/>
            <a:r>
              <a:rPr lang="en-US" altLang="ko-KR" sz="1600" b="1">
                <a:solidFill>
                  <a:srgbClr val="000000"/>
                </a:solidFill>
                <a:cs typeface="Arial" panose="020B0604020202020204" pitchFamily="34" charset="0"/>
              </a:rPr>
              <a:t>CLE	rB</a:t>
            </a:r>
            <a:r>
              <a:rPr lang="en-US" altLang="ko-KR" sz="1600" b="1" baseline="-25000">
                <a:solidFill>
                  <a:srgbClr val="000000"/>
                </a:solidFill>
                <a:cs typeface="Arial" panose="020B0604020202020204" pitchFamily="34" charset="0"/>
              </a:rPr>
              <a:t>10</a:t>
            </a:r>
            <a:r>
              <a:rPr lang="en-US" altLang="ko-KR" sz="1600" b="1">
                <a:solidFill>
                  <a:srgbClr val="000000"/>
                </a:solidFill>
                <a:cs typeface="Arial" panose="020B0604020202020204" pitchFamily="34" charset="0"/>
              </a:rPr>
              <a:t>:		E </a:t>
            </a:r>
            <a:r>
              <a:rPr lang="en-US" altLang="ko-KR" sz="16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 0</a:t>
            </a:r>
            <a:endParaRPr lang="en-US" altLang="ko-KR" sz="1600" b="1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1600" b="1">
                <a:solidFill>
                  <a:srgbClr val="000000"/>
                </a:solidFill>
                <a:cs typeface="Arial" panose="020B0604020202020204" pitchFamily="34" charset="0"/>
              </a:rPr>
              <a:t>CMA	rB</a:t>
            </a:r>
            <a:r>
              <a:rPr lang="en-US" altLang="ko-KR" sz="1600" b="1" baseline="-25000">
                <a:solidFill>
                  <a:srgbClr val="000000"/>
                </a:solidFill>
                <a:cs typeface="Arial" panose="020B0604020202020204" pitchFamily="34" charset="0"/>
              </a:rPr>
              <a:t>9</a:t>
            </a:r>
            <a:r>
              <a:rPr lang="en-US" altLang="ko-KR" sz="1600" b="1">
                <a:solidFill>
                  <a:srgbClr val="000000"/>
                </a:solidFill>
                <a:cs typeface="Arial" panose="020B0604020202020204" pitchFamily="34" charset="0"/>
              </a:rPr>
              <a:t>:		AC </a:t>
            </a:r>
            <a:r>
              <a:rPr lang="en-US" altLang="ko-KR" sz="16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 AC’</a:t>
            </a:r>
            <a:endParaRPr lang="en-US" altLang="ko-KR" sz="1600" b="1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1600" b="1">
                <a:solidFill>
                  <a:srgbClr val="000000"/>
                </a:solidFill>
                <a:cs typeface="Arial" panose="020B0604020202020204" pitchFamily="34" charset="0"/>
              </a:rPr>
              <a:t>CME	rB</a:t>
            </a:r>
            <a:r>
              <a:rPr lang="en-US" altLang="ko-KR" sz="1600" b="1" baseline="-25000">
                <a:solidFill>
                  <a:srgbClr val="000000"/>
                </a:solidFill>
                <a:cs typeface="Arial" panose="020B0604020202020204" pitchFamily="34" charset="0"/>
              </a:rPr>
              <a:t>8</a:t>
            </a:r>
            <a:r>
              <a:rPr lang="en-US" altLang="ko-KR" sz="1600" b="1">
                <a:solidFill>
                  <a:srgbClr val="000000"/>
                </a:solidFill>
                <a:cs typeface="Arial" panose="020B0604020202020204" pitchFamily="34" charset="0"/>
              </a:rPr>
              <a:t>:		E </a:t>
            </a:r>
            <a:r>
              <a:rPr lang="en-US" altLang="ko-KR" sz="16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 E’</a:t>
            </a:r>
            <a:endParaRPr lang="en-US" altLang="ko-KR" sz="1600" b="1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1600" b="1">
                <a:solidFill>
                  <a:srgbClr val="000000"/>
                </a:solidFill>
                <a:cs typeface="Arial" panose="020B0604020202020204" pitchFamily="34" charset="0"/>
              </a:rPr>
              <a:t>CIR	rB</a:t>
            </a:r>
            <a:r>
              <a:rPr lang="en-US" altLang="ko-KR" sz="1600" b="1" baseline="-25000">
                <a:solidFill>
                  <a:srgbClr val="000000"/>
                </a:solidFill>
                <a:cs typeface="Arial" panose="020B0604020202020204" pitchFamily="34" charset="0"/>
              </a:rPr>
              <a:t>7</a:t>
            </a:r>
            <a:r>
              <a:rPr lang="en-US" altLang="ko-KR" sz="1600" b="1">
                <a:solidFill>
                  <a:srgbClr val="000000"/>
                </a:solidFill>
                <a:cs typeface="Arial" panose="020B0604020202020204" pitchFamily="34" charset="0"/>
              </a:rPr>
              <a:t>:		AC </a:t>
            </a:r>
            <a:r>
              <a:rPr lang="en-US" altLang="ko-KR" sz="16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 shr AC, AC(15)  E, E  AC(0)</a:t>
            </a:r>
            <a:endParaRPr lang="en-US" altLang="ko-KR" sz="1600" b="1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1600" b="1">
                <a:solidFill>
                  <a:srgbClr val="000000"/>
                </a:solidFill>
                <a:cs typeface="Arial" panose="020B0604020202020204" pitchFamily="34" charset="0"/>
              </a:rPr>
              <a:t>CIL	rB</a:t>
            </a:r>
            <a:r>
              <a:rPr lang="en-US" altLang="ko-KR" sz="1600" b="1" baseline="-25000">
                <a:solidFill>
                  <a:srgbClr val="000000"/>
                </a:solidFill>
                <a:cs typeface="Arial" panose="020B0604020202020204" pitchFamily="34" charset="0"/>
              </a:rPr>
              <a:t>6</a:t>
            </a:r>
            <a:r>
              <a:rPr lang="en-US" altLang="ko-KR" sz="1600" b="1">
                <a:solidFill>
                  <a:srgbClr val="000000"/>
                </a:solidFill>
                <a:cs typeface="Arial" panose="020B0604020202020204" pitchFamily="34" charset="0"/>
              </a:rPr>
              <a:t>:		AC </a:t>
            </a:r>
            <a:r>
              <a:rPr lang="en-US" altLang="ko-KR" sz="16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 shl AC, AC(0)  E, E  AC(15)</a:t>
            </a:r>
            <a:endParaRPr lang="en-US" altLang="ko-KR" sz="1600" b="1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1600" b="1">
                <a:solidFill>
                  <a:srgbClr val="000000"/>
                </a:solidFill>
                <a:cs typeface="Arial" panose="020B0604020202020204" pitchFamily="34" charset="0"/>
              </a:rPr>
              <a:t>INC	rB</a:t>
            </a:r>
            <a:r>
              <a:rPr lang="en-US" altLang="ko-KR" sz="1600" b="1" baseline="-25000">
                <a:solidFill>
                  <a:srgbClr val="000000"/>
                </a:solidFill>
                <a:cs typeface="Arial" panose="020B0604020202020204" pitchFamily="34" charset="0"/>
              </a:rPr>
              <a:t>5</a:t>
            </a:r>
            <a:r>
              <a:rPr lang="en-US" altLang="ko-KR" sz="1600" b="1">
                <a:solidFill>
                  <a:srgbClr val="000000"/>
                </a:solidFill>
                <a:cs typeface="Arial" panose="020B0604020202020204" pitchFamily="34" charset="0"/>
              </a:rPr>
              <a:t>:		AC </a:t>
            </a:r>
            <a:r>
              <a:rPr lang="en-US" altLang="ko-KR" sz="16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 AC + 1</a:t>
            </a:r>
            <a:endParaRPr lang="en-US" altLang="ko-KR" sz="1600" b="1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1600" b="1">
                <a:solidFill>
                  <a:srgbClr val="000000"/>
                </a:solidFill>
                <a:cs typeface="Arial" panose="020B0604020202020204" pitchFamily="34" charset="0"/>
              </a:rPr>
              <a:t>SPA	rB</a:t>
            </a:r>
            <a:r>
              <a:rPr lang="en-US" altLang="ko-KR" sz="1600" b="1" baseline="-25000">
                <a:solidFill>
                  <a:srgbClr val="000000"/>
                </a:solidFill>
                <a:cs typeface="Arial" panose="020B0604020202020204" pitchFamily="34" charset="0"/>
              </a:rPr>
              <a:t>4</a:t>
            </a:r>
            <a:r>
              <a:rPr lang="en-US" altLang="ko-KR" sz="1600" b="1">
                <a:solidFill>
                  <a:srgbClr val="000000"/>
                </a:solidFill>
                <a:cs typeface="Arial" panose="020B0604020202020204" pitchFamily="34" charset="0"/>
              </a:rPr>
              <a:t>:		if (AC(15) = 0) then (PC </a:t>
            </a:r>
            <a:r>
              <a:rPr lang="en-US" altLang="ko-KR" sz="16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 PC+1)</a:t>
            </a:r>
            <a:endParaRPr lang="en-US" altLang="ko-KR" sz="1600" b="1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1600" b="1">
                <a:solidFill>
                  <a:srgbClr val="000000"/>
                </a:solidFill>
                <a:cs typeface="Arial" panose="020B0604020202020204" pitchFamily="34" charset="0"/>
              </a:rPr>
              <a:t>SNA	rB</a:t>
            </a:r>
            <a:r>
              <a:rPr lang="en-US" altLang="ko-KR" sz="1600" b="1" baseline="-25000">
                <a:solidFill>
                  <a:srgbClr val="000000"/>
                </a:solidFill>
                <a:cs typeface="Arial" panose="020B0604020202020204" pitchFamily="34" charset="0"/>
              </a:rPr>
              <a:t>3</a:t>
            </a:r>
            <a:r>
              <a:rPr lang="en-US" altLang="ko-KR" sz="1600" b="1">
                <a:solidFill>
                  <a:srgbClr val="000000"/>
                </a:solidFill>
                <a:cs typeface="Arial" panose="020B0604020202020204" pitchFamily="34" charset="0"/>
              </a:rPr>
              <a:t>:		if (AC(15) = 1) then (PC </a:t>
            </a:r>
            <a:r>
              <a:rPr lang="en-US" altLang="ko-KR" sz="16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 PC+1)</a:t>
            </a:r>
            <a:endParaRPr lang="en-US" altLang="ko-KR" sz="1600" b="1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1600" b="1">
                <a:solidFill>
                  <a:srgbClr val="000000"/>
                </a:solidFill>
                <a:cs typeface="Arial" panose="020B0604020202020204" pitchFamily="34" charset="0"/>
              </a:rPr>
              <a:t>SZA	rB</a:t>
            </a:r>
            <a:r>
              <a:rPr lang="en-US" altLang="ko-KR" sz="1600" b="1" baseline="-25000">
                <a:solidFill>
                  <a:srgbClr val="000000"/>
                </a:solidFill>
                <a:cs typeface="Arial" panose="020B0604020202020204" pitchFamily="34" charset="0"/>
              </a:rPr>
              <a:t>2</a:t>
            </a:r>
            <a:r>
              <a:rPr lang="en-US" altLang="ko-KR" sz="1600" b="1">
                <a:solidFill>
                  <a:srgbClr val="000000"/>
                </a:solidFill>
                <a:cs typeface="Arial" panose="020B0604020202020204" pitchFamily="34" charset="0"/>
              </a:rPr>
              <a:t>:		if (AC = 0) then (PC </a:t>
            </a:r>
            <a:r>
              <a:rPr lang="en-US" altLang="ko-KR" sz="16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 PC+1)</a:t>
            </a:r>
            <a:endParaRPr lang="en-US" altLang="ko-KR" sz="1600" b="1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1600" b="1">
                <a:solidFill>
                  <a:srgbClr val="000000"/>
                </a:solidFill>
                <a:cs typeface="Arial" panose="020B0604020202020204" pitchFamily="34" charset="0"/>
              </a:rPr>
              <a:t>SZE	rB</a:t>
            </a:r>
            <a:r>
              <a:rPr lang="en-US" altLang="ko-KR" sz="1600" b="1" baseline="-25000">
                <a:solidFill>
                  <a:srgbClr val="000000"/>
                </a:solidFill>
                <a:cs typeface="Arial" panose="020B0604020202020204" pitchFamily="34" charset="0"/>
              </a:rPr>
              <a:t>1</a:t>
            </a:r>
            <a:r>
              <a:rPr lang="en-US" altLang="ko-KR" sz="1600" b="1">
                <a:solidFill>
                  <a:srgbClr val="000000"/>
                </a:solidFill>
                <a:cs typeface="Arial" panose="020B0604020202020204" pitchFamily="34" charset="0"/>
              </a:rPr>
              <a:t>:		if (E = 0) then (PC </a:t>
            </a:r>
            <a:r>
              <a:rPr lang="en-US" altLang="ko-KR" sz="16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 PC+1)</a:t>
            </a:r>
            <a:endParaRPr lang="en-US" altLang="ko-KR" sz="1600" b="1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1600" b="1">
                <a:solidFill>
                  <a:srgbClr val="000000"/>
                </a:solidFill>
                <a:cs typeface="Arial" panose="020B0604020202020204" pitchFamily="34" charset="0"/>
              </a:rPr>
              <a:t>HLT	rB</a:t>
            </a:r>
            <a:r>
              <a:rPr lang="en-US" altLang="ko-KR" sz="1600" b="1" baseline="-25000">
                <a:solidFill>
                  <a:srgbClr val="000000"/>
                </a:solidFill>
                <a:cs typeface="Arial" panose="020B0604020202020204" pitchFamily="34" charset="0"/>
              </a:rPr>
              <a:t>0</a:t>
            </a:r>
            <a:r>
              <a:rPr lang="en-US" altLang="ko-KR" sz="1600" b="1">
                <a:solidFill>
                  <a:srgbClr val="000000"/>
                </a:solidFill>
                <a:cs typeface="Arial" panose="020B0604020202020204" pitchFamily="34" charset="0"/>
              </a:rPr>
              <a:t>:		S </a:t>
            </a:r>
            <a:r>
              <a:rPr lang="en-US" altLang="ko-KR" sz="16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 0  (S is a start-stop flip-flop)</a:t>
            </a:r>
          </a:p>
        </p:txBody>
      </p:sp>
      <p:sp>
        <p:nvSpPr>
          <p:cNvPr id="26635" name="Rectangle 74"/>
          <p:cNvSpPr>
            <a:spLocks noChangeArrowheads="1"/>
          </p:cNvSpPr>
          <p:nvPr/>
        </p:nvSpPr>
        <p:spPr bwMode="auto">
          <a:xfrm>
            <a:off x="2552701" y="3162300"/>
            <a:ext cx="6677025" cy="33147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600" b="1">
              <a:cs typeface="Arial" panose="020B0604020202020204" pitchFamily="34" charset="0"/>
            </a:endParaRPr>
          </a:p>
        </p:txBody>
      </p:sp>
      <p:sp>
        <p:nvSpPr>
          <p:cNvPr id="26636" name="Line 75"/>
          <p:cNvSpPr>
            <a:spLocks noChangeShapeType="1"/>
          </p:cNvSpPr>
          <p:nvPr/>
        </p:nvSpPr>
        <p:spPr bwMode="auto">
          <a:xfrm>
            <a:off x="3314700" y="3171826"/>
            <a:ext cx="0" cy="330517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637" name="Line 76"/>
          <p:cNvSpPr>
            <a:spLocks noChangeShapeType="1"/>
          </p:cNvSpPr>
          <p:nvPr/>
        </p:nvSpPr>
        <p:spPr bwMode="auto">
          <a:xfrm>
            <a:off x="4181475" y="3171826"/>
            <a:ext cx="0" cy="330517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43975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7652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654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Memory Reference Instructions</a:t>
            </a:r>
          </a:p>
        </p:txBody>
      </p:sp>
      <p:grpSp>
        <p:nvGrpSpPr>
          <p:cNvPr id="27655" name="Group 21"/>
          <p:cNvGrpSpPr>
            <a:grpSpLocks/>
          </p:cNvGrpSpPr>
          <p:nvPr/>
        </p:nvGrpSpPr>
        <p:grpSpPr bwMode="auto">
          <a:xfrm>
            <a:off x="1901826" y="1081089"/>
            <a:ext cx="8842375" cy="5091108"/>
            <a:chOff x="171450" y="862013"/>
            <a:chExt cx="8842375" cy="5092052"/>
          </a:xfrm>
        </p:grpSpPr>
        <p:sp>
          <p:nvSpPr>
            <p:cNvPr id="27656" name="Rectangle 3"/>
            <p:cNvSpPr>
              <a:spLocks noChangeArrowheads="1"/>
            </p:cNvSpPr>
            <p:nvPr/>
          </p:nvSpPr>
          <p:spPr bwMode="auto">
            <a:xfrm>
              <a:off x="738188" y="862013"/>
              <a:ext cx="34925" cy="157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200" b="1">
                <a:cs typeface="Arial" panose="020B0604020202020204" pitchFamily="34" charset="0"/>
              </a:endParaRPr>
            </a:p>
          </p:txBody>
        </p:sp>
        <p:sp>
          <p:nvSpPr>
            <p:cNvPr id="27657" name="Rectangle 4"/>
            <p:cNvSpPr>
              <a:spLocks noChangeArrowheads="1"/>
            </p:cNvSpPr>
            <p:nvPr/>
          </p:nvSpPr>
          <p:spPr bwMode="auto">
            <a:xfrm>
              <a:off x="171450" y="4595813"/>
              <a:ext cx="6972165" cy="1358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2000"/>
                </a:lnSpc>
              </a:pPr>
              <a:r>
                <a:rPr lang="en-US" altLang="ko-KR" sz="1200" b="1" dirty="0">
                  <a:cs typeface="Arial" panose="020B0604020202020204" pitchFamily="34" charset="0"/>
                </a:rPr>
                <a:t>AND to AC</a:t>
              </a:r>
            </a:p>
            <a:p>
              <a:pPr eaLnBrk="1" hangingPunct="1">
                <a:lnSpc>
                  <a:spcPct val="102000"/>
                </a:lnSpc>
              </a:pPr>
              <a:r>
                <a:rPr lang="en-US" altLang="ko-KR" sz="1200" b="1" dirty="0">
                  <a:cs typeface="Arial" panose="020B0604020202020204" pitchFamily="34" charset="0"/>
                </a:rPr>
                <a:t>	D</a:t>
              </a:r>
              <a:r>
                <a:rPr lang="en-US" altLang="ko-KR" sz="1200" b="1" baseline="-25000" dirty="0">
                  <a:cs typeface="Arial" panose="020B0604020202020204" pitchFamily="34" charset="0"/>
                </a:rPr>
                <a:t>0</a:t>
              </a:r>
              <a:r>
                <a:rPr lang="en-US" altLang="ko-KR" sz="1200" b="1" dirty="0">
                  <a:cs typeface="Arial" panose="020B0604020202020204" pitchFamily="34" charset="0"/>
                </a:rPr>
                <a:t>T</a:t>
              </a:r>
              <a:r>
                <a:rPr lang="en-US" altLang="ko-KR" sz="1200" b="1" baseline="-25000" dirty="0">
                  <a:cs typeface="Arial" panose="020B0604020202020204" pitchFamily="34" charset="0"/>
                </a:rPr>
                <a:t>4</a:t>
              </a:r>
              <a:r>
                <a:rPr lang="en-US" altLang="ko-KR" sz="1200" b="1" dirty="0">
                  <a:cs typeface="Arial" panose="020B0604020202020204" pitchFamily="34" charset="0"/>
                </a:rPr>
                <a:t>:	DR </a:t>
              </a:r>
              <a:r>
                <a:rPr lang="en-US" altLang="ko-KR" sz="1200" b="1" dirty="0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 M[AR]				Read operand</a:t>
              </a:r>
            </a:p>
            <a:p>
              <a:pPr eaLnBrk="1" hangingPunct="1">
                <a:lnSpc>
                  <a:spcPct val="102000"/>
                </a:lnSpc>
              </a:pPr>
              <a:r>
                <a:rPr lang="en-US" altLang="ko-KR" sz="1200" b="1" dirty="0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	D</a:t>
              </a:r>
              <a:r>
                <a:rPr lang="en-US" altLang="ko-KR" sz="1200" b="1" baseline="-25000" dirty="0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0</a:t>
              </a:r>
              <a:r>
                <a:rPr lang="en-US" altLang="ko-KR" sz="1200" b="1" dirty="0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T</a:t>
              </a:r>
              <a:r>
                <a:rPr lang="en-US" altLang="ko-KR" sz="1200" b="1" baseline="-25000" dirty="0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5</a:t>
              </a:r>
              <a:r>
                <a:rPr lang="en-US" altLang="ko-KR" sz="1200" b="1" dirty="0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:	AC  AC  DR, SC  0			AND with AC</a:t>
              </a:r>
            </a:p>
            <a:p>
              <a:pPr eaLnBrk="1" hangingPunct="1">
                <a:lnSpc>
                  <a:spcPct val="102000"/>
                </a:lnSpc>
              </a:pPr>
              <a:r>
                <a:rPr lang="en-US" altLang="ko-KR" sz="1200" b="1" dirty="0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ADD to AC</a:t>
              </a:r>
            </a:p>
            <a:p>
              <a:pPr eaLnBrk="1" hangingPunct="1">
                <a:lnSpc>
                  <a:spcPct val="102000"/>
                </a:lnSpc>
              </a:pPr>
              <a:r>
                <a:rPr lang="en-US" altLang="ko-KR" sz="1200" b="1" dirty="0">
                  <a:cs typeface="Arial" panose="020B0604020202020204" pitchFamily="34" charset="0"/>
                </a:rPr>
                <a:t>	D</a:t>
              </a:r>
              <a:r>
                <a:rPr lang="en-US" altLang="ko-KR" sz="1200" b="1" baseline="-25000" dirty="0">
                  <a:cs typeface="Arial" panose="020B0604020202020204" pitchFamily="34" charset="0"/>
                </a:rPr>
                <a:t>1</a:t>
              </a:r>
              <a:r>
                <a:rPr lang="en-US" altLang="ko-KR" sz="1200" b="1" dirty="0">
                  <a:cs typeface="Arial" panose="020B0604020202020204" pitchFamily="34" charset="0"/>
                </a:rPr>
                <a:t>T</a:t>
              </a:r>
              <a:r>
                <a:rPr lang="en-US" altLang="ko-KR" sz="1200" b="1" baseline="-25000" dirty="0">
                  <a:cs typeface="Arial" panose="020B0604020202020204" pitchFamily="34" charset="0"/>
                </a:rPr>
                <a:t>4</a:t>
              </a:r>
              <a:r>
                <a:rPr lang="en-US" altLang="ko-KR" sz="1200" b="1" dirty="0">
                  <a:cs typeface="Arial" panose="020B0604020202020204" pitchFamily="34" charset="0"/>
                </a:rPr>
                <a:t>:	DR </a:t>
              </a:r>
              <a:r>
                <a:rPr lang="en-US" altLang="ko-KR" sz="1200" b="1" dirty="0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 M[AR]				Read operand</a:t>
              </a:r>
            </a:p>
            <a:p>
              <a:pPr eaLnBrk="1" hangingPunct="1">
                <a:lnSpc>
                  <a:spcPct val="102000"/>
                </a:lnSpc>
              </a:pPr>
              <a:r>
                <a:rPr lang="en-US" altLang="ko-KR" sz="1200" b="1" dirty="0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	D</a:t>
              </a:r>
              <a:r>
                <a:rPr lang="en-US" altLang="ko-KR" sz="1200" b="1" baseline="-25000" dirty="0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1</a:t>
              </a:r>
              <a:r>
                <a:rPr lang="en-US" altLang="ko-KR" sz="1200" b="1" dirty="0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T</a:t>
              </a:r>
              <a:r>
                <a:rPr lang="en-US" altLang="ko-KR" sz="1200" b="1" baseline="-25000" dirty="0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5</a:t>
              </a:r>
              <a:r>
                <a:rPr lang="en-US" altLang="ko-KR" sz="1200" b="1" dirty="0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:	AC  AC + DR, E  </a:t>
              </a:r>
              <a:r>
                <a:rPr lang="en-US" altLang="ko-KR" sz="1200" b="1" dirty="0" err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C</a:t>
              </a:r>
              <a:r>
                <a:rPr lang="en-US" altLang="ko-KR" sz="1200" b="1" baseline="-25000" dirty="0" err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out</a:t>
              </a:r>
              <a:r>
                <a:rPr lang="en-US" altLang="ko-KR" sz="1200" b="1" dirty="0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, SC  0	Add to AC and store carry in E</a:t>
              </a:r>
            </a:p>
            <a:p>
              <a:pPr eaLnBrk="1" hangingPunct="1">
                <a:lnSpc>
                  <a:spcPct val="102000"/>
                </a:lnSpc>
              </a:pPr>
              <a:endParaRPr lang="en-US" altLang="ko-KR" sz="1200" b="1" dirty="0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endParaRPr>
            </a:p>
          </p:txBody>
        </p:sp>
        <p:sp>
          <p:nvSpPr>
            <p:cNvPr id="27658" name="Rectangle 6"/>
            <p:cNvSpPr>
              <a:spLocks noChangeArrowheads="1"/>
            </p:cNvSpPr>
            <p:nvPr/>
          </p:nvSpPr>
          <p:spPr bwMode="auto">
            <a:xfrm>
              <a:off x="352425" y="3422650"/>
              <a:ext cx="8661400" cy="10361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3500" tIns="25400" rIns="63500" bIns="2540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600" b="1">
                  <a:cs typeface="Arial" panose="020B0604020202020204" pitchFamily="34" charset="0"/>
                </a:rPr>
                <a:t>- The effective address of the instruction is in AR and was placed there during </a:t>
              </a:r>
            </a:p>
            <a:p>
              <a:pPr eaLnBrk="1" hangingPunct="1"/>
              <a:r>
                <a:rPr lang="en-US" altLang="ko-KR" sz="1600" b="1">
                  <a:cs typeface="Arial" panose="020B0604020202020204" pitchFamily="34" charset="0"/>
                </a:rPr>
                <a:t>	timing signal T</a:t>
              </a:r>
              <a:r>
                <a:rPr lang="en-US" altLang="ko-KR" sz="1600" b="1" baseline="-25000">
                  <a:cs typeface="Arial" panose="020B0604020202020204" pitchFamily="34" charset="0"/>
                </a:rPr>
                <a:t>2</a:t>
              </a:r>
              <a:r>
                <a:rPr lang="en-US" altLang="ko-KR" sz="1600" b="1">
                  <a:cs typeface="Arial" panose="020B0604020202020204" pitchFamily="34" charset="0"/>
                </a:rPr>
                <a:t> when I = 0, or during timing signal T</a:t>
              </a:r>
              <a:r>
                <a:rPr lang="en-US" altLang="ko-KR" sz="1600" b="1" baseline="-25000">
                  <a:cs typeface="Arial" panose="020B0604020202020204" pitchFamily="34" charset="0"/>
                </a:rPr>
                <a:t>3</a:t>
              </a:r>
              <a:r>
                <a:rPr lang="en-US" altLang="ko-KR" sz="1600" b="1">
                  <a:cs typeface="Arial" panose="020B0604020202020204" pitchFamily="34" charset="0"/>
                </a:rPr>
                <a:t> when I = 1</a:t>
              </a:r>
            </a:p>
            <a:p>
              <a:pPr eaLnBrk="1" hangingPunct="1"/>
              <a:r>
                <a:rPr lang="en-US" altLang="ko-KR" sz="1600" b="1">
                  <a:cs typeface="Arial" panose="020B0604020202020204" pitchFamily="34" charset="0"/>
                </a:rPr>
                <a:t>- Memory cycle is assumed to be short enough to complete in a CPU cycle</a:t>
              </a:r>
            </a:p>
            <a:p>
              <a:pPr eaLnBrk="1" hangingPunct="1"/>
              <a:r>
                <a:rPr lang="en-US" altLang="ko-KR" sz="1600" b="1">
                  <a:cs typeface="Arial" panose="020B0604020202020204" pitchFamily="34" charset="0"/>
                </a:rPr>
                <a:t>- The execution of MR instruction starts with T</a:t>
              </a:r>
              <a:r>
                <a:rPr lang="en-US" altLang="ko-KR" sz="1600" b="1" baseline="-25000">
                  <a:cs typeface="Arial" panose="020B0604020202020204" pitchFamily="34" charset="0"/>
                </a:rPr>
                <a:t>4</a:t>
              </a:r>
              <a:endParaRPr lang="en-US" altLang="ko-KR" sz="1600" b="1">
                <a:cs typeface="Arial" panose="020B0604020202020204" pitchFamily="34" charset="0"/>
              </a:endParaRPr>
            </a:p>
          </p:txBody>
        </p:sp>
        <p:sp>
          <p:nvSpPr>
            <p:cNvPr id="27659" name="Rectangle 45"/>
            <p:cNvSpPr>
              <a:spLocks noChangeArrowheads="1"/>
            </p:cNvSpPr>
            <p:nvPr/>
          </p:nvSpPr>
          <p:spPr bwMode="auto">
            <a:xfrm>
              <a:off x="523875" y="1054100"/>
              <a:ext cx="684483" cy="230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97000"/>
                </a:lnSpc>
              </a:pPr>
              <a:r>
                <a:rPr lang="en-US" altLang="ko-KR" sz="1200" b="1">
                  <a:cs typeface="Arial" panose="020B0604020202020204" pitchFamily="34" charset="0"/>
                </a:rPr>
                <a:t>Symbol</a:t>
              </a:r>
            </a:p>
          </p:txBody>
        </p:sp>
        <p:sp>
          <p:nvSpPr>
            <p:cNvPr id="27660" name="Rectangle 46"/>
            <p:cNvSpPr>
              <a:spLocks noChangeArrowheads="1"/>
            </p:cNvSpPr>
            <p:nvPr/>
          </p:nvSpPr>
          <p:spPr bwMode="auto">
            <a:xfrm>
              <a:off x="1301750" y="965200"/>
              <a:ext cx="856004" cy="4095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97000"/>
                </a:lnSpc>
              </a:pPr>
              <a:r>
                <a:rPr lang="en-US" altLang="ko-KR" sz="1200" b="1">
                  <a:cs typeface="Arial" panose="020B0604020202020204" pitchFamily="34" charset="0"/>
                </a:rPr>
                <a:t>Operation</a:t>
              </a:r>
            </a:p>
            <a:p>
              <a:pPr eaLnBrk="1" hangingPunct="1">
                <a:lnSpc>
                  <a:spcPct val="97000"/>
                </a:lnSpc>
              </a:pPr>
              <a:r>
                <a:rPr lang="en-US" altLang="ko-KR" sz="1200" b="1">
                  <a:cs typeface="Arial" panose="020B0604020202020204" pitchFamily="34" charset="0"/>
                </a:rPr>
                <a:t>Decoder</a:t>
              </a:r>
            </a:p>
          </p:txBody>
        </p:sp>
        <p:sp>
          <p:nvSpPr>
            <p:cNvPr id="27661" name="Rectangle 47"/>
            <p:cNvSpPr>
              <a:spLocks noChangeArrowheads="1"/>
            </p:cNvSpPr>
            <p:nvPr/>
          </p:nvSpPr>
          <p:spPr bwMode="auto">
            <a:xfrm>
              <a:off x="2355850" y="1054100"/>
              <a:ext cx="1702389" cy="230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97000"/>
                </a:lnSpc>
              </a:pPr>
              <a:r>
                <a:rPr lang="en-US" altLang="ko-KR" sz="1200" b="1">
                  <a:cs typeface="Arial" panose="020B0604020202020204" pitchFamily="34" charset="0"/>
                </a:rPr>
                <a:t>Symbolic Description</a:t>
              </a:r>
            </a:p>
          </p:txBody>
        </p:sp>
        <p:sp>
          <p:nvSpPr>
            <p:cNvPr id="27662" name="Line 48"/>
            <p:cNvSpPr>
              <a:spLocks noChangeShapeType="1"/>
            </p:cNvSpPr>
            <p:nvPr/>
          </p:nvSpPr>
          <p:spPr bwMode="auto">
            <a:xfrm>
              <a:off x="1225550" y="952500"/>
              <a:ext cx="0" cy="21955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63" name="Rectangle 50"/>
            <p:cNvSpPr>
              <a:spLocks noChangeArrowheads="1"/>
            </p:cNvSpPr>
            <p:nvPr/>
          </p:nvSpPr>
          <p:spPr bwMode="auto">
            <a:xfrm>
              <a:off x="428625" y="952500"/>
              <a:ext cx="7700963" cy="2187575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200" b="1">
                <a:cs typeface="Arial" panose="020B0604020202020204" pitchFamily="34" charset="0"/>
              </a:endParaRPr>
            </a:p>
          </p:txBody>
        </p:sp>
        <p:sp>
          <p:nvSpPr>
            <p:cNvPr id="27664" name="Text Box 89"/>
            <p:cNvSpPr txBox="1">
              <a:spLocks noChangeArrowheads="1"/>
            </p:cNvSpPr>
            <p:nvPr/>
          </p:nvSpPr>
          <p:spPr bwMode="auto">
            <a:xfrm>
              <a:off x="469900" y="1322388"/>
              <a:ext cx="7100021" cy="18158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600" b="1">
                  <a:solidFill>
                    <a:srgbClr val="000000"/>
                  </a:solidFill>
                  <a:cs typeface="Arial" panose="020B0604020202020204" pitchFamily="34" charset="0"/>
                </a:rPr>
                <a:t>AND	  D</a:t>
              </a:r>
              <a:r>
                <a:rPr lang="en-US" altLang="ko-KR" sz="1600" b="1" baseline="-25000">
                  <a:solidFill>
                    <a:srgbClr val="000000"/>
                  </a:solidFill>
                  <a:cs typeface="Arial" panose="020B0604020202020204" pitchFamily="34" charset="0"/>
                </a:rPr>
                <a:t>0</a:t>
              </a:r>
              <a:r>
                <a:rPr lang="en-US" altLang="ko-KR" sz="1600" b="1">
                  <a:solidFill>
                    <a:srgbClr val="000000"/>
                  </a:solidFill>
                  <a:cs typeface="Arial" panose="020B0604020202020204" pitchFamily="34" charset="0"/>
                </a:rPr>
                <a:t>	   AC </a:t>
              </a:r>
              <a:r>
                <a:rPr lang="en-US" altLang="ko-KR" sz="16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  AC  M[AR]</a:t>
              </a:r>
            </a:p>
            <a:p>
              <a:pPr eaLnBrk="1" hangingPunct="1"/>
              <a:r>
                <a:rPr lang="en-US" altLang="ko-KR" sz="1600" b="1">
                  <a:solidFill>
                    <a:srgbClr val="000000"/>
                  </a:solidFill>
                  <a:cs typeface="Arial" panose="020B0604020202020204" pitchFamily="34" charset="0"/>
                </a:rPr>
                <a:t>ADD	  D</a:t>
              </a:r>
              <a:r>
                <a:rPr lang="en-US" altLang="ko-KR" sz="1600" b="1" baseline="-25000">
                  <a:solidFill>
                    <a:srgbClr val="000000"/>
                  </a:solidFill>
                  <a:cs typeface="Arial" panose="020B0604020202020204" pitchFamily="34" charset="0"/>
                </a:rPr>
                <a:t>1</a:t>
              </a:r>
              <a:r>
                <a:rPr lang="en-US" altLang="ko-KR" sz="1600" b="1">
                  <a:solidFill>
                    <a:srgbClr val="000000"/>
                  </a:solidFill>
                  <a:cs typeface="Arial" panose="020B0604020202020204" pitchFamily="34" charset="0"/>
                </a:rPr>
                <a:t>	   AC </a:t>
              </a:r>
              <a:r>
                <a:rPr lang="en-US" altLang="ko-KR" sz="16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  AC + M[AR], E  C</a:t>
              </a:r>
              <a:r>
                <a:rPr lang="en-US" altLang="ko-KR" sz="1600" b="1" baseline="-25000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out</a:t>
              </a:r>
              <a:endParaRPr lang="en-US" altLang="ko-KR" sz="16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endParaRPr>
            </a:p>
            <a:p>
              <a:pPr eaLnBrk="1" hangingPunct="1"/>
              <a:r>
                <a:rPr lang="en-US" altLang="ko-KR" sz="1600" b="1">
                  <a:solidFill>
                    <a:srgbClr val="000000"/>
                  </a:solidFill>
                  <a:cs typeface="Arial" panose="020B0604020202020204" pitchFamily="34" charset="0"/>
                </a:rPr>
                <a:t>LDA	  D</a:t>
              </a:r>
              <a:r>
                <a:rPr lang="en-US" altLang="ko-KR" sz="1600" b="1" baseline="-25000">
                  <a:solidFill>
                    <a:srgbClr val="000000"/>
                  </a:solidFill>
                  <a:cs typeface="Arial" panose="020B0604020202020204" pitchFamily="34" charset="0"/>
                </a:rPr>
                <a:t>2</a:t>
              </a:r>
              <a:r>
                <a:rPr lang="en-US" altLang="ko-KR" sz="1600" b="1">
                  <a:solidFill>
                    <a:srgbClr val="000000"/>
                  </a:solidFill>
                  <a:cs typeface="Arial" panose="020B0604020202020204" pitchFamily="34" charset="0"/>
                </a:rPr>
                <a:t>	   AC </a:t>
              </a:r>
              <a:r>
                <a:rPr lang="en-US" altLang="ko-KR" sz="16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  M[AR]</a:t>
              </a:r>
            </a:p>
            <a:p>
              <a:pPr eaLnBrk="1" hangingPunct="1"/>
              <a:r>
                <a:rPr lang="en-US" altLang="ko-KR" sz="1600" b="1">
                  <a:solidFill>
                    <a:srgbClr val="000000"/>
                  </a:solidFill>
                  <a:cs typeface="Arial" panose="020B0604020202020204" pitchFamily="34" charset="0"/>
                </a:rPr>
                <a:t>STA	  D</a:t>
              </a:r>
              <a:r>
                <a:rPr lang="en-US" altLang="ko-KR" sz="1600" b="1" baseline="-25000">
                  <a:solidFill>
                    <a:srgbClr val="000000"/>
                  </a:solidFill>
                  <a:cs typeface="Arial" panose="020B0604020202020204" pitchFamily="34" charset="0"/>
                </a:rPr>
                <a:t>3</a:t>
              </a:r>
              <a:r>
                <a:rPr lang="en-US" altLang="ko-KR" sz="1600" b="1">
                  <a:solidFill>
                    <a:srgbClr val="000000"/>
                  </a:solidFill>
                  <a:cs typeface="Arial" panose="020B0604020202020204" pitchFamily="34" charset="0"/>
                </a:rPr>
                <a:t>	   M[AR] </a:t>
              </a:r>
              <a:r>
                <a:rPr lang="en-US" altLang="ko-KR" sz="16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  AC</a:t>
              </a:r>
            </a:p>
            <a:p>
              <a:pPr eaLnBrk="1" hangingPunct="1"/>
              <a:r>
                <a:rPr lang="en-US" altLang="ko-KR" sz="1600" b="1">
                  <a:solidFill>
                    <a:srgbClr val="000000"/>
                  </a:solidFill>
                  <a:cs typeface="Arial" panose="020B0604020202020204" pitchFamily="34" charset="0"/>
                </a:rPr>
                <a:t>BUN  	  D</a:t>
              </a:r>
              <a:r>
                <a:rPr lang="en-US" altLang="ko-KR" sz="1600" b="1" baseline="-25000">
                  <a:solidFill>
                    <a:srgbClr val="000000"/>
                  </a:solidFill>
                  <a:cs typeface="Arial" panose="020B0604020202020204" pitchFamily="34" charset="0"/>
                </a:rPr>
                <a:t>4</a:t>
              </a:r>
              <a:r>
                <a:rPr lang="en-US" altLang="ko-KR" sz="1600" b="1">
                  <a:solidFill>
                    <a:srgbClr val="000000"/>
                  </a:solidFill>
                  <a:cs typeface="Arial" panose="020B0604020202020204" pitchFamily="34" charset="0"/>
                </a:rPr>
                <a:t>	   PC </a:t>
              </a:r>
              <a:r>
                <a:rPr lang="en-US" altLang="ko-KR" sz="16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  AR</a:t>
              </a:r>
            </a:p>
            <a:p>
              <a:pPr eaLnBrk="1" hangingPunct="1"/>
              <a:r>
                <a:rPr lang="en-US" altLang="ko-KR" sz="1600" b="1">
                  <a:solidFill>
                    <a:srgbClr val="000000"/>
                  </a:solidFill>
                  <a:cs typeface="Arial" panose="020B0604020202020204" pitchFamily="34" charset="0"/>
                </a:rPr>
                <a:t>BSA	  D</a:t>
              </a:r>
              <a:r>
                <a:rPr lang="en-US" altLang="ko-KR" sz="1600" b="1" baseline="-25000">
                  <a:solidFill>
                    <a:srgbClr val="000000"/>
                  </a:solidFill>
                  <a:cs typeface="Arial" panose="020B0604020202020204" pitchFamily="34" charset="0"/>
                </a:rPr>
                <a:t>5</a:t>
              </a:r>
              <a:r>
                <a:rPr lang="en-US" altLang="ko-KR" sz="1600" b="1">
                  <a:solidFill>
                    <a:srgbClr val="000000"/>
                  </a:solidFill>
                  <a:cs typeface="Arial" panose="020B0604020202020204" pitchFamily="34" charset="0"/>
                </a:rPr>
                <a:t>	   M[AR] </a:t>
              </a:r>
              <a:r>
                <a:rPr lang="en-US" altLang="ko-KR" sz="16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  PC, PC  AR + 1</a:t>
              </a:r>
            </a:p>
            <a:p>
              <a:pPr eaLnBrk="1" hangingPunct="1"/>
              <a:r>
                <a:rPr lang="en-US" altLang="ko-KR" sz="1600" b="1">
                  <a:solidFill>
                    <a:srgbClr val="000000"/>
                  </a:solidFill>
                  <a:cs typeface="Arial" panose="020B0604020202020204" pitchFamily="34" charset="0"/>
                </a:rPr>
                <a:t>ISZ	  D</a:t>
              </a:r>
              <a:r>
                <a:rPr lang="en-US" altLang="ko-KR" sz="1600" b="1" baseline="-25000">
                  <a:solidFill>
                    <a:srgbClr val="000000"/>
                  </a:solidFill>
                  <a:cs typeface="Arial" panose="020B0604020202020204" pitchFamily="34" charset="0"/>
                </a:rPr>
                <a:t>6</a:t>
              </a:r>
              <a:r>
                <a:rPr lang="en-US" altLang="ko-KR" sz="1600" b="1">
                  <a:solidFill>
                    <a:srgbClr val="000000"/>
                  </a:solidFill>
                  <a:cs typeface="Arial" panose="020B0604020202020204" pitchFamily="34" charset="0"/>
                </a:rPr>
                <a:t>	   M[AR] </a:t>
              </a:r>
              <a:r>
                <a:rPr lang="en-US" altLang="ko-KR" sz="16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  M[AR] + 1, if M[AR] + 1 = 0 then PC  PC+1</a:t>
              </a:r>
            </a:p>
          </p:txBody>
        </p:sp>
        <p:sp>
          <p:nvSpPr>
            <p:cNvPr id="27665" name="Line 90"/>
            <p:cNvSpPr>
              <a:spLocks noChangeShapeType="1"/>
            </p:cNvSpPr>
            <p:nvPr/>
          </p:nvSpPr>
          <p:spPr bwMode="auto">
            <a:xfrm>
              <a:off x="2139950" y="971550"/>
              <a:ext cx="0" cy="21955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66" name="Line 91"/>
            <p:cNvSpPr>
              <a:spLocks noChangeShapeType="1"/>
            </p:cNvSpPr>
            <p:nvPr/>
          </p:nvSpPr>
          <p:spPr bwMode="auto">
            <a:xfrm>
              <a:off x="428625" y="1352550"/>
              <a:ext cx="772477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63500" tIns="25400" rIns="63500" bIns="25400" anchor="ctr">
              <a:spAutoFit/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5048103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8676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678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Memory Reference Instructions</a:t>
            </a:r>
          </a:p>
        </p:txBody>
      </p:sp>
      <p:grpSp>
        <p:nvGrpSpPr>
          <p:cNvPr id="28679" name="Group 65"/>
          <p:cNvGrpSpPr>
            <a:grpSpLocks/>
          </p:cNvGrpSpPr>
          <p:nvPr/>
        </p:nvGrpSpPr>
        <p:grpSpPr bwMode="auto">
          <a:xfrm>
            <a:off x="1887843" y="1041400"/>
            <a:ext cx="7367282" cy="5238750"/>
            <a:chOff x="363833" y="946127"/>
            <a:chExt cx="7367545" cy="5333820"/>
          </a:xfrm>
        </p:grpSpPr>
        <p:sp>
          <p:nvSpPr>
            <p:cNvPr id="28680" name="Rectangle 73"/>
            <p:cNvSpPr>
              <a:spLocks noChangeArrowheads="1"/>
            </p:cNvSpPr>
            <p:nvPr/>
          </p:nvSpPr>
          <p:spPr bwMode="auto">
            <a:xfrm>
              <a:off x="5059363" y="3340100"/>
              <a:ext cx="2672015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           Memory, PC after execution</a:t>
              </a:r>
            </a:p>
          </p:txBody>
        </p:sp>
        <p:sp>
          <p:nvSpPr>
            <p:cNvPr id="28681" name="Rectangle 8"/>
            <p:cNvSpPr>
              <a:spLocks noChangeArrowheads="1"/>
            </p:cNvSpPr>
            <p:nvPr/>
          </p:nvSpPr>
          <p:spPr bwMode="auto">
            <a:xfrm>
              <a:off x="6353175" y="4770438"/>
              <a:ext cx="298159" cy="230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97000"/>
                </a:lnSpc>
              </a:pPr>
              <a:r>
                <a:rPr lang="en-US" altLang="ko-KR" sz="1200" b="1">
                  <a:cs typeface="Arial" panose="020B0604020202020204" pitchFamily="34" charset="0"/>
                </a:rPr>
                <a:t>21</a:t>
              </a:r>
            </a:p>
          </p:txBody>
        </p:sp>
        <p:sp>
          <p:nvSpPr>
            <p:cNvPr id="28682" name="Rectangle 32"/>
            <p:cNvSpPr>
              <a:spLocks noChangeArrowheads="1"/>
            </p:cNvSpPr>
            <p:nvPr/>
          </p:nvSpPr>
          <p:spPr bwMode="auto">
            <a:xfrm>
              <a:off x="3152775" y="3629025"/>
              <a:ext cx="1504950" cy="2620963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200" b="1">
                <a:cs typeface="Arial" panose="020B0604020202020204" pitchFamily="34" charset="0"/>
              </a:endParaRPr>
            </a:p>
          </p:txBody>
        </p:sp>
        <p:sp>
          <p:nvSpPr>
            <p:cNvPr id="28683" name="Rectangle 33"/>
            <p:cNvSpPr>
              <a:spLocks noChangeArrowheads="1"/>
            </p:cNvSpPr>
            <p:nvPr/>
          </p:nvSpPr>
          <p:spPr bwMode="auto">
            <a:xfrm>
              <a:off x="3132138" y="3616325"/>
              <a:ext cx="267703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28684" name="Rectangle 34"/>
            <p:cNvSpPr>
              <a:spLocks noChangeArrowheads="1"/>
            </p:cNvSpPr>
            <p:nvPr/>
          </p:nvSpPr>
          <p:spPr bwMode="auto">
            <a:xfrm>
              <a:off x="3424238" y="3616325"/>
              <a:ext cx="506550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BSA</a:t>
              </a:r>
            </a:p>
          </p:txBody>
        </p:sp>
        <p:sp>
          <p:nvSpPr>
            <p:cNvPr id="28685" name="Rectangle 35"/>
            <p:cNvSpPr>
              <a:spLocks noChangeArrowheads="1"/>
            </p:cNvSpPr>
            <p:nvPr/>
          </p:nvSpPr>
          <p:spPr bwMode="auto">
            <a:xfrm>
              <a:off x="4205288" y="3616325"/>
              <a:ext cx="437621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135</a:t>
              </a:r>
            </a:p>
          </p:txBody>
        </p:sp>
        <p:sp>
          <p:nvSpPr>
            <p:cNvPr id="28686" name="Rectangle 36"/>
            <p:cNvSpPr>
              <a:spLocks noChangeArrowheads="1"/>
            </p:cNvSpPr>
            <p:nvPr/>
          </p:nvSpPr>
          <p:spPr bwMode="auto">
            <a:xfrm>
              <a:off x="3132138" y="3865563"/>
              <a:ext cx="1354539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Next instruction</a:t>
              </a:r>
            </a:p>
          </p:txBody>
        </p:sp>
        <p:sp>
          <p:nvSpPr>
            <p:cNvPr id="28687" name="Rectangle 37"/>
            <p:cNvSpPr>
              <a:spLocks noChangeArrowheads="1"/>
            </p:cNvSpPr>
            <p:nvPr/>
          </p:nvSpPr>
          <p:spPr bwMode="auto">
            <a:xfrm>
              <a:off x="3424238" y="5014913"/>
              <a:ext cx="997069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Subroutine</a:t>
              </a:r>
            </a:p>
          </p:txBody>
        </p:sp>
        <p:sp>
          <p:nvSpPr>
            <p:cNvPr id="28688" name="Line 38"/>
            <p:cNvSpPr>
              <a:spLocks noChangeShapeType="1"/>
            </p:cNvSpPr>
            <p:nvPr/>
          </p:nvSpPr>
          <p:spPr bwMode="auto">
            <a:xfrm>
              <a:off x="3152775" y="3876675"/>
              <a:ext cx="150495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689" name="Line 39"/>
            <p:cNvSpPr>
              <a:spLocks noChangeShapeType="1"/>
            </p:cNvSpPr>
            <p:nvPr/>
          </p:nvSpPr>
          <p:spPr bwMode="auto">
            <a:xfrm>
              <a:off x="3152775" y="4124325"/>
              <a:ext cx="150495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690" name="Rectangle 40"/>
            <p:cNvSpPr>
              <a:spLocks noChangeArrowheads="1"/>
            </p:cNvSpPr>
            <p:nvPr/>
          </p:nvSpPr>
          <p:spPr bwMode="auto">
            <a:xfrm>
              <a:off x="2774950" y="3616325"/>
              <a:ext cx="352662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20</a:t>
              </a:r>
            </a:p>
          </p:txBody>
        </p:sp>
        <p:sp>
          <p:nvSpPr>
            <p:cNvPr id="28691" name="Rectangle 41"/>
            <p:cNvSpPr>
              <a:spLocks noChangeArrowheads="1"/>
            </p:cNvSpPr>
            <p:nvPr/>
          </p:nvSpPr>
          <p:spPr bwMode="auto">
            <a:xfrm>
              <a:off x="2406650" y="3849688"/>
              <a:ext cx="742192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PC = 21</a:t>
              </a:r>
            </a:p>
          </p:txBody>
        </p:sp>
        <p:sp>
          <p:nvSpPr>
            <p:cNvPr id="28692" name="Line 42"/>
            <p:cNvSpPr>
              <a:spLocks noChangeShapeType="1"/>
            </p:cNvSpPr>
            <p:nvPr/>
          </p:nvSpPr>
          <p:spPr bwMode="auto">
            <a:xfrm>
              <a:off x="3152775" y="4778375"/>
              <a:ext cx="150495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693" name="Line 43"/>
            <p:cNvSpPr>
              <a:spLocks noChangeShapeType="1"/>
            </p:cNvSpPr>
            <p:nvPr/>
          </p:nvSpPr>
          <p:spPr bwMode="auto">
            <a:xfrm>
              <a:off x="3152775" y="5026025"/>
              <a:ext cx="150495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694" name="Rectangle 44"/>
            <p:cNvSpPr>
              <a:spLocks noChangeArrowheads="1"/>
            </p:cNvSpPr>
            <p:nvPr/>
          </p:nvSpPr>
          <p:spPr bwMode="auto">
            <a:xfrm>
              <a:off x="2316163" y="4751388"/>
              <a:ext cx="827151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AR = 135</a:t>
              </a:r>
            </a:p>
          </p:txBody>
        </p:sp>
        <p:sp>
          <p:nvSpPr>
            <p:cNvPr id="28695" name="Rectangle 45"/>
            <p:cNvSpPr>
              <a:spLocks noChangeArrowheads="1"/>
            </p:cNvSpPr>
            <p:nvPr/>
          </p:nvSpPr>
          <p:spPr bwMode="auto">
            <a:xfrm>
              <a:off x="2698750" y="5014913"/>
              <a:ext cx="437621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136</a:t>
              </a:r>
            </a:p>
          </p:txBody>
        </p:sp>
        <p:sp>
          <p:nvSpPr>
            <p:cNvPr id="28696" name="Rectangle 46"/>
            <p:cNvSpPr>
              <a:spLocks noChangeArrowheads="1"/>
            </p:cNvSpPr>
            <p:nvPr/>
          </p:nvSpPr>
          <p:spPr bwMode="auto">
            <a:xfrm>
              <a:off x="3132138" y="6005513"/>
              <a:ext cx="267703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28697" name="Rectangle 47"/>
            <p:cNvSpPr>
              <a:spLocks noChangeArrowheads="1"/>
            </p:cNvSpPr>
            <p:nvPr/>
          </p:nvSpPr>
          <p:spPr bwMode="auto">
            <a:xfrm>
              <a:off x="3424238" y="6005513"/>
              <a:ext cx="514565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BUN</a:t>
              </a:r>
            </a:p>
          </p:txBody>
        </p:sp>
        <p:sp>
          <p:nvSpPr>
            <p:cNvPr id="28698" name="Rectangle 48"/>
            <p:cNvSpPr>
              <a:spLocks noChangeArrowheads="1"/>
            </p:cNvSpPr>
            <p:nvPr/>
          </p:nvSpPr>
          <p:spPr bwMode="auto">
            <a:xfrm>
              <a:off x="4186238" y="6005513"/>
              <a:ext cx="437621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135</a:t>
              </a:r>
            </a:p>
          </p:txBody>
        </p:sp>
        <p:sp>
          <p:nvSpPr>
            <p:cNvPr id="28699" name="Line 49"/>
            <p:cNvSpPr>
              <a:spLocks noChangeShapeType="1"/>
            </p:cNvSpPr>
            <p:nvPr/>
          </p:nvSpPr>
          <p:spPr bwMode="auto">
            <a:xfrm>
              <a:off x="3152775" y="6016625"/>
              <a:ext cx="150495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00" name="Arc 50"/>
            <p:cNvSpPr>
              <a:spLocks/>
            </p:cNvSpPr>
            <p:nvPr/>
          </p:nvSpPr>
          <p:spPr bwMode="auto">
            <a:xfrm>
              <a:off x="3832225" y="5705475"/>
              <a:ext cx="96838" cy="138113"/>
            </a:xfrm>
            <a:custGeom>
              <a:avLst/>
              <a:gdLst>
                <a:gd name="T0" fmla="*/ 0 w 17255"/>
                <a:gd name="T1" fmla="*/ 2147483647 h 21600"/>
                <a:gd name="T2" fmla="*/ 2147483647 w 17255"/>
                <a:gd name="T3" fmla="*/ 2147483647 h 21600"/>
                <a:gd name="T4" fmla="*/ 2147483647 w 17255"/>
                <a:gd name="T5" fmla="*/ 2147483647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8701" name="Line 51"/>
            <p:cNvSpPr>
              <a:spLocks noChangeShapeType="1"/>
            </p:cNvSpPr>
            <p:nvPr/>
          </p:nvSpPr>
          <p:spPr bwMode="auto">
            <a:xfrm>
              <a:off x="3879850" y="5272088"/>
              <a:ext cx="0" cy="45243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02" name="Rectangle 52"/>
            <p:cNvSpPr>
              <a:spLocks noChangeArrowheads="1"/>
            </p:cNvSpPr>
            <p:nvPr/>
          </p:nvSpPr>
          <p:spPr bwMode="auto">
            <a:xfrm>
              <a:off x="2481263" y="3311525"/>
              <a:ext cx="2512420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         Memory, PC, AR at time T4</a:t>
              </a:r>
            </a:p>
          </p:txBody>
        </p:sp>
        <p:sp>
          <p:nvSpPr>
            <p:cNvPr id="28703" name="Rectangle 53"/>
            <p:cNvSpPr>
              <a:spLocks noChangeArrowheads="1"/>
            </p:cNvSpPr>
            <p:nvPr/>
          </p:nvSpPr>
          <p:spPr bwMode="auto">
            <a:xfrm>
              <a:off x="5816600" y="3643313"/>
              <a:ext cx="1504950" cy="2620962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200" b="1">
                <a:cs typeface="Arial" panose="020B0604020202020204" pitchFamily="34" charset="0"/>
              </a:endParaRPr>
            </a:p>
          </p:txBody>
        </p:sp>
        <p:sp>
          <p:nvSpPr>
            <p:cNvPr id="28704" name="Rectangle 54"/>
            <p:cNvSpPr>
              <a:spLocks noChangeArrowheads="1"/>
            </p:cNvSpPr>
            <p:nvPr/>
          </p:nvSpPr>
          <p:spPr bwMode="auto">
            <a:xfrm>
              <a:off x="5808663" y="3616325"/>
              <a:ext cx="267703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28705" name="Rectangle 55"/>
            <p:cNvSpPr>
              <a:spLocks noChangeArrowheads="1"/>
            </p:cNvSpPr>
            <p:nvPr/>
          </p:nvSpPr>
          <p:spPr bwMode="auto">
            <a:xfrm>
              <a:off x="6102350" y="3616325"/>
              <a:ext cx="506550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BSA</a:t>
              </a:r>
            </a:p>
          </p:txBody>
        </p:sp>
        <p:sp>
          <p:nvSpPr>
            <p:cNvPr id="28706" name="Rectangle 56"/>
            <p:cNvSpPr>
              <a:spLocks noChangeArrowheads="1"/>
            </p:cNvSpPr>
            <p:nvPr/>
          </p:nvSpPr>
          <p:spPr bwMode="auto">
            <a:xfrm>
              <a:off x="6854825" y="3616325"/>
              <a:ext cx="437621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135</a:t>
              </a:r>
            </a:p>
          </p:txBody>
        </p:sp>
        <p:sp>
          <p:nvSpPr>
            <p:cNvPr id="28707" name="Rectangle 57"/>
            <p:cNvSpPr>
              <a:spLocks noChangeArrowheads="1"/>
            </p:cNvSpPr>
            <p:nvPr/>
          </p:nvSpPr>
          <p:spPr bwMode="auto">
            <a:xfrm>
              <a:off x="5808663" y="3865563"/>
              <a:ext cx="1354539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Next instruction</a:t>
              </a:r>
            </a:p>
          </p:txBody>
        </p:sp>
        <p:sp>
          <p:nvSpPr>
            <p:cNvPr id="28708" name="Rectangle 58"/>
            <p:cNvSpPr>
              <a:spLocks noChangeArrowheads="1"/>
            </p:cNvSpPr>
            <p:nvPr/>
          </p:nvSpPr>
          <p:spPr bwMode="auto">
            <a:xfrm>
              <a:off x="6102350" y="5014913"/>
              <a:ext cx="997069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Subroutine</a:t>
              </a:r>
            </a:p>
          </p:txBody>
        </p:sp>
        <p:sp>
          <p:nvSpPr>
            <p:cNvPr id="28709" name="Line 59"/>
            <p:cNvSpPr>
              <a:spLocks noChangeShapeType="1"/>
            </p:cNvSpPr>
            <p:nvPr/>
          </p:nvSpPr>
          <p:spPr bwMode="auto">
            <a:xfrm>
              <a:off x="5829300" y="3876675"/>
              <a:ext cx="150495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10" name="Line 60"/>
            <p:cNvSpPr>
              <a:spLocks noChangeShapeType="1"/>
            </p:cNvSpPr>
            <p:nvPr/>
          </p:nvSpPr>
          <p:spPr bwMode="auto">
            <a:xfrm>
              <a:off x="5829300" y="4124325"/>
              <a:ext cx="150495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11" name="Rectangle 61"/>
            <p:cNvSpPr>
              <a:spLocks noChangeArrowheads="1"/>
            </p:cNvSpPr>
            <p:nvPr/>
          </p:nvSpPr>
          <p:spPr bwMode="auto">
            <a:xfrm>
              <a:off x="5453063" y="3616325"/>
              <a:ext cx="352662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20</a:t>
              </a:r>
            </a:p>
          </p:txBody>
        </p:sp>
        <p:sp>
          <p:nvSpPr>
            <p:cNvPr id="28712" name="Rectangle 62"/>
            <p:cNvSpPr>
              <a:spLocks noChangeArrowheads="1"/>
            </p:cNvSpPr>
            <p:nvPr/>
          </p:nvSpPr>
          <p:spPr bwMode="auto">
            <a:xfrm>
              <a:off x="5440363" y="3865563"/>
              <a:ext cx="352662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21</a:t>
              </a:r>
            </a:p>
          </p:txBody>
        </p:sp>
        <p:sp>
          <p:nvSpPr>
            <p:cNvPr id="28713" name="Line 63"/>
            <p:cNvSpPr>
              <a:spLocks noChangeShapeType="1"/>
            </p:cNvSpPr>
            <p:nvPr/>
          </p:nvSpPr>
          <p:spPr bwMode="auto">
            <a:xfrm>
              <a:off x="5829300" y="4778375"/>
              <a:ext cx="150495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14" name="Line 64"/>
            <p:cNvSpPr>
              <a:spLocks noChangeShapeType="1"/>
            </p:cNvSpPr>
            <p:nvPr/>
          </p:nvSpPr>
          <p:spPr bwMode="auto">
            <a:xfrm>
              <a:off x="5829300" y="5026025"/>
              <a:ext cx="150495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15" name="Rectangle 65"/>
            <p:cNvSpPr>
              <a:spLocks noChangeArrowheads="1"/>
            </p:cNvSpPr>
            <p:nvPr/>
          </p:nvSpPr>
          <p:spPr bwMode="auto">
            <a:xfrm>
              <a:off x="5375275" y="4767263"/>
              <a:ext cx="437621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135</a:t>
              </a:r>
            </a:p>
          </p:txBody>
        </p:sp>
        <p:sp>
          <p:nvSpPr>
            <p:cNvPr id="28716" name="Rectangle 66"/>
            <p:cNvSpPr>
              <a:spLocks noChangeArrowheads="1"/>
            </p:cNvSpPr>
            <p:nvPr/>
          </p:nvSpPr>
          <p:spPr bwMode="auto">
            <a:xfrm>
              <a:off x="4992688" y="5030788"/>
              <a:ext cx="827151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PC = 136</a:t>
              </a:r>
            </a:p>
          </p:txBody>
        </p:sp>
        <p:sp>
          <p:nvSpPr>
            <p:cNvPr id="28717" name="Rectangle 67"/>
            <p:cNvSpPr>
              <a:spLocks noChangeArrowheads="1"/>
            </p:cNvSpPr>
            <p:nvPr/>
          </p:nvSpPr>
          <p:spPr bwMode="auto">
            <a:xfrm>
              <a:off x="5808663" y="6005513"/>
              <a:ext cx="267703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28718" name="Rectangle 68"/>
            <p:cNvSpPr>
              <a:spLocks noChangeArrowheads="1"/>
            </p:cNvSpPr>
            <p:nvPr/>
          </p:nvSpPr>
          <p:spPr bwMode="auto">
            <a:xfrm>
              <a:off x="6102350" y="6005513"/>
              <a:ext cx="514565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BUN</a:t>
              </a:r>
            </a:p>
          </p:txBody>
        </p:sp>
        <p:sp>
          <p:nvSpPr>
            <p:cNvPr id="28719" name="Rectangle 69"/>
            <p:cNvSpPr>
              <a:spLocks noChangeArrowheads="1"/>
            </p:cNvSpPr>
            <p:nvPr/>
          </p:nvSpPr>
          <p:spPr bwMode="auto">
            <a:xfrm>
              <a:off x="6911975" y="6005513"/>
              <a:ext cx="437621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135</a:t>
              </a:r>
            </a:p>
          </p:txBody>
        </p:sp>
        <p:sp>
          <p:nvSpPr>
            <p:cNvPr id="28720" name="Line 70"/>
            <p:cNvSpPr>
              <a:spLocks noChangeShapeType="1"/>
            </p:cNvSpPr>
            <p:nvPr/>
          </p:nvSpPr>
          <p:spPr bwMode="auto">
            <a:xfrm>
              <a:off x="5829300" y="6016625"/>
              <a:ext cx="150495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21" name="Arc 71"/>
            <p:cNvSpPr>
              <a:spLocks/>
            </p:cNvSpPr>
            <p:nvPr/>
          </p:nvSpPr>
          <p:spPr bwMode="auto">
            <a:xfrm>
              <a:off x="6508750" y="5705475"/>
              <a:ext cx="96838" cy="138113"/>
            </a:xfrm>
            <a:custGeom>
              <a:avLst/>
              <a:gdLst>
                <a:gd name="T0" fmla="*/ 0 w 17255"/>
                <a:gd name="T1" fmla="*/ 2147483647 h 21600"/>
                <a:gd name="T2" fmla="*/ 2147483647 w 17255"/>
                <a:gd name="T3" fmla="*/ 2147483647 h 21600"/>
                <a:gd name="T4" fmla="*/ 2147483647 w 17255"/>
                <a:gd name="T5" fmla="*/ 2147483647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8722" name="Line 72"/>
            <p:cNvSpPr>
              <a:spLocks noChangeShapeType="1"/>
            </p:cNvSpPr>
            <p:nvPr/>
          </p:nvSpPr>
          <p:spPr bwMode="auto">
            <a:xfrm>
              <a:off x="6556375" y="5272088"/>
              <a:ext cx="0" cy="45243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23" name="Rectangle 76"/>
            <p:cNvSpPr>
              <a:spLocks noChangeArrowheads="1"/>
            </p:cNvSpPr>
            <p:nvPr/>
          </p:nvSpPr>
          <p:spPr bwMode="auto">
            <a:xfrm>
              <a:off x="363833" y="946127"/>
              <a:ext cx="3904659" cy="19320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97000"/>
                </a:lnSpc>
              </a:pPr>
              <a:r>
                <a:rPr lang="en-US" altLang="ko-KR" sz="1400" b="1" dirty="0">
                  <a:cs typeface="Arial" panose="020B0604020202020204" pitchFamily="34" charset="0"/>
                </a:rPr>
                <a:t>LDA: Load to AC</a:t>
              </a:r>
              <a:endParaRPr lang="en-US" altLang="ko-KR" sz="1400" b="1" dirty="0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endParaRPr>
            </a:p>
            <a:p>
              <a:pPr eaLnBrk="1" hangingPunct="1">
                <a:lnSpc>
                  <a:spcPct val="97000"/>
                </a:lnSpc>
              </a:pPr>
              <a:r>
                <a:rPr lang="en-US" altLang="ko-KR" sz="1400" b="1" dirty="0">
                  <a:cs typeface="Arial" panose="020B0604020202020204" pitchFamily="34" charset="0"/>
                </a:rPr>
                <a:t>	D</a:t>
              </a:r>
              <a:r>
                <a:rPr lang="en-US" altLang="ko-KR" sz="1400" b="1" baseline="-25000" dirty="0">
                  <a:cs typeface="Arial" panose="020B0604020202020204" pitchFamily="34" charset="0"/>
                </a:rPr>
                <a:t>2</a:t>
              </a:r>
              <a:r>
                <a:rPr lang="en-US" altLang="ko-KR" sz="1400" b="1" dirty="0">
                  <a:cs typeface="Arial" panose="020B0604020202020204" pitchFamily="34" charset="0"/>
                </a:rPr>
                <a:t>T</a:t>
              </a:r>
              <a:r>
                <a:rPr lang="en-US" altLang="ko-KR" sz="1400" b="1" baseline="-25000" dirty="0">
                  <a:cs typeface="Arial" panose="020B0604020202020204" pitchFamily="34" charset="0"/>
                </a:rPr>
                <a:t>4</a:t>
              </a:r>
              <a:r>
                <a:rPr lang="en-US" altLang="ko-KR" sz="1400" b="1" dirty="0">
                  <a:cs typeface="Arial" panose="020B0604020202020204" pitchFamily="34" charset="0"/>
                </a:rPr>
                <a:t>:	DR </a:t>
              </a:r>
              <a:r>
                <a:rPr lang="en-US" altLang="ko-KR" sz="1400" b="1" dirty="0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 M[AR]</a:t>
              </a:r>
            </a:p>
            <a:p>
              <a:pPr eaLnBrk="1" hangingPunct="1">
                <a:lnSpc>
                  <a:spcPct val="97000"/>
                </a:lnSpc>
              </a:pPr>
              <a:r>
                <a:rPr lang="en-US" altLang="ko-KR" sz="1400" b="1" dirty="0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	</a:t>
              </a:r>
              <a:r>
                <a:rPr lang="en-US" altLang="ko-KR" sz="1400" b="1" dirty="0">
                  <a:cs typeface="Arial" panose="020B0604020202020204" pitchFamily="34" charset="0"/>
                </a:rPr>
                <a:t>D</a:t>
              </a:r>
              <a:r>
                <a:rPr lang="en-US" altLang="ko-KR" sz="1400" b="1" baseline="-25000" dirty="0">
                  <a:cs typeface="Arial" panose="020B0604020202020204" pitchFamily="34" charset="0"/>
                </a:rPr>
                <a:t>2</a:t>
              </a:r>
              <a:r>
                <a:rPr lang="en-US" altLang="ko-KR" sz="1400" b="1" dirty="0">
                  <a:cs typeface="Arial" panose="020B0604020202020204" pitchFamily="34" charset="0"/>
                </a:rPr>
                <a:t>T</a:t>
              </a:r>
              <a:r>
                <a:rPr lang="en-US" altLang="ko-KR" sz="1400" b="1" baseline="-25000" dirty="0">
                  <a:cs typeface="Arial" panose="020B0604020202020204" pitchFamily="34" charset="0"/>
                </a:rPr>
                <a:t>5</a:t>
              </a:r>
              <a:r>
                <a:rPr lang="en-US" altLang="ko-KR" sz="1400" b="1" dirty="0">
                  <a:cs typeface="Arial" panose="020B0604020202020204" pitchFamily="34" charset="0"/>
                </a:rPr>
                <a:t>:	AC </a:t>
              </a:r>
              <a:r>
                <a:rPr lang="en-US" altLang="ko-KR" sz="1400" b="1" dirty="0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 DR, SC  0</a:t>
              </a:r>
            </a:p>
            <a:p>
              <a:pPr eaLnBrk="1" hangingPunct="1">
                <a:lnSpc>
                  <a:spcPct val="97000"/>
                </a:lnSpc>
              </a:pPr>
              <a:r>
                <a:rPr lang="en-US" altLang="ko-KR" sz="1400" b="1" dirty="0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STA: Store AC</a:t>
              </a:r>
            </a:p>
            <a:p>
              <a:pPr eaLnBrk="1" hangingPunct="1">
                <a:lnSpc>
                  <a:spcPct val="97000"/>
                </a:lnSpc>
              </a:pPr>
              <a:r>
                <a:rPr lang="en-US" altLang="ko-KR" sz="1400" b="1" dirty="0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	</a:t>
              </a:r>
              <a:r>
                <a:rPr lang="en-US" altLang="ko-KR" sz="1400" b="1" dirty="0">
                  <a:cs typeface="Arial" panose="020B0604020202020204" pitchFamily="34" charset="0"/>
                </a:rPr>
                <a:t>D</a:t>
              </a:r>
              <a:r>
                <a:rPr lang="en-US" altLang="ko-KR" sz="1400" b="1" baseline="-25000" dirty="0">
                  <a:cs typeface="Arial" panose="020B0604020202020204" pitchFamily="34" charset="0"/>
                </a:rPr>
                <a:t>3</a:t>
              </a:r>
              <a:r>
                <a:rPr lang="en-US" altLang="ko-KR" sz="1400" b="1" dirty="0">
                  <a:cs typeface="Arial" panose="020B0604020202020204" pitchFamily="34" charset="0"/>
                </a:rPr>
                <a:t>T</a:t>
              </a:r>
              <a:r>
                <a:rPr lang="en-US" altLang="ko-KR" sz="1400" b="1" baseline="-25000" dirty="0">
                  <a:cs typeface="Arial" panose="020B0604020202020204" pitchFamily="34" charset="0"/>
                </a:rPr>
                <a:t>4</a:t>
              </a:r>
              <a:r>
                <a:rPr lang="en-US" altLang="ko-KR" sz="1400" b="1" dirty="0">
                  <a:cs typeface="Arial" panose="020B0604020202020204" pitchFamily="34" charset="0"/>
                </a:rPr>
                <a:t>:	M[AR] </a:t>
              </a:r>
              <a:r>
                <a:rPr lang="en-US" altLang="ko-KR" sz="1400" b="1" dirty="0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 AC, SC  0</a:t>
              </a:r>
            </a:p>
            <a:p>
              <a:pPr eaLnBrk="1" hangingPunct="1">
                <a:lnSpc>
                  <a:spcPct val="97000"/>
                </a:lnSpc>
              </a:pPr>
              <a:r>
                <a:rPr lang="en-US" altLang="ko-KR" sz="1400" b="1" dirty="0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BUN: Branch Unconditionally</a:t>
              </a:r>
            </a:p>
            <a:p>
              <a:pPr eaLnBrk="1" hangingPunct="1">
                <a:lnSpc>
                  <a:spcPct val="97000"/>
                </a:lnSpc>
              </a:pPr>
              <a:r>
                <a:rPr lang="en-US" altLang="ko-KR" sz="1400" b="1" dirty="0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	</a:t>
              </a:r>
              <a:r>
                <a:rPr lang="en-US" altLang="ko-KR" sz="1400" b="1" dirty="0">
                  <a:cs typeface="Arial" panose="020B0604020202020204" pitchFamily="34" charset="0"/>
                </a:rPr>
                <a:t>D</a:t>
              </a:r>
              <a:r>
                <a:rPr lang="en-US" altLang="ko-KR" sz="1400" b="1" baseline="-25000" dirty="0">
                  <a:cs typeface="Arial" panose="020B0604020202020204" pitchFamily="34" charset="0"/>
                </a:rPr>
                <a:t>4</a:t>
              </a:r>
              <a:r>
                <a:rPr lang="en-US" altLang="ko-KR" sz="1400" b="1" dirty="0">
                  <a:cs typeface="Arial" panose="020B0604020202020204" pitchFamily="34" charset="0"/>
                </a:rPr>
                <a:t>T</a:t>
              </a:r>
              <a:r>
                <a:rPr lang="en-US" altLang="ko-KR" sz="1400" b="1" baseline="-25000" dirty="0">
                  <a:cs typeface="Arial" panose="020B0604020202020204" pitchFamily="34" charset="0"/>
                </a:rPr>
                <a:t>4</a:t>
              </a:r>
              <a:r>
                <a:rPr lang="en-US" altLang="ko-KR" sz="1400" b="1" dirty="0">
                  <a:cs typeface="Arial" panose="020B0604020202020204" pitchFamily="34" charset="0"/>
                </a:rPr>
                <a:t>:	PC </a:t>
              </a:r>
              <a:r>
                <a:rPr lang="en-US" altLang="ko-KR" sz="1400" b="1" dirty="0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 AR, SC  0</a:t>
              </a:r>
            </a:p>
            <a:p>
              <a:pPr eaLnBrk="1" hangingPunct="1">
                <a:lnSpc>
                  <a:spcPct val="97000"/>
                </a:lnSpc>
              </a:pPr>
              <a:r>
                <a:rPr lang="en-US" altLang="ko-KR" sz="1400" b="1" dirty="0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BSA: Branch and Save Return Address</a:t>
              </a:r>
            </a:p>
            <a:p>
              <a:pPr eaLnBrk="1" hangingPunct="1">
                <a:lnSpc>
                  <a:spcPct val="97000"/>
                </a:lnSpc>
              </a:pPr>
              <a:r>
                <a:rPr lang="en-US" altLang="ko-KR" sz="1400" b="1" dirty="0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		</a:t>
              </a:r>
              <a:r>
                <a:rPr lang="en-US" altLang="ko-KR" sz="1400" b="1" dirty="0">
                  <a:cs typeface="Arial" panose="020B0604020202020204" pitchFamily="34" charset="0"/>
                </a:rPr>
                <a:t>M[AR] </a:t>
              </a:r>
              <a:r>
                <a:rPr lang="en-US" altLang="ko-KR" sz="1400" b="1" dirty="0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 PC, PC  AR + 1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3059802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9700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702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Memory Reference Instructions</a:t>
            </a:r>
          </a:p>
        </p:txBody>
      </p:sp>
      <p:sp>
        <p:nvSpPr>
          <p:cNvPr id="29703" name="Rectangle 27"/>
          <p:cNvSpPr>
            <a:spLocks noChangeArrowheads="1"/>
          </p:cNvSpPr>
          <p:nvPr/>
        </p:nvSpPr>
        <p:spPr bwMode="auto">
          <a:xfrm>
            <a:off x="2057401" y="1295400"/>
            <a:ext cx="8101013" cy="273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7000"/>
              </a:lnSpc>
            </a:pPr>
            <a:r>
              <a:rPr lang="en-US" altLang="ko-KR" sz="2000" b="1">
                <a:cs typeface="Arial" panose="020B0604020202020204" pitchFamily="34" charset="0"/>
              </a:rPr>
              <a:t>BSA: </a:t>
            </a:r>
          </a:p>
          <a:p>
            <a:pPr eaLnBrk="1" hangingPunct="1">
              <a:lnSpc>
                <a:spcPct val="97000"/>
              </a:lnSpc>
            </a:pPr>
            <a:r>
              <a:rPr lang="en-US" altLang="ko-KR" sz="2000" b="1">
                <a:cs typeface="Arial" panose="020B0604020202020204" pitchFamily="34" charset="0"/>
              </a:rPr>
              <a:t>	D</a:t>
            </a:r>
            <a:r>
              <a:rPr lang="en-US" altLang="ko-KR" sz="2000" b="1" baseline="-25000">
                <a:cs typeface="Arial" panose="020B0604020202020204" pitchFamily="34" charset="0"/>
              </a:rPr>
              <a:t>5</a:t>
            </a:r>
            <a:r>
              <a:rPr lang="en-US" altLang="ko-KR" sz="2000" b="1">
                <a:cs typeface="Arial" panose="020B0604020202020204" pitchFamily="34" charset="0"/>
              </a:rPr>
              <a:t>T</a:t>
            </a:r>
            <a:r>
              <a:rPr lang="en-US" altLang="ko-KR" sz="2000" b="1" baseline="-25000">
                <a:cs typeface="Arial" panose="020B0604020202020204" pitchFamily="34" charset="0"/>
              </a:rPr>
              <a:t>4</a:t>
            </a:r>
            <a:r>
              <a:rPr lang="en-US" altLang="ko-KR" sz="2000" b="1">
                <a:cs typeface="Arial" panose="020B0604020202020204" pitchFamily="34" charset="0"/>
              </a:rPr>
              <a:t>:	M[AR] </a:t>
            </a:r>
            <a:r>
              <a:rPr lang="en-US" altLang="ko-KR" sz="20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 PC,  AR  AR + 1</a:t>
            </a:r>
          </a:p>
          <a:p>
            <a:pPr eaLnBrk="1" hangingPunct="1">
              <a:lnSpc>
                <a:spcPct val="97000"/>
              </a:lnSpc>
            </a:pPr>
            <a:r>
              <a:rPr lang="en-US" altLang="ko-KR" sz="20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	</a:t>
            </a:r>
            <a:r>
              <a:rPr lang="en-US" altLang="ko-KR" sz="2000" b="1">
                <a:cs typeface="Arial" panose="020B0604020202020204" pitchFamily="34" charset="0"/>
              </a:rPr>
              <a:t>D</a:t>
            </a:r>
            <a:r>
              <a:rPr lang="en-US" altLang="ko-KR" sz="2000" b="1" baseline="-25000">
                <a:cs typeface="Arial" panose="020B0604020202020204" pitchFamily="34" charset="0"/>
              </a:rPr>
              <a:t>5</a:t>
            </a:r>
            <a:r>
              <a:rPr lang="en-US" altLang="ko-KR" sz="2000" b="1">
                <a:cs typeface="Arial" panose="020B0604020202020204" pitchFamily="34" charset="0"/>
              </a:rPr>
              <a:t>T</a:t>
            </a:r>
            <a:r>
              <a:rPr lang="en-US" altLang="ko-KR" sz="2000" b="1" baseline="-25000">
                <a:cs typeface="Arial" panose="020B0604020202020204" pitchFamily="34" charset="0"/>
              </a:rPr>
              <a:t>5</a:t>
            </a:r>
            <a:r>
              <a:rPr lang="en-US" altLang="ko-KR" sz="2000" b="1">
                <a:cs typeface="Arial" panose="020B0604020202020204" pitchFamily="34" charset="0"/>
              </a:rPr>
              <a:t>:	PC </a:t>
            </a:r>
            <a:r>
              <a:rPr lang="en-US" altLang="ko-KR" sz="20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 AR, SC  0</a:t>
            </a:r>
          </a:p>
          <a:p>
            <a:pPr eaLnBrk="1" hangingPunct="1">
              <a:lnSpc>
                <a:spcPct val="97000"/>
              </a:lnSpc>
            </a:pPr>
            <a:endParaRPr lang="en-US" altLang="ko-KR" sz="2000" b="1">
              <a:solidFill>
                <a:srgbClr val="000000"/>
              </a:solidFill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97000"/>
              </a:lnSpc>
            </a:pPr>
            <a:r>
              <a:rPr lang="en-US" altLang="ko-KR" sz="20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ISZ: Increment and Skip-if-Zero</a:t>
            </a:r>
          </a:p>
          <a:p>
            <a:pPr eaLnBrk="1" hangingPunct="1">
              <a:lnSpc>
                <a:spcPct val="97000"/>
              </a:lnSpc>
            </a:pPr>
            <a:r>
              <a:rPr lang="en-US" altLang="ko-KR" sz="20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	</a:t>
            </a:r>
            <a:r>
              <a:rPr lang="en-US" altLang="ko-KR" sz="2000" b="1">
                <a:cs typeface="Arial" panose="020B0604020202020204" pitchFamily="34" charset="0"/>
              </a:rPr>
              <a:t>D</a:t>
            </a:r>
            <a:r>
              <a:rPr lang="en-US" altLang="ko-KR" sz="2000" b="1" baseline="-25000">
                <a:cs typeface="Arial" panose="020B0604020202020204" pitchFamily="34" charset="0"/>
              </a:rPr>
              <a:t>6</a:t>
            </a:r>
            <a:r>
              <a:rPr lang="en-US" altLang="ko-KR" sz="2000" b="1">
                <a:cs typeface="Arial" panose="020B0604020202020204" pitchFamily="34" charset="0"/>
              </a:rPr>
              <a:t>T</a:t>
            </a:r>
            <a:r>
              <a:rPr lang="en-US" altLang="ko-KR" sz="2000" b="1" baseline="-25000">
                <a:cs typeface="Arial" panose="020B0604020202020204" pitchFamily="34" charset="0"/>
              </a:rPr>
              <a:t>4</a:t>
            </a:r>
            <a:r>
              <a:rPr lang="en-US" altLang="ko-KR" sz="2000" b="1">
                <a:cs typeface="Arial" panose="020B0604020202020204" pitchFamily="34" charset="0"/>
              </a:rPr>
              <a:t>:	DR </a:t>
            </a:r>
            <a:r>
              <a:rPr lang="en-US" altLang="ko-KR" sz="20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 M[AR]</a:t>
            </a:r>
          </a:p>
          <a:p>
            <a:pPr eaLnBrk="1" hangingPunct="1">
              <a:lnSpc>
                <a:spcPct val="97000"/>
              </a:lnSpc>
            </a:pPr>
            <a:r>
              <a:rPr lang="en-US" altLang="ko-KR" sz="2000" b="1">
                <a:cs typeface="Arial" panose="020B0604020202020204" pitchFamily="34" charset="0"/>
              </a:rPr>
              <a:t>	D</a:t>
            </a:r>
            <a:r>
              <a:rPr lang="en-US" altLang="ko-KR" sz="2000" b="1" baseline="-25000">
                <a:cs typeface="Arial" panose="020B0604020202020204" pitchFamily="34" charset="0"/>
              </a:rPr>
              <a:t>6</a:t>
            </a:r>
            <a:r>
              <a:rPr lang="en-US" altLang="ko-KR" sz="2000" b="1">
                <a:cs typeface="Arial" panose="020B0604020202020204" pitchFamily="34" charset="0"/>
              </a:rPr>
              <a:t>T</a:t>
            </a:r>
            <a:r>
              <a:rPr lang="en-US" altLang="ko-KR" sz="2000" b="1" baseline="-25000">
                <a:cs typeface="Arial" panose="020B0604020202020204" pitchFamily="34" charset="0"/>
              </a:rPr>
              <a:t>5</a:t>
            </a:r>
            <a:r>
              <a:rPr lang="en-US" altLang="ko-KR" sz="2000" b="1">
                <a:cs typeface="Arial" panose="020B0604020202020204" pitchFamily="34" charset="0"/>
              </a:rPr>
              <a:t>:	DR </a:t>
            </a:r>
            <a:r>
              <a:rPr lang="en-US" altLang="ko-KR" sz="20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 DR + 1</a:t>
            </a:r>
          </a:p>
          <a:p>
            <a:pPr eaLnBrk="1" hangingPunct="1">
              <a:lnSpc>
                <a:spcPct val="97000"/>
              </a:lnSpc>
            </a:pPr>
            <a:r>
              <a:rPr lang="en-US" altLang="ko-KR" sz="2000" b="1">
                <a:cs typeface="Arial" panose="020B0604020202020204" pitchFamily="34" charset="0"/>
              </a:rPr>
              <a:t>	D</a:t>
            </a:r>
            <a:r>
              <a:rPr lang="en-US" altLang="ko-KR" sz="2000" b="1" baseline="-25000">
                <a:cs typeface="Arial" panose="020B0604020202020204" pitchFamily="34" charset="0"/>
              </a:rPr>
              <a:t>6</a:t>
            </a:r>
            <a:r>
              <a:rPr lang="en-US" altLang="ko-KR" sz="2000" b="1">
                <a:cs typeface="Arial" panose="020B0604020202020204" pitchFamily="34" charset="0"/>
              </a:rPr>
              <a:t>T</a:t>
            </a:r>
            <a:r>
              <a:rPr lang="en-US" altLang="ko-KR" sz="2000" b="1" baseline="-25000">
                <a:cs typeface="Arial" panose="020B0604020202020204" pitchFamily="34" charset="0"/>
              </a:rPr>
              <a:t>4</a:t>
            </a:r>
            <a:r>
              <a:rPr lang="en-US" altLang="ko-KR" sz="2000" b="1">
                <a:cs typeface="Arial" panose="020B0604020202020204" pitchFamily="34" charset="0"/>
              </a:rPr>
              <a:t>:	M[AR] </a:t>
            </a:r>
            <a:r>
              <a:rPr lang="en-US" altLang="ko-KR" sz="20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 DR,  if (DR = 0) then (PC  PC + 1),  SC  0</a:t>
            </a:r>
          </a:p>
          <a:p>
            <a:pPr eaLnBrk="1" hangingPunct="1">
              <a:lnSpc>
                <a:spcPct val="97000"/>
              </a:lnSpc>
            </a:pPr>
            <a:endParaRPr lang="en-US" altLang="ko-KR" sz="2000" b="1">
              <a:solidFill>
                <a:srgbClr val="000000"/>
              </a:solidFill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07376350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0724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726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Flow Chart - Memory Reference Instructions</a:t>
            </a:r>
          </a:p>
        </p:txBody>
      </p:sp>
      <p:grpSp>
        <p:nvGrpSpPr>
          <p:cNvPr id="30727" name="Group 126"/>
          <p:cNvGrpSpPr>
            <a:grpSpLocks/>
          </p:cNvGrpSpPr>
          <p:nvPr/>
        </p:nvGrpSpPr>
        <p:grpSpPr bwMode="auto">
          <a:xfrm>
            <a:off x="3352800" y="1058864"/>
            <a:ext cx="5372100" cy="5494337"/>
            <a:chOff x="1090613" y="914400"/>
            <a:chExt cx="5371453" cy="5494035"/>
          </a:xfrm>
        </p:grpSpPr>
        <p:sp>
          <p:nvSpPr>
            <p:cNvPr id="30728" name="Rectangle 4"/>
            <p:cNvSpPr>
              <a:spLocks noChangeArrowheads="1"/>
            </p:cNvSpPr>
            <p:nvPr/>
          </p:nvSpPr>
          <p:spPr bwMode="auto">
            <a:xfrm>
              <a:off x="2438400" y="914400"/>
              <a:ext cx="3080973" cy="3359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600" b="1" u="sng">
                  <a:solidFill>
                    <a:srgbClr val="000000"/>
                  </a:solidFill>
                  <a:cs typeface="Arial" panose="020B0604020202020204" pitchFamily="34" charset="0"/>
                </a:rPr>
                <a:t>Memory-reference instruction</a:t>
              </a:r>
            </a:p>
          </p:txBody>
        </p:sp>
        <p:sp>
          <p:nvSpPr>
            <p:cNvPr id="30729" name="Arc 5"/>
            <p:cNvSpPr>
              <a:spLocks/>
            </p:cNvSpPr>
            <p:nvPr/>
          </p:nvSpPr>
          <p:spPr bwMode="auto">
            <a:xfrm>
              <a:off x="3656013" y="1476375"/>
              <a:ext cx="100012" cy="112713"/>
            </a:xfrm>
            <a:custGeom>
              <a:avLst/>
              <a:gdLst>
                <a:gd name="T0" fmla="*/ 0 w 17255"/>
                <a:gd name="T1" fmla="*/ 2147483647 h 21600"/>
                <a:gd name="T2" fmla="*/ 2147483647 w 17255"/>
                <a:gd name="T3" fmla="*/ 2147483647 h 21600"/>
                <a:gd name="T4" fmla="*/ 2147483647 w 17255"/>
                <a:gd name="T5" fmla="*/ 2147483647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730" name="Line 6"/>
            <p:cNvSpPr>
              <a:spLocks noChangeShapeType="1"/>
            </p:cNvSpPr>
            <p:nvPr/>
          </p:nvSpPr>
          <p:spPr bwMode="auto">
            <a:xfrm>
              <a:off x="3705225" y="1147763"/>
              <a:ext cx="0" cy="33972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31" name="Line 7"/>
            <p:cNvSpPr>
              <a:spLocks noChangeShapeType="1"/>
            </p:cNvSpPr>
            <p:nvPr/>
          </p:nvSpPr>
          <p:spPr bwMode="auto">
            <a:xfrm>
              <a:off x="1728788" y="1600200"/>
              <a:ext cx="467995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32" name="Rectangle 8"/>
            <p:cNvSpPr>
              <a:spLocks noChangeArrowheads="1"/>
            </p:cNvSpPr>
            <p:nvPr/>
          </p:nvSpPr>
          <p:spPr bwMode="auto">
            <a:xfrm>
              <a:off x="1157288" y="2049463"/>
              <a:ext cx="101951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DR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 M[AR]</a:t>
              </a:r>
            </a:p>
          </p:txBody>
        </p:sp>
        <p:sp>
          <p:nvSpPr>
            <p:cNvPr id="30733" name="Rectangle 9"/>
            <p:cNvSpPr>
              <a:spLocks noChangeArrowheads="1"/>
            </p:cNvSpPr>
            <p:nvPr/>
          </p:nvSpPr>
          <p:spPr bwMode="auto">
            <a:xfrm>
              <a:off x="2476500" y="2039938"/>
              <a:ext cx="101951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DR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 M[AR]</a:t>
              </a:r>
            </a:p>
          </p:txBody>
        </p:sp>
        <p:sp>
          <p:nvSpPr>
            <p:cNvPr id="30734" name="Rectangle 10"/>
            <p:cNvSpPr>
              <a:spLocks noChangeArrowheads="1"/>
            </p:cNvSpPr>
            <p:nvPr/>
          </p:nvSpPr>
          <p:spPr bwMode="auto">
            <a:xfrm>
              <a:off x="3819525" y="2049463"/>
              <a:ext cx="101951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DR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 M[AR]</a:t>
              </a:r>
            </a:p>
          </p:txBody>
        </p:sp>
        <p:sp>
          <p:nvSpPr>
            <p:cNvPr id="30735" name="Rectangle 11"/>
            <p:cNvSpPr>
              <a:spLocks noChangeArrowheads="1"/>
            </p:cNvSpPr>
            <p:nvPr/>
          </p:nvSpPr>
          <p:spPr bwMode="auto">
            <a:xfrm>
              <a:off x="5110163" y="1989138"/>
              <a:ext cx="1019511" cy="428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M[AR]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 AC</a:t>
              </a:r>
            </a:p>
            <a:p>
              <a:pPr eaLnBrk="1" hangingPunct="1"/>
              <a:endParaRPr lang="en-US" altLang="ko-KR" sz="1100" b="1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0736" name="Rectangle 12"/>
            <p:cNvSpPr>
              <a:spLocks noChangeArrowheads="1"/>
            </p:cNvSpPr>
            <p:nvPr/>
          </p:nvSpPr>
          <p:spPr bwMode="auto">
            <a:xfrm>
              <a:off x="5267325" y="2151063"/>
              <a:ext cx="674866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SC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 0</a:t>
              </a:r>
            </a:p>
          </p:txBody>
        </p:sp>
        <p:sp>
          <p:nvSpPr>
            <p:cNvPr id="30737" name="Rectangle 13"/>
            <p:cNvSpPr>
              <a:spLocks noChangeArrowheads="1"/>
            </p:cNvSpPr>
            <p:nvPr/>
          </p:nvSpPr>
          <p:spPr bwMode="auto">
            <a:xfrm>
              <a:off x="1144588" y="2003425"/>
              <a:ext cx="1141412" cy="315913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30738" name="Rectangle 14"/>
            <p:cNvSpPr>
              <a:spLocks noChangeArrowheads="1"/>
            </p:cNvSpPr>
            <p:nvPr/>
          </p:nvSpPr>
          <p:spPr bwMode="auto">
            <a:xfrm>
              <a:off x="2466975" y="2003425"/>
              <a:ext cx="1141413" cy="315913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30739" name="Rectangle 15"/>
            <p:cNvSpPr>
              <a:spLocks noChangeArrowheads="1"/>
            </p:cNvSpPr>
            <p:nvPr/>
          </p:nvSpPr>
          <p:spPr bwMode="auto">
            <a:xfrm>
              <a:off x="3790950" y="2003425"/>
              <a:ext cx="1139825" cy="315913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30740" name="Rectangle 16"/>
            <p:cNvSpPr>
              <a:spLocks noChangeArrowheads="1"/>
            </p:cNvSpPr>
            <p:nvPr/>
          </p:nvSpPr>
          <p:spPr bwMode="auto">
            <a:xfrm>
              <a:off x="5113338" y="2003425"/>
              <a:ext cx="1154112" cy="37465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30741" name="Arc 17"/>
            <p:cNvSpPr>
              <a:spLocks/>
            </p:cNvSpPr>
            <p:nvPr/>
          </p:nvSpPr>
          <p:spPr bwMode="auto">
            <a:xfrm>
              <a:off x="1674813" y="1874838"/>
              <a:ext cx="96837" cy="111125"/>
            </a:xfrm>
            <a:custGeom>
              <a:avLst/>
              <a:gdLst>
                <a:gd name="T0" fmla="*/ 0 w 17255"/>
                <a:gd name="T1" fmla="*/ 2147483647 h 21600"/>
                <a:gd name="T2" fmla="*/ 2147483647 w 17255"/>
                <a:gd name="T3" fmla="*/ 2147483647 h 21600"/>
                <a:gd name="T4" fmla="*/ 2147483647 w 17255"/>
                <a:gd name="T5" fmla="*/ 2147483647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742" name="Line 18"/>
            <p:cNvSpPr>
              <a:spLocks noChangeShapeType="1"/>
            </p:cNvSpPr>
            <p:nvPr/>
          </p:nvSpPr>
          <p:spPr bwMode="auto">
            <a:xfrm flipV="1">
              <a:off x="1722438" y="1587500"/>
              <a:ext cx="0" cy="3206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43" name="Arc 19"/>
            <p:cNvSpPr>
              <a:spLocks/>
            </p:cNvSpPr>
            <p:nvPr/>
          </p:nvSpPr>
          <p:spPr bwMode="auto">
            <a:xfrm>
              <a:off x="2995613" y="1874838"/>
              <a:ext cx="100012" cy="111125"/>
            </a:xfrm>
            <a:custGeom>
              <a:avLst/>
              <a:gdLst>
                <a:gd name="T0" fmla="*/ 0 w 17255"/>
                <a:gd name="T1" fmla="*/ 2147483647 h 21600"/>
                <a:gd name="T2" fmla="*/ 2147483647 w 17255"/>
                <a:gd name="T3" fmla="*/ 2147483647 h 21600"/>
                <a:gd name="T4" fmla="*/ 2147483647 w 17255"/>
                <a:gd name="T5" fmla="*/ 2147483647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744" name="Line 20"/>
            <p:cNvSpPr>
              <a:spLocks noChangeShapeType="1"/>
            </p:cNvSpPr>
            <p:nvPr/>
          </p:nvSpPr>
          <p:spPr bwMode="auto">
            <a:xfrm flipV="1">
              <a:off x="3044825" y="1600200"/>
              <a:ext cx="0" cy="3079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45" name="Arc 21"/>
            <p:cNvSpPr>
              <a:spLocks/>
            </p:cNvSpPr>
            <p:nvPr/>
          </p:nvSpPr>
          <p:spPr bwMode="auto">
            <a:xfrm>
              <a:off x="4318000" y="1874838"/>
              <a:ext cx="100013" cy="111125"/>
            </a:xfrm>
            <a:custGeom>
              <a:avLst/>
              <a:gdLst>
                <a:gd name="T0" fmla="*/ 0 w 17255"/>
                <a:gd name="T1" fmla="*/ 2147483647 h 21600"/>
                <a:gd name="T2" fmla="*/ 2147483647 w 17255"/>
                <a:gd name="T3" fmla="*/ 2147483647 h 21600"/>
                <a:gd name="T4" fmla="*/ 2147483647 w 17255"/>
                <a:gd name="T5" fmla="*/ 2147483647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746" name="Arc 23"/>
            <p:cNvSpPr>
              <a:spLocks/>
            </p:cNvSpPr>
            <p:nvPr/>
          </p:nvSpPr>
          <p:spPr bwMode="auto">
            <a:xfrm>
              <a:off x="5640388" y="1874838"/>
              <a:ext cx="100012" cy="111125"/>
            </a:xfrm>
            <a:custGeom>
              <a:avLst/>
              <a:gdLst>
                <a:gd name="T0" fmla="*/ 0 w 17255"/>
                <a:gd name="T1" fmla="*/ 2147483647 h 21600"/>
                <a:gd name="T2" fmla="*/ 2147483647 w 17255"/>
                <a:gd name="T3" fmla="*/ 2147483647 h 21600"/>
                <a:gd name="T4" fmla="*/ 2147483647 w 17255"/>
                <a:gd name="T5" fmla="*/ 2147483647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747" name="Line 24"/>
            <p:cNvSpPr>
              <a:spLocks noChangeShapeType="1"/>
            </p:cNvSpPr>
            <p:nvPr/>
          </p:nvSpPr>
          <p:spPr bwMode="auto">
            <a:xfrm flipV="1">
              <a:off x="5689600" y="1603375"/>
              <a:ext cx="0" cy="3048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48" name="Rectangle 25"/>
            <p:cNvSpPr>
              <a:spLocks noChangeArrowheads="1"/>
            </p:cNvSpPr>
            <p:nvPr/>
          </p:nvSpPr>
          <p:spPr bwMode="auto">
            <a:xfrm>
              <a:off x="1479550" y="1403350"/>
              <a:ext cx="490520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AND</a:t>
              </a:r>
            </a:p>
          </p:txBody>
        </p:sp>
        <p:sp>
          <p:nvSpPr>
            <p:cNvPr id="30749" name="Rectangle 26"/>
            <p:cNvSpPr>
              <a:spLocks noChangeArrowheads="1"/>
            </p:cNvSpPr>
            <p:nvPr/>
          </p:nvSpPr>
          <p:spPr bwMode="auto">
            <a:xfrm>
              <a:off x="2660650" y="1403350"/>
              <a:ext cx="490520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ADD</a:t>
              </a:r>
            </a:p>
          </p:txBody>
        </p:sp>
        <p:sp>
          <p:nvSpPr>
            <p:cNvPr id="30750" name="Rectangle 27"/>
            <p:cNvSpPr>
              <a:spLocks noChangeArrowheads="1"/>
            </p:cNvSpPr>
            <p:nvPr/>
          </p:nvSpPr>
          <p:spPr bwMode="auto">
            <a:xfrm>
              <a:off x="4202113" y="1403350"/>
              <a:ext cx="474490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LDA</a:t>
              </a:r>
            </a:p>
          </p:txBody>
        </p:sp>
        <p:sp>
          <p:nvSpPr>
            <p:cNvPr id="30751" name="Rectangle 28"/>
            <p:cNvSpPr>
              <a:spLocks noChangeArrowheads="1"/>
            </p:cNvSpPr>
            <p:nvPr/>
          </p:nvSpPr>
          <p:spPr bwMode="auto">
            <a:xfrm>
              <a:off x="5448300" y="1403350"/>
              <a:ext cx="466475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STA</a:t>
              </a:r>
            </a:p>
          </p:txBody>
        </p:sp>
        <p:sp>
          <p:nvSpPr>
            <p:cNvPr id="30752" name="Rectangle 29"/>
            <p:cNvSpPr>
              <a:spLocks noChangeArrowheads="1"/>
            </p:cNvSpPr>
            <p:nvPr/>
          </p:nvSpPr>
          <p:spPr bwMode="auto">
            <a:xfrm>
              <a:off x="1090613" y="2717800"/>
              <a:ext cx="1168591" cy="428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AC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 AC    DR</a:t>
              </a:r>
            </a:p>
            <a:p>
              <a:pPr eaLnBrk="1" hangingPunct="1"/>
              <a:endParaRPr lang="en-US" altLang="ko-KR" sz="1100" b="1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0753" name="Rectangle 30"/>
            <p:cNvSpPr>
              <a:spLocks noChangeArrowheads="1"/>
            </p:cNvSpPr>
            <p:nvPr/>
          </p:nvSpPr>
          <p:spPr bwMode="auto">
            <a:xfrm>
              <a:off x="1300163" y="2889250"/>
              <a:ext cx="674866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SC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 0</a:t>
              </a:r>
            </a:p>
          </p:txBody>
        </p:sp>
        <p:sp>
          <p:nvSpPr>
            <p:cNvPr id="30754" name="Rectangle 31"/>
            <p:cNvSpPr>
              <a:spLocks noChangeArrowheads="1"/>
            </p:cNvSpPr>
            <p:nvPr/>
          </p:nvSpPr>
          <p:spPr bwMode="auto">
            <a:xfrm>
              <a:off x="1144588" y="2741613"/>
              <a:ext cx="1141412" cy="37465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30755" name="Rectangle 32"/>
            <p:cNvSpPr>
              <a:spLocks noChangeArrowheads="1"/>
            </p:cNvSpPr>
            <p:nvPr/>
          </p:nvSpPr>
          <p:spPr bwMode="auto">
            <a:xfrm>
              <a:off x="2427288" y="2735263"/>
              <a:ext cx="1173399" cy="428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AC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 AC + DR</a:t>
              </a:r>
            </a:p>
            <a:p>
              <a:pPr eaLnBrk="1" hangingPunct="1"/>
              <a:endParaRPr lang="en-US" altLang="ko-KR" sz="1100" b="1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0756" name="Rectangle 33"/>
            <p:cNvSpPr>
              <a:spLocks noChangeArrowheads="1"/>
            </p:cNvSpPr>
            <p:nvPr/>
          </p:nvSpPr>
          <p:spPr bwMode="auto">
            <a:xfrm>
              <a:off x="2427288" y="2901950"/>
              <a:ext cx="815930" cy="428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E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 Cout</a:t>
              </a:r>
            </a:p>
            <a:p>
              <a:pPr eaLnBrk="1" hangingPunct="1"/>
              <a:endParaRPr lang="en-US" altLang="ko-KR" sz="1100" b="1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0757" name="Rectangle 34"/>
            <p:cNvSpPr>
              <a:spLocks noChangeArrowheads="1"/>
            </p:cNvSpPr>
            <p:nvPr/>
          </p:nvSpPr>
          <p:spPr bwMode="auto">
            <a:xfrm>
              <a:off x="2427288" y="3065463"/>
              <a:ext cx="674866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SC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cs typeface="Arial" panose="020B0604020202020204" pitchFamily="34" charset="0"/>
                </a:rPr>
                <a:t>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30758" name="Rectangle 35"/>
            <p:cNvSpPr>
              <a:spLocks noChangeArrowheads="1"/>
            </p:cNvSpPr>
            <p:nvPr/>
          </p:nvSpPr>
          <p:spPr bwMode="auto">
            <a:xfrm>
              <a:off x="2466975" y="2741613"/>
              <a:ext cx="1141413" cy="569912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30759" name="Rectangle 36"/>
            <p:cNvSpPr>
              <a:spLocks noChangeArrowheads="1"/>
            </p:cNvSpPr>
            <p:nvPr/>
          </p:nvSpPr>
          <p:spPr bwMode="auto">
            <a:xfrm>
              <a:off x="3970338" y="2727325"/>
              <a:ext cx="809518" cy="428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AC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 DR</a:t>
              </a:r>
            </a:p>
            <a:p>
              <a:pPr eaLnBrk="1" hangingPunct="1"/>
              <a:endParaRPr lang="en-US" altLang="ko-KR" sz="1100" b="1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0760" name="Rectangle 37"/>
            <p:cNvSpPr>
              <a:spLocks noChangeArrowheads="1"/>
            </p:cNvSpPr>
            <p:nvPr/>
          </p:nvSpPr>
          <p:spPr bwMode="auto">
            <a:xfrm>
              <a:off x="4022725" y="2889250"/>
              <a:ext cx="674866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SC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 0</a:t>
              </a:r>
            </a:p>
          </p:txBody>
        </p:sp>
        <p:sp>
          <p:nvSpPr>
            <p:cNvPr id="30761" name="Rectangle 38"/>
            <p:cNvSpPr>
              <a:spLocks noChangeArrowheads="1"/>
            </p:cNvSpPr>
            <p:nvPr/>
          </p:nvSpPr>
          <p:spPr bwMode="auto">
            <a:xfrm>
              <a:off x="3790950" y="2741613"/>
              <a:ext cx="1139825" cy="37465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30762" name="Rectangle 39"/>
            <p:cNvSpPr>
              <a:spLocks noChangeArrowheads="1"/>
            </p:cNvSpPr>
            <p:nvPr/>
          </p:nvSpPr>
          <p:spPr bwMode="auto">
            <a:xfrm>
              <a:off x="1933575" y="1754188"/>
              <a:ext cx="448842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D  T</a:t>
              </a:r>
            </a:p>
          </p:txBody>
        </p:sp>
        <p:sp>
          <p:nvSpPr>
            <p:cNvPr id="30763" name="Rectangle 40"/>
            <p:cNvSpPr>
              <a:spLocks noChangeArrowheads="1"/>
            </p:cNvSpPr>
            <p:nvPr/>
          </p:nvSpPr>
          <p:spPr bwMode="auto">
            <a:xfrm>
              <a:off x="2036763" y="1824038"/>
              <a:ext cx="26129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30764" name="Rectangle 41"/>
            <p:cNvSpPr>
              <a:spLocks noChangeArrowheads="1"/>
            </p:cNvSpPr>
            <p:nvPr/>
          </p:nvSpPr>
          <p:spPr bwMode="auto">
            <a:xfrm>
              <a:off x="2232025" y="1812925"/>
              <a:ext cx="26129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30765" name="Rectangle 42"/>
            <p:cNvSpPr>
              <a:spLocks noChangeArrowheads="1"/>
            </p:cNvSpPr>
            <p:nvPr/>
          </p:nvSpPr>
          <p:spPr bwMode="auto">
            <a:xfrm>
              <a:off x="3255963" y="1754188"/>
              <a:ext cx="448842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D  T</a:t>
              </a:r>
            </a:p>
          </p:txBody>
        </p:sp>
        <p:sp>
          <p:nvSpPr>
            <p:cNvPr id="30766" name="Rectangle 43"/>
            <p:cNvSpPr>
              <a:spLocks noChangeArrowheads="1"/>
            </p:cNvSpPr>
            <p:nvPr/>
          </p:nvSpPr>
          <p:spPr bwMode="auto">
            <a:xfrm>
              <a:off x="3359150" y="1812925"/>
              <a:ext cx="26129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30767" name="Rectangle 44"/>
            <p:cNvSpPr>
              <a:spLocks noChangeArrowheads="1"/>
            </p:cNvSpPr>
            <p:nvPr/>
          </p:nvSpPr>
          <p:spPr bwMode="auto">
            <a:xfrm>
              <a:off x="3554413" y="1812925"/>
              <a:ext cx="26129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30768" name="Rectangle 45"/>
            <p:cNvSpPr>
              <a:spLocks noChangeArrowheads="1"/>
            </p:cNvSpPr>
            <p:nvPr/>
          </p:nvSpPr>
          <p:spPr bwMode="auto">
            <a:xfrm>
              <a:off x="4579938" y="1754188"/>
              <a:ext cx="448842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D  T</a:t>
              </a:r>
            </a:p>
          </p:txBody>
        </p:sp>
        <p:sp>
          <p:nvSpPr>
            <p:cNvPr id="30769" name="Rectangle 46"/>
            <p:cNvSpPr>
              <a:spLocks noChangeArrowheads="1"/>
            </p:cNvSpPr>
            <p:nvPr/>
          </p:nvSpPr>
          <p:spPr bwMode="auto">
            <a:xfrm>
              <a:off x="4683125" y="1812925"/>
              <a:ext cx="26129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30770" name="Rectangle 47"/>
            <p:cNvSpPr>
              <a:spLocks noChangeArrowheads="1"/>
            </p:cNvSpPr>
            <p:nvPr/>
          </p:nvSpPr>
          <p:spPr bwMode="auto">
            <a:xfrm>
              <a:off x="4875213" y="1812925"/>
              <a:ext cx="26129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30771" name="Rectangle 48"/>
            <p:cNvSpPr>
              <a:spLocks noChangeArrowheads="1"/>
            </p:cNvSpPr>
            <p:nvPr/>
          </p:nvSpPr>
          <p:spPr bwMode="auto">
            <a:xfrm>
              <a:off x="5900738" y="1754188"/>
              <a:ext cx="448842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D  T</a:t>
              </a:r>
            </a:p>
          </p:txBody>
        </p:sp>
        <p:sp>
          <p:nvSpPr>
            <p:cNvPr id="30772" name="Rectangle 49"/>
            <p:cNvSpPr>
              <a:spLocks noChangeArrowheads="1"/>
            </p:cNvSpPr>
            <p:nvPr/>
          </p:nvSpPr>
          <p:spPr bwMode="auto">
            <a:xfrm>
              <a:off x="6019800" y="1812925"/>
              <a:ext cx="26129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30773" name="Rectangle 50"/>
            <p:cNvSpPr>
              <a:spLocks noChangeArrowheads="1"/>
            </p:cNvSpPr>
            <p:nvPr/>
          </p:nvSpPr>
          <p:spPr bwMode="auto">
            <a:xfrm>
              <a:off x="6200775" y="1812925"/>
              <a:ext cx="26129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30774" name="Rectangle 51"/>
            <p:cNvSpPr>
              <a:spLocks noChangeArrowheads="1"/>
            </p:cNvSpPr>
            <p:nvPr/>
          </p:nvSpPr>
          <p:spPr bwMode="auto">
            <a:xfrm>
              <a:off x="1933575" y="2492375"/>
              <a:ext cx="448842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D  T</a:t>
              </a:r>
            </a:p>
          </p:txBody>
        </p:sp>
        <p:sp>
          <p:nvSpPr>
            <p:cNvPr id="30775" name="Rectangle 52"/>
            <p:cNvSpPr>
              <a:spLocks noChangeArrowheads="1"/>
            </p:cNvSpPr>
            <p:nvPr/>
          </p:nvSpPr>
          <p:spPr bwMode="auto">
            <a:xfrm>
              <a:off x="2038350" y="2551113"/>
              <a:ext cx="26129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30776" name="Rectangle 53"/>
            <p:cNvSpPr>
              <a:spLocks noChangeArrowheads="1"/>
            </p:cNvSpPr>
            <p:nvPr/>
          </p:nvSpPr>
          <p:spPr bwMode="auto">
            <a:xfrm>
              <a:off x="2232025" y="2551113"/>
              <a:ext cx="26129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30777" name="Rectangle 54"/>
            <p:cNvSpPr>
              <a:spLocks noChangeArrowheads="1"/>
            </p:cNvSpPr>
            <p:nvPr/>
          </p:nvSpPr>
          <p:spPr bwMode="auto">
            <a:xfrm>
              <a:off x="3255963" y="2492375"/>
              <a:ext cx="448842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D  T</a:t>
              </a:r>
            </a:p>
          </p:txBody>
        </p:sp>
        <p:sp>
          <p:nvSpPr>
            <p:cNvPr id="30778" name="Rectangle 55"/>
            <p:cNvSpPr>
              <a:spLocks noChangeArrowheads="1"/>
            </p:cNvSpPr>
            <p:nvPr/>
          </p:nvSpPr>
          <p:spPr bwMode="auto">
            <a:xfrm>
              <a:off x="3360738" y="2551113"/>
              <a:ext cx="26129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30779" name="Rectangle 56"/>
            <p:cNvSpPr>
              <a:spLocks noChangeArrowheads="1"/>
            </p:cNvSpPr>
            <p:nvPr/>
          </p:nvSpPr>
          <p:spPr bwMode="auto">
            <a:xfrm>
              <a:off x="3554413" y="2551113"/>
              <a:ext cx="26129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30780" name="Rectangle 57"/>
            <p:cNvSpPr>
              <a:spLocks noChangeArrowheads="1"/>
            </p:cNvSpPr>
            <p:nvPr/>
          </p:nvSpPr>
          <p:spPr bwMode="auto">
            <a:xfrm>
              <a:off x="4578350" y="2492375"/>
              <a:ext cx="448842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D  T</a:t>
              </a:r>
            </a:p>
          </p:txBody>
        </p:sp>
        <p:sp>
          <p:nvSpPr>
            <p:cNvPr id="30781" name="Rectangle 58"/>
            <p:cNvSpPr>
              <a:spLocks noChangeArrowheads="1"/>
            </p:cNvSpPr>
            <p:nvPr/>
          </p:nvSpPr>
          <p:spPr bwMode="auto">
            <a:xfrm>
              <a:off x="4683125" y="2551113"/>
              <a:ext cx="26129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30782" name="Rectangle 59"/>
            <p:cNvSpPr>
              <a:spLocks noChangeArrowheads="1"/>
            </p:cNvSpPr>
            <p:nvPr/>
          </p:nvSpPr>
          <p:spPr bwMode="auto">
            <a:xfrm>
              <a:off x="4876800" y="2551113"/>
              <a:ext cx="26129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30783" name="Arc 60"/>
            <p:cNvSpPr>
              <a:spLocks/>
            </p:cNvSpPr>
            <p:nvPr/>
          </p:nvSpPr>
          <p:spPr bwMode="auto">
            <a:xfrm>
              <a:off x="1674813" y="2613025"/>
              <a:ext cx="96837" cy="111125"/>
            </a:xfrm>
            <a:custGeom>
              <a:avLst/>
              <a:gdLst>
                <a:gd name="T0" fmla="*/ 0 w 17255"/>
                <a:gd name="T1" fmla="*/ 2147483647 h 21600"/>
                <a:gd name="T2" fmla="*/ 2147483647 w 17255"/>
                <a:gd name="T3" fmla="*/ 2147483647 h 21600"/>
                <a:gd name="T4" fmla="*/ 2147483647 w 17255"/>
                <a:gd name="T5" fmla="*/ 2147483647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784" name="Line 61"/>
            <p:cNvSpPr>
              <a:spLocks noChangeShapeType="1"/>
            </p:cNvSpPr>
            <p:nvPr/>
          </p:nvSpPr>
          <p:spPr bwMode="auto">
            <a:xfrm flipV="1">
              <a:off x="1722438" y="2319338"/>
              <a:ext cx="0" cy="32702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85" name="Arc 62"/>
            <p:cNvSpPr>
              <a:spLocks/>
            </p:cNvSpPr>
            <p:nvPr/>
          </p:nvSpPr>
          <p:spPr bwMode="auto">
            <a:xfrm>
              <a:off x="2995613" y="2613025"/>
              <a:ext cx="100012" cy="111125"/>
            </a:xfrm>
            <a:custGeom>
              <a:avLst/>
              <a:gdLst>
                <a:gd name="T0" fmla="*/ 0 w 17255"/>
                <a:gd name="T1" fmla="*/ 2147483647 h 21600"/>
                <a:gd name="T2" fmla="*/ 2147483647 w 17255"/>
                <a:gd name="T3" fmla="*/ 2147483647 h 21600"/>
                <a:gd name="T4" fmla="*/ 2147483647 w 17255"/>
                <a:gd name="T5" fmla="*/ 2147483647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786" name="Line 63"/>
            <p:cNvSpPr>
              <a:spLocks noChangeShapeType="1"/>
            </p:cNvSpPr>
            <p:nvPr/>
          </p:nvSpPr>
          <p:spPr bwMode="auto">
            <a:xfrm flipV="1">
              <a:off x="3044825" y="2319338"/>
              <a:ext cx="0" cy="32702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87" name="Arc 64"/>
            <p:cNvSpPr>
              <a:spLocks/>
            </p:cNvSpPr>
            <p:nvPr/>
          </p:nvSpPr>
          <p:spPr bwMode="auto">
            <a:xfrm>
              <a:off x="4318000" y="2613025"/>
              <a:ext cx="100013" cy="111125"/>
            </a:xfrm>
            <a:custGeom>
              <a:avLst/>
              <a:gdLst>
                <a:gd name="T0" fmla="*/ 0 w 17255"/>
                <a:gd name="T1" fmla="*/ 2147483647 h 21600"/>
                <a:gd name="T2" fmla="*/ 2147483647 w 17255"/>
                <a:gd name="T3" fmla="*/ 2147483647 h 21600"/>
                <a:gd name="T4" fmla="*/ 2147483647 w 17255"/>
                <a:gd name="T5" fmla="*/ 2147483647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788" name="Line 66"/>
            <p:cNvSpPr>
              <a:spLocks noChangeShapeType="1"/>
            </p:cNvSpPr>
            <p:nvPr/>
          </p:nvSpPr>
          <p:spPr bwMode="auto">
            <a:xfrm>
              <a:off x="6427788" y="1603375"/>
              <a:ext cx="0" cy="205581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89" name="Line 67"/>
            <p:cNvSpPr>
              <a:spLocks noChangeShapeType="1"/>
            </p:cNvSpPr>
            <p:nvPr/>
          </p:nvSpPr>
          <p:spPr bwMode="auto">
            <a:xfrm>
              <a:off x="1728788" y="3659188"/>
              <a:ext cx="471963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90" name="Rectangle 68"/>
            <p:cNvSpPr>
              <a:spLocks noChangeArrowheads="1"/>
            </p:cNvSpPr>
            <p:nvPr/>
          </p:nvSpPr>
          <p:spPr bwMode="auto">
            <a:xfrm>
              <a:off x="1289050" y="4092575"/>
              <a:ext cx="801502" cy="428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PC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 AR</a:t>
              </a:r>
            </a:p>
            <a:p>
              <a:pPr eaLnBrk="1" hangingPunct="1"/>
              <a:endParaRPr lang="en-US" altLang="ko-KR" sz="1100" b="1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0791" name="Rectangle 69"/>
            <p:cNvSpPr>
              <a:spLocks noChangeArrowheads="1"/>
            </p:cNvSpPr>
            <p:nvPr/>
          </p:nvSpPr>
          <p:spPr bwMode="auto">
            <a:xfrm>
              <a:off x="1279525" y="4283075"/>
              <a:ext cx="674866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SC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 0</a:t>
              </a:r>
            </a:p>
          </p:txBody>
        </p:sp>
        <p:sp>
          <p:nvSpPr>
            <p:cNvPr id="30792" name="Rectangle 70"/>
            <p:cNvSpPr>
              <a:spLocks noChangeArrowheads="1"/>
            </p:cNvSpPr>
            <p:nvPr/>
          </p:nvSpPr>
          <p:spPr bwMode="auto">
            <a:xfrm>
              <a:off x="2447925" y="4102100"/>
              <a:ext cx="1011496" cy="428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M[AR]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 PC</a:t>
              </a:r>
            </a:p>
            <a:p>
              <a:pPr eaLnBrk="1" hangingPunct="1"/>
              <a:endParaRPr lang="en-US" altLang="ko-KR" sz="1100" b="1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0793" name="Rectangle 71"/>
            <p:cNvSpPr>
              <a:spLocks noChangeArrowheads="1"/>
            </p:cNvSpPr>
            <p:nvPr/>
          </p:nvSpPr>
          <p:spPr bwMode="auto">
            <a:xfrm>
              <a:off x="2438400" y="4283075"/>
              <a:ext cx="1046762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AR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 AR + 1</a:t>
              </a:r>
            </a:p>
          </p:txBody>
        </p:sp>
        <p:sp>
          <p:nvSpPr>
            <p:cNvPr id="30794" name="Rectangle 72"/>
            <p:cNvSpPr>
              <a:spLocks noChangeArrowheads="1"/>
            </p:cNvSpPr>
            <p:nvPr/>
          </p:nvSpPr>
          <p:spPr bwMode="auto">
            <a:xfrm>
              <a:off x="3771900" y="4102100"/>
              <a:ext cx="101951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DR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 M[AR]</a:t>
              </a:r>
            </a:p>
          </p:txBody>
        </p:sp>
        <p:sp>
          <p:nvSpPr>
            <p:cNvPr id="30795" name="Rectangle 73"/>
            <p:cNvSpPr>
              <a:spLocks noChangeArrowheads="1"/>
            </p:cNvSpPr>
            <p:nvPr/>
          </p:nvSpPr>
          <p:spPr bwMode="auto">
            <a:xfrm>
              <a:off x="1144588" y="4064000"/>
              <a:ext cx="1141412" cy="446088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30796" name="Rectangle 74"/>
            <p:cNvSpPr>
              <a:spLocks noChangeArrowheads="1"/>
            </p:cNvSpPr>
            <p:nvPr/>
          </p:nvSpPr>
          <p:spPr bwMode="auto">
            <a:xfrm>
              <a:off x="2466975" y="4064000"/>
              <a:ext cx="1141413" cy="446088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30797" name="Rectangle 75"/>
            <p:cNvSpPr>
              <a:spLocks noChangeArrowheads="1"/>
            </p:cNvSpPr>
            <p:nvPr/>
          </p:nvSpPr>
          <p:spPr bwMode="auto">
            <a:xfrm>
              <a:off x="3790950" y="4064000"/>
              <a:ext cx="1139825" cy="31750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30798" name="Arc 76"/>
            <p:cNvSpPr>
              <a:spLocks/>
            </p:cNvSpPr>
            <p:nvPr/>
          </p:nvSpPr>
          <p:spPr bwMode="auto">
            <a:xfrm>
              <a:off x="1674813" y="3937000"/>
              <a:ext cx="96837" cy="111125"/>
            </a:xfrm>
            <a:custGeom>
              <a:avLst/>
              <a:gdLst>
                <a:gd name="T0" fmla="*/ 0 w 17255"/>
                <a:gd name="T1" fmla="*/ 2147483647 h 21600"/>
                <a:gd name="T2" fmla="*/ 2147483647 w 17255"/>
                <a:gd name="T3" fmla="*/ 2147483647 h 21600"/>
                <a:gd name="T4" fmla="*/ 2147483647 w 17255"/>
                <a:gd name="T5" fmla="*/ 2147483647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799" name="Line 77"/>
            <p:cNvSpPr>
              <a:spLocks noChangeShapeType="1"/>
            </p:cNvSpPr>
            <p:nvPr/>
          </p:nvSpPr>
          <p:spPr bwMode="auto">
            <a:xfrm flipV="1">
              <a:off x="1722438" y="3659188"/>
              <a:ext cx="0" cy="31115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800" name="Arc 78"/>
            <p:cNvSpPr>
              <a:spLocks/>
            </p:cNvSpPr>
            <p:nvPr/>
          </p:nvSpPr>
          <p:spPr bwMode="auto">
            <a:xfrm>
              <a:off x="2995613" y="3937000"/>
              <a:ext cx="100012" cy="111125"/>
            </a:xfrm>
            <a:custGeom>
              <a:avLst/>
              <a:gdLst>
                <a:gd name="T0" fmla="*/ 0 w 17255"/>
                <a:gd name="T1" fmla="*/ 2147483647 h 21600"/>
                <a:gd name="T2" fmla="*/ 2147483647 w 17255"/>
                <a:gd name="T3" fmla="*/ 2147483647 h 21600"/>
                <a:gd name="T4" fmla="*/ 2147483647 w 17255"/>
                <a:gd name="T5" fmla="*/ 2147483647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801" name="Line 79"/>
            <p:cNvSpPr>
              <a:spLocks noChangeShapeType="1"/>
            </p:cNvSpPr>
            <p:nvPr/>
          </p:nvSpPr>
          <p:spPr bwMode="auto">
            <a:xfrm flipV="1">
              <a:off x="3044825" y="3659188"/>
              <a:ext cx="0" cy="31115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802" name="Arc 80"/>
            <p:cNvSpPr>
              <a:spLocks/>
            </p:cNvSpPr>
            <p:nvPr/>
          </p:nvSpPr>
          <p:spPr bwMode="auto">
            <a:xfrm>
              <a:off x="4318000" y="3937000"/>
              <a:ext cx="100013" cy="111125"/>
            </a:xfrm>
            <a:custGeom>
              <a:avLst/>
              <a:gdLst>
                <a:gd name="T0" fmla="*/ 0 w 17255"/>
                <a:gd name="T1" fmla="*/ 2147483647 h 21600"/>
                <a:gd name="T2" fmla="*/ 2147483647 w 17255"/>
                <a:gd name="T3" fmla="*/ 2147483647 h 21600"/>
                <a:gd name="T4" fmla="*/ 2147483647 w 17255"/>
                <a:gd name="T5" fmla="*/ 2147483647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803" name="Rectangle 82"/>
            <p:cNvSpPr>
              <a:spLocks noChangeArrowheads="1"/>
            </p:cNvSpPr>
            <p:nvPr/>
          </p:nvSpPr>
          <p:spPr bwMode="auto">
            <a:xfrm>
              <a:off x="1479550" y="3462338"/>
              <a:ext cx="490520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BUN</a:t>
              </a:r>
            </a:p>
          </p:txBody>
        </p:sp>
        <p:sp>
          <p:nvSpPr>
            <p:cNvPr id="30804" name="Rectangle 83"/>
            <p:cNvSpPr>
              <a:spLocks noChangeArrowheads="1"/>
            </p:cNvSpPr>
            <p:nvPr/>
          </p:nvSpPr>
          <p:spPr bwMode="auto">
            <a:xfrm>
              <a:off x="2660650" y="3462338"/>
              <a:ext cx="482505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BSA</a:t>
              </a:r>
            </a:p>
          </p:txBody>
        </p:sp>
        <p:sp>
          <p:nvSpPr>
            <p:cNvPr id="30805" name="Rectangle 84"/>
            <p:cNvSpPr>
              <a:spLocks noChangeArrowheads="1"/>
            </p:cNvSpPr>
            <p:nvPr/>
          </p:nvSpPr>
          <p:spPr bwMode="auto">
            <a:xfrm>
              <a:off x="4203700" y="3462338"/>
              <a:ext cx="402355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ISZ</a:t>
              </a:r>
            </a:p>
          </p:txBody>
        </p:sp>
        <p:sp>
          <p:nvSpPr>
            <p:cNvPr id="30806" name="Rectangle 85"/>
            <p:cNvSpPr>
              <a:spLocks noChangeArrowheads="1"/>
            </p:cNvSpPr>
            <p:nvPr/>
          </p:nvSpPr>
          <p:spPr bwMode="auto">
            <a:xfrm>
              <a:off x="1933575" y="3814763"/>
              <a:ext cx="448842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D  T</a:t>
              </a:r>
            </a:p>
          </p:txBody>
        </p:sp>
        <p:sp>
          <p:nvSpPr>
            <p:cNvPr id="30807" name="Rectangle 86"/>
            <p:cNvSpPr>
              <a:spLocks noChangeArrowheads="1"/>
            </p:cNvSpPr>
            <p:nvPr/>
          </p:nvSpPr>
          <p:spPr bwMode="auto">
            <a:xfrm>
              <a:off x="2038350" y="3873500"/>
              <a:ext cx="26129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30808" name="Rectangle 87"/>
            <p:cNvSpPr>
              <a:spLocks noChangeArrowheads="1"/>
            </p:cNvSpPr>
            <p:nvPr/>
          </p:nvSpPr>
          <p:spPr bwMode="auto">
            <a:xfrm>
              <a:off x="2232025" y="3873500"/>
              <a:ext cx="26129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30809" name="Rectangle 88"/>
            <p:cNvSpPr>
              <a:spLocks noChangeArrowheads="1"/>
            </p:cNvSpPr>
            <p:nvPr/>
          </p:nvSpPr>
          <p:spPr bwMode="auto">
            <a:xfrm>
              <a:off x="3255963" y="3814763"/>
              <a:ext cx="448842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D  T</a:t>
              </a:r>
            </a:p>
          </p:txBody>
        </p:sp>
        <p:sp>
          <p:nvSpPr>
            <p:cNvPr id="30810" name="Rectangle 89"/>
            <p:cNvSpPr>
              <a:spLocks noChangeArrowheads="1"/>
            </p:cNvSpPr>
            <p:nvPr/>
          </p:nvSpPr>
          <p:spPr bwMode="auto">
            <a:xfrm>
              <a:off x="3360738" y="3873500"/>
              <a:ext cx="26129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30811" name="Rectangle 90"/>
            <p:cNvSpPr>
              <a:spLocks noChangeArrowheads="1"/>
            </p:cNvSpPr>
            <p:nvPr/>
          </p:nvSpPr>
          <p:spPr bwMode="auto">
            <a:xfrm>
              <a:off x="3554413" y="3873500"/>
              <a:ext cx="26129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30812" name="Rectangle 91"/>
            <p:cNvSpPr>
              <a:spLocks noChangeArrowheads="1"/>
            </p:cNvSpPr>
            <p:nvPr/>
          </p:nvSpPr>
          <p:spPr bwMode="auto">
            <a:xfrm>
              <a:off x="4578350" y="3814763"/>
              <a:ext cx="448842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D  T</a:t>
              </a:r>
            </a:p>
          </p:txBody>
        </p:sp>
        <p:sp>
          <p:nvSpPr>
            <p:cNvPr id="30813" name="Rectangle 92"/>
            <p:cNvSpPr>
              <a:spLocks noChangeArrowheads="1"/>
            </p:cNvSpPr>
            <p:nvPr/>
          </p:nvSpPr>
          <p:spPr bwMode="auto">
            <a:xfrm>
              <a:off x="4683125" y="3873500"/>
              <a:ext cx="26129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30814" name="Rectangle 93"/>
            <p:cNvSpPr>
              <a:spLocks noChangeArrowheads="1"/>
            </p:cNvSpPr>
            <p:nvPr/>
          </p:nvSpPr>
          <p:spPr bwMode="auto">
            <a:xfrm>
              <a:off x="4876800" y="3873500"/>
              <a:ext cx="26129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30815" name="Arc 94"/>
            <p:cNvSpPr>
              <a:spLocks/>
            </p:cNvSpPr>
            <p:nvPr/>
          </p:nvSpPr>
          <p:spPr bwMode="auto">
            <a:xfrm>
              <a:off x="2995613" y="4803775"/>
              <a:ext cx="100012" cy="112713"/>
            </a:xfrm>
            <a:custGeom>
              <a:avLst/>
              <a:gdLst>
                <a:gd name="T0" fmla="*/ 0 w 17255"/>
                <a:gd name="T1" fmla="*/ 2147483647 h 21600"/>
                <a:gd name="T2" fmla="*/ 2147483647 w 17255"/>
                <a:gd name="T3" fmla="*/ 2147483647 h 21600"/>
                <a:gd name="T4" fmla="*/ 2147483647 w 17255"/>
                <a:gd name="T5" fmla="*/ 2147483647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816" name="Line 95"/>
            <p:cNvSpPr>
              <a:spLocks noChangeShapeType="1"/>
            </p:cNvSpPr>
            <p:nvPr/>
          </p:nvSpPr>
          <p:spPr bwMode="auto">
            <a:xfrm flipV="1">
              <a:off x="3044825" y="4510088"/>
              <a:ext cx="0" cy="32702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817" name="Rectangle 96"/>
            <p:cNvSpPr>
              <a:spLocks noChangeArrowheads="1"/>
            </p:cNvSpPr>
            <p:nvPr/>
          </p:nvSpPr>
          <p:spPr bwMode="auto">
            <a:xfrm>
              <a:off x="3781425" y="4949825"/>
              <a:ext cx="1046762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DR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 DR + 1</a:t>
              </a:r>
            </a:p>
          </p:txBody>
        </p:sp>
        <p:sp>
          <p:nvSpPr>
            <p:cNvPr id="30818" name="Rectangle 97"/>
            <p:cNvSpPr>
              <a:spLocks noChangeArrowheads="1"/>
            </p:cNvSpPr>
            <p:nvPr/>
          </p:nvSpPr>
          <p:spPr bwMode="auto">
            <a:xfrm>
              <a:off x="2466975" y="4930775"/>
              <a:ext cx="1141413" cy="446088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30819" name="Rectangle 98"/>
            <p:cNvSpPr>
              <a:spLocks noChangeArrowheads="1"/>
            </p:cNvSpPr>
            <p:nvPr/>
          </p:nvSpPr>
          <p:spPr bwMode="auto">
            <a:xfrm>
              <a:off x="3790950" y="4930775"/>
              <a:ext cx="1139825" cy="30480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30820" name="Rectangle 99"/>
            <p:cNvSpPr>
              <a:spLocks noChangeArrowheads="1"/>
            </p:cNvSpPr>
            <p:nvPr/>
          </p:nvSpPr>
          <p:spPr bwMode="auto">
            <a:xfrm>
              <a:off x="3255963" y="4683125"/>
              <a:ext cx="448842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D  T</a:t>
              </a:r>
            </a:p>
          </p:txBody>
        </p:sp>
        <p:sp>
          <p:nvSpPr>
            <p:cNvPr id="30821" name="Rectangle 100"/>
            <p:cNvSpPr>
              <a:spLocks noChangeArrowheads="1"/>
            </p:cNvSpPr>
            <p:nvPr/>
          </p:nvSpPr>
          <p:spPr bwMode="auto">
            <a:xfrm>
              <a:off x="3360738" y="4738688"/>
              <a:ext cx="26129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30822" name="Rectangle 101"/>
            <p:cNvSpPr>
              <a:spLocks noChangeArrowheads="1"/>
            </p:cNvSpPr>
            <p:nvPr/>
          </p:nvSpPr>
          <p:spPr bwMode="auto">
            <a:xfrm>
              <a:off x="3554413" y="4738688"/>
              <a:ext cx="26129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30823" name="Rectangle 102"/>
            <p:cNvSpPr>
              <a:spLocks noChangeArrowheads="1"/>
            </p:cNvSpPr>
            <p:nvPr/>
          </p:nvSpPr>
          <p:spPr bwMode="auto">
            <a:xfrm>
              <a:off x="4578350" y="4683125"/>
              <a:ext cx="448842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D  T</a:t>
              </a:r>
            </a:p>
          </p:txBody>
        </p:sp>
        <p:sp>
          <p:nvSpPr>
            <p:cNvPr id="30824" name="Rectangle 103"/>
            <p:cNvSpPr>
              <a:spLocks noChangeArrowheads="1"/>
            </p:cNvSpPr>
            <p:nvPr/>
          </p:nvSpPr>
          <p:spPr bwMode="auto">
            <a:xfrm>
              <a:off x="4683125" y="4738688"/>
              <a:ext cx="26129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30825" name="Rectangle 104"/>
            <p:cNvSpPr>
              <a:spLocks noChangeArrowheads="1"/>
            </p:cNvSpPr>
            <p:nvPr/>
          </p:nvSpPr>
          <p:spPr bwMode="auto">
            <a:xfrm>
              <a:off x="4876800" y="4738688"/>
              <a:ext cx="26129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30826" name="Arc 105"/>
            <p:cNvSpPr>
              <a:spLocks/>
            </p:cNvSpPr>
            <p:nvPr/>
          </p:nvSpPr>
          <p:spPr bwMode="auto">
            <a:xfrm>
              <a:off x="4318000" y="5529263"/>
              <a:ext cx="100013" cy="112712"/>
            </a:xfrm>
            <a:custGeom>
              <a:avLst/>
              <a:gdLst>
                <a:gd name="T0" fmla="*/ 0 w 17255"/>
                <a:gd name="T1" fmla="*/ 2147483647 h 21600"/>
                <a:gd name="T2" fmla="*/ 2147483647 w 17255"/>
                <a:gd name="T3" fmla="*/ 2147483647 h 21600"/>
                <a:gd name="T4" fmla="*/ 2147483647 w 17255"/>
                <a:gd name="T5" fmla="*/ 2147483647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827" name="Rectangle 107"/>
            <p:cNvSpPr>
              <a:spLocks noChangeArrowheads="1"/>
            </p:cNvSpPr>
            <p:nvPr/>
          </p:nvSpPr>
          <p:spPr bwMode="auto">
            <a:xfrm>
              <a:off x="2582863" y="4987925"/>
              <a:ext cx="801502" cy="428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PC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 AR</a:t>
              </a:r>
            </a:p>
            <a:p>
              <a:pPr eaLnBrk="1" hangingPunct="1"/>
              <a:endParaRPr lang="en-US" altLang="ko-KR" sz="1100" b="1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0828" name="Rectangle 108"/>
            <p:cNvSpPr>
              <a:spLocks noChangeArrowheads="1"/>
            </p:cNvSpPr>
            <p:nvPr/>
          </p:nvSpPr>
          <p:spPr bwMode="auto">
            <a:xfrm>
              <a:off x="2582863" y="5151438"/>
              <a:ext cx="674866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SC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 0</a:t>
              </a:r>
            </a:p>
          </p:txBody>
        </p:sp>
        <p:sp>
          <p:nvSpPr>
            <p:cNvPr id="30829" name="Arc 109"/>
            <p:cNvSpPr>
              <a:spLocks/>
            </p:cNvSpPr>
            <p:nvPr/>
          </p:nvSpPr>
          <p:spPr bwMode="auto">
            <a:xfrm>
              <a:off x="4318000" y="4803775"/>
              <a:ext cx="100013" cy="112713"/>
            </a:xfrm>
            <a:custGeom>
              <a:avLst/>
              <a:gdLst>
                <a:gd name="T0" fmla="*/ 0 w 17255"/>
                <a:gd name="T1" fmla="*/ 2147483647 h 21600"/>
                <a:gd name="T2" fmla="*/ 2147483647 w 17255"/>
                <a:gd name="T3" fmla="*/ 2147483647 h 21600"/>
                <a:gd name="T4" fmla="*/ 2147483647 w 17255"/>
                <a:gd name="T5" fmla="*/ 2147483647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830" name="Rectangle 111"/>
            <p:cNvSpPr>
              <a:spLocks noChangeArrowheads="1"/>
            </p:cNvSpPr>
            <p:nvPr/>
          </p:nvSpPr>
          <p:spPr bwMode="auto">
            <a:xfrm>
              <a:off x="3673475" y="5654675"/>
              <a:ext cx="1019511" cy="428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M[AR]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 DR</a:t>
              </a:r>
            </a:p>
            <a:p>
              <a:pPr eaLnBrk="1" hangingPunct="1"/>
              <a:endParaRPr lang="en-US" altLang="ko-KR" sz="1100" b="1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0831" name="Rectangle 112"/>
            <p:cNvSpPr>
              <a:spLocks noChangeArrowheads="1"/>
            </p:cNvSpPr>
            <p:nvPr/>
          </p:nvSpPr>
          <p:spPr bwMode="auto">
            <a:xfrm>
              <a:off x="3673475" y="5816600"/>
              <a:ext cx="841578" cy="428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If (DR = 0)</a:t>
              </a:r>
            </a:p>
            <a:p>
              <a:pPr eaLnBrk="1" hangingPunct="1"/>
              <a:endParaRPr lang="en-US" altLang="ko-KR" sz="1100" b="1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0832" name="Rectangle 113"/>
            <p:cNvSpPr>
              <a:spLocks noChangeArrowheads="1"/>
            </p:cNvSpPr>
            <p:nvPr/>
          </p:nvSpPr>
          <p:spPr bwMode="auto">
            <a:xfrm>
              <a:off x="3673475" y="5980113"/>
              <a:ext cx="1460337" cy="428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then (PC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 PC + 1)</a:t>
              </a:r>
            </a:p>
            <a:p>
              <a:pPr eaLnBrk="1" hangingPunct="1"/>
              <a:endParaRPr lang="en-US" altLang="ko-KR" sz="1100" b="1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0833" name="Rectangle 114"/>
            <p:cNvSpPr>
              <a:spLocks noChangeArrowheads="1"/>
            </p:cNvSpPr>
            <p:nvPr/>
          </p:nvSpPr>
          <p:spPr bwMode="auto">
            <a:xfrm>
              <a:off x="3673475" y="6146800"/>
              <a:ext cx="674866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SC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 0</a:t>
              </a:r>
            </a:p>
          </p:txBody>
        </p:sp>
        <p:sp>
          <p:nvSpPr>
            <p:cNvPr id="30834" name="Rectangle 115"/>
            <p:cNvSpPr>
              <a:spLocks noChangeArrowheads="1"/>
            </p:cNvSpPr>
            <p:nvPr/>
          </p:nvSpPr>
          <p:spPr bwMode="auto">
            <a:xfrm>
              <a:off x="3711575" y="5657850"/>
              <a:ext cx="1517650" cy="712788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30835" name="Rectangle 116"/>
            <p:cNvSpPr>
              <a:spLocks noChangeArrowheads="1"/>
            </p:cNvSpPr>
            <p:nvPr/>
          </p:nvSpPr>
          <p:spPr bwMode="auto">
            <a:xfrm>
              <a:off x="4721225" y="5408613"/>
              <a:ext cx="448842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D  T</a:t>
              </a:r>
            </a:p>
          </p:txBody>
        </p:sp>
        <p:sp>
          <p:nvSpPr>
            <p:cNvPr id="30836" name="Rectangle 117"/>
            <p:cNvSpPr>
              <a:spLocks noChangeArrowheads="1"/>
            </p:cNvSpPr>
            <p:nvPr/>
          </p:nvSpPr>
          <p:spPr bwMode="auto">
            <a:xfrm>
              <a:off x="4826000" y="5467350"/>
              <a:ext cx="26129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30837" name="Rectangle 118"/>
            <p:cNvSpPr>
              <a:spLocks noChangeArrowheads="1"/>
            </p:cNvSpPr>
            <p:nvPr/>
          </p:nvSpPr>
          <p:spPr bwMode="auto">
            <a:xfrm>
              <a:off x="5019675" y="5467350"/>
              <a:ext cx="26129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30838" name="Rectangle 119"/>
            <p:cNvSpPr>
              <a:spLocks noChangeArrowheads="1"/>
            </p:cNvSpPr>
            <p:nvPr/>
          </p:nvSpPr>
          <p:spPr bwMode="auto">
            <a:xfrm>
              <a:off x="1773238" y="2698750"/>
              <a:ext cx="288542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</a:t>
              </a:r>
            </a:p>
          </p:txBody>
        </p:sp>
        <p:sp>
          <p:nvSpPr>
            <p:cNvPr id="30839" name="Line 121"/>
            <p:cNvSpPr>
              <a:spLocks noChangeShapeType="1"/>
            </p:cNvSpPr>
            <p:nvPr/>
          </p:nvSpPr>
          <p:spPr bwMode="auto">
            <a:xfrm flipV="1">
              <a:off x="4371975" y="1590675"/>
              <a:ext cx="0" cy="3048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840" name="Line 122"/>
            <p:cNvSpPr>
              <a:spLocks noChangeShapeType="1"/>
            </p:cNvSpPr>
            <p:nvPr/>
          </p:nvSpPr>
          <p:spPr bwMode="auto">
            <a:xfrm flipV="1">
              <a:off x="4368800" y="2319338"/>
              <a:ext cx="0" cy="32702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841" name="Line 123"/>
            <p:cNvSpPr>
              <a:spLocks noChangeShapeType="1"/>
            </p:cNvSpPr>
            <p:nvPr/>
          </p:nvSpPr>
          <p:spPr bwMode="auto">
            <a:xfrm flipV="1">
              <a:off x="4359275" y="3659188"/>
              <a:ext cx="0" cy="31115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842" name="Line 124"/>
            <p:cNvSpPr>
              <a:spLocks noChangeShapeType="1"/>
            </p:cNvSpPr>
            <p:nvPr/>
          </p:nvSpPr>
          <p:spPr bwMode="auto">
            <a:xfrm flipV="1">
              <a:off x="4359275" y="4383088"/>
              <a:ext cx="0" cy="4445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843" name="Line 125"/>
            <p:cNvSpPr>
              <a:spLocks noChangeShapeType="1"/>
            </p:cNvSpPr>
            <p:nvPr/>
          </p:nvSpPr>
          <p:spPr bwMode="auto">
            <a:xfrm flipV="1">
              <a:off x="4359275" y="5253038"/>
              <a:ext cx="0" cy="32702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5054061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1748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750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Input/Output and Interrupt</a:t>
            </a:r>
          </a:p>
        </p:txBody>
      </p:sp>
      <p:grpSp>
        <p:nvGrpSpPr>
          <p:cNvPr id="31751" name="Group 110"/>
          <p:cNvGrpSpPr>
            <a:grpSpLocks/>
          </p:cNvGrpSpPr>
          <p:nvPr/>
        </p:nvGrpSpPr>
        <p:grpSpPr bwMode="auto">
          <a:xfrm>
            <a:off x="2067596" y="1648183"/>
            <a:ext cx="7980608" cy="3557310"/>
            <a:chOff x="461963" y="1036636"/>
            <a:chExt cx="7980608" cy="3557582"/>
          </a:xfrm>
        </p:grpSpPr>
        <p:sp>
          <p:nvSpPr>
            <p:cNvPr id="31752" name="Rectangle 3"/>
            <p:cNvSpPr>
              <a:spLocks noChangeArrowheads="1"/>
            </p:cNvSpPr>
            <p:nvPr/>
          </p:nvSpPr>
          <p:spPr bwMode="auto">
            <a:xfrm>
              <a:off x="461963" y="1503360"/>
              <a:ext cx="2832507" cy="2605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85000"/>
                </a:lnSpc>
              </a:pPr>
              <a:r>
                <a:rPr lang="en-US" altLang="ko-KR" sz="1600" b="1" u="sng" dirty="0">
                  <a:cs typeface="Arial" panose="020B0604020202020204" pitchFamily="34" charset="0"/>
                </a:rPr>
                <a:t> Input-Output Configuration</a:t>
              </a:r>
            </a:p>
          </p:txBody>
        </p:sp>
        <p:sp>
          <p:nvSpPr>
            <p:cNvPr id="31753" name="Rectangle 4"/>
            <p:cNvSpPr>
              <a:spLocks noChangeArrowheads="1"/>
            </p:cNvSpPr>
            <p:nvPr/>
          </p:nvSpPr>
          <p:spPr bwMode="auto">
            <a:xfrm>
              <a:off x="623888" y="3544882"/>
              <a:ext cx="3886200" cy="9098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3500" tIns="25400" rIns="63500" bIns="25400">
              <a:spAutoFit/>
            </a:bodyPr>
            <a:lstStyle>
              <a:lvl1pPr marL="609600" indent="-609600" defTabSz="1524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1524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1524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1524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1524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152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152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152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152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93000"/>
                </a:lnSpc>
              </a:pPr>
              <a:r>
                <a:rPr lang="en-US" altLang="ko-KR" sz="1200" b="1" i="1" dirty="0">
                  <a:cs typeface="Arial" panose="020B0604020202020204" pitchFamily="34" charset="0"/>
                </a:rPr>
                <a:t>INPR</a:t>
              </a:r>
              <a:r>
                <a:rPr lang="en-US" altLang="ko-KR" sz="1200" b="1" dirty="0">
                  <a:cs typeface="Arial" panose="020B0604020202020204" pitchFamily="34" charset="0"/>
                </a:rPr>
                <a:t>	Input register - 8 bits</a:t>
              </a:r>
            </a:p>
            <a:p>
              <a:pPr algn="just" eaLnBrk="1" hangingPunct="1">
                <a:lnSpc>
                  <a:spcPct val="93000"/>
                </a:lnSpc>
              </a:pPr>
              <a:r>
                <a:rPr lang="en-US" altLang="ko-KR" sz="1200" b="1" i="1" dirty="0">
                  <a:cs typeface="Arial" panose="020B0604020202020204" pitchFamily="34" charset="0"/>
                </a:rPr>
                <a:t>OUTR</a:t>
              </a:r>
              <a:r>
                <a:rPr lang="en-US" altLang="ko-KR" sz="1200" b="1" dirty="0">
                  <a:cs typeface="Arial" panose="020B0604020202020204" pitchFamily="34" charset="0"/>
                </a:rPr>
                <a:t>	Output register - 8 bits</a:t>
              </a:r>
            </a:p>
            <a:p>
              <a:pPr algn="just" eaLnBrk="1" hangingPunct="1">
                <a:lnSpc>
                  <a:spcPct val="93000"/>
                </a:lnSpc>
              </a:pPr>
              <a:r>
                <a:rPr lang="en-US" altLang="ko-KR" sz="1200" b="1" i="1" dirty="0">
                  <a:cs typeface="Arial" panose="020B0604020202020204" pitchFamily="34" charset="0"/>
                </a:rPr>
                <a:t>FGI</a:t>
              </a:r>
              <a:r>
                <a:rPr lang="en-US" altLang="ko-KR" sz="1200" b="1" dirty="0">
                  <a:cs typeface="Arial" panose="020B0604020202020204" pitchFamily="34" charset="0"/>
                </a:rPr>
                <a:t>	Input flag - 1 bit</a:t>
              </a:r>
            </a:p>
            <a:p>
              <a:pPr algn="just" eaLnBrk="1" hangingPunct="1">
                <a:lnSpc>
                  <a:spcPct val="93000"/>
                </a:lnSpc>
              </a:pPr>
              <a:r>
                <a:rPr lang="en-US" altLang="ko-KR" sz="1200" b="1" i="1" dirty="0">
                  <a:cs typeface="Arial" panose="020B0604020202020204" pitchFamily="34" charset="0"/>
                </a:rPr>
                <a:t>FGO</a:t>
              </a:r>
              <a:r>
                <a:rPr lang="en-US" altLang="ko-KR" sz="1200" b="1" dirty="0">
                  <a:cs typeface="Arial" panose="020B0604020202020204" pitchFamily="34" charset="0"/>
                </a:rPr>
                <a:t>	Output flag - 1 bit</a:t>
              </a:r>
            </a:p>
            <a:p>
              <a:pPr algn="just" eaLnBrk="1" hangingPunct="1">
                <a:lnSpc>
                  <a:spcPct val="93000"/>
                </a:lnSpc>
              </a:pPr>
              <a:r>
                <a:rPr lang="en-US" altLang="ko-KR" sz="1200" b="1" i="1" dirty="0">
                  <a:cs typeface="Arial" panose="020B0604020202020204" pitchFamily="34" charset="0"/>
                </a:rPr>
                <a:t>IEN</a:t>
              </a:r>
              <a:r>
                <a:rPr lang="en-US" altLang="ko-KR" sz="1200" b="1" dirty="0">
                  <a:cs typeface="Arial" panose="020B0604020202020204" pitchFamily="34" charset="0"/>
                </a:rPr>
                <a:t>	Interrupt enable - 1 bit</a:t>
              </a:r>
            </a:p>
          </p:txBody>
        </p:sp>
        <p:sp>
          <p:nvSpPr>
            <p:cNvPr id="31755" name="Rectangle 6"/>
            <p:cNvSpPr>
              <a:spLocks noChangeArrowheads="1"/>
            </p:cNvSpPr>
            <p:nvPr/>
          </p:nvSpPr>
          <p:spPr bwMode="auto">
            <a:xfrm>
              <a:off x="1295400" y="1062036"/>
              <a:ext cx="4632616" cy="3667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b="1" dirty="0">
                  <a:cs typeface="Arial" panose="020B0604020202020204" pitchFamily="34" charset="0"/>
                </a:rPr>
                <a:t>A Terminal with a keyboard and a Printer</a:t>
              </a:r>
            </a:p>
          </p:txBody>
        </p:sp>
        <p:sp>
          <p:nvSpPr>
            <p:cNvPr id="31756" name="Rectangle 7"/>
            <p:cNvSpPr>
              <a:spLocks noChangeArrowheads="1"/>
            </p:cNvSpPr>
            <p:nvPr/>
          </p:nvSpPr>
          <p:spPr bwMode="auto">
            <a:xfrm>
              <a:off x="1286412" y="1036636"/>
              <a:ext cx="4779963" cy="33972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200" b="1">
                <a:cs typeface="Arial" panose="020B0604020202020204" pitchFamily="34" charset="0"/>
              </a:endParaRPr>
            </a:p>
          </p:txBody>
        </p:sp>
        <p:sp>
          <p:nvSpPr>
            <p:cNvPr id="31757" name="Rectangle 47"/>
            <p:cNvSpPr>
              <a:spLocks noChangeArrowheads="1"/>
            </p:cNvSpPr>
            <p:nvPr/>
          </p:nvSpPr>
          <p:spPr bwMode="auto">
            <a:xfrm>
              <a:off x="552450" y="3538533"/>
              <a:ext cx="2851150" cy="1055685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200" b="1">
                <a:cs typeface="Arial" panose="020B0604020202020204" pitchFamily="34" charset="0"/>
              </a:endParaRPr>
            </a:p>
          </p:txBody>
        </p:sp>
        <p:sp>
          <p:nvSpPr>
            <p:cNvPr id="31758" name="Rectangle 8"/>
            <p:cNvSpPr>
              <a:spLocks noChangeArrowheads="1"/>
            </p:cNvSpPr>
            <p:nvPr/>
          </p:nvSpPr>
          <p:spPr bwMode="auto">
            <a:xfrm>
              <a:off x="3798888" y="1798634"/>
              <a:ext cx="1093249" cy="4590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Input-output</a:t>
              </a:r>
            </a:p>
            <a:p>
              <a:pPr eaLnBrk="1" hangingPunct="1"/>
              <a:endParaRPr lang="en-US" altLang="ko-KR" sz="1200" b="1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1759" name="Rectangle 9"/>
            <p:cNvSpPr>
              <a:spLocks noChangeArrowheads="1"/>
            </p:cNvSpPr>
            <p:nvPr/>
          </p:nvSpPr>
          <p:spPr bwMode="auto">
            <a:xfrm>
              <a:off x="3952875" y="1924047"/>
              <a:ext cx="780664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terminal</a:t>
              </a:r>
            </a:p>
          </p:txBody>
        </p:sp>
        <p:sp>
          <p:nvSpPr>
            <p:cNvPr id="31760" name="Rectangle 10"/>
            <p:cNvSpPr>
              <a:spLocks noChangeArrowheads="1"/>
            </p:cNvSpPr>
            <p:nvPr/>
          </p:nvSpPr>
          <p:spPr bwMode="auto">
            <a:xfrm>
              <a:off x="5722938" y="1730372"/>
              <a:ext cx="601128" cy="4590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Serial</a:t>
              </a:r>
            </a:p>
            <a:p>
              <a:pPr eaLnBrk="1" hangingPunct="1"/>
              <a:endParaRPr lang="en-US" altLang="ko-KR" sz="1200" b="1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1761" name="Rectangle 11"/>
            <p:cNvSpPr>
              <a:spLocks noChangeArrowheads="1"/>
            </p:cNvSpPr>
            <p:nvPr/>
          </p:nvSpPr>
          <p:spPr bwMode="auto">
            <a:xfrm>
              <a:off x="5351463" y="1857372"/>
              <a:ext cx="1320875" cy="4590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communication</a:t>
              </a:r>
            </a:p>
            <a:p>
              <a:pPr eaLnBrk="1" hangingPunct="1"/>
              <a:endParaRPr lang="en-US" altLang="ko-KR" sz="1200" b="1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1762" name="Rectangle 12"/>
            <p:cNvSpPr>
              <a:spLocks noChangeArrowheads="1"/>
            </p:cNvSpPr>
            <p:nvPr/>
          </p:nvSpPr>
          <p:spPr bwMode="auto">
            <a:xfrm>
              <a:off x="5608638" y="1982784"/>
              <a:ext cx="822342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interface</a:t>
              </a:r>
            </a:p>
          </p:txBody>
        </p:sp>
        <p:sp>
          <p:nvSpPr>
            <p:cNvPr id="31763" name="Rectangle 13"/>
            <p:cNvSpPr>
              <a:spLocks noChangeArrowheads="1"/>
            </p:cNvSpPr>
            <p:nvPr/>
          </p:nvSpPr>
          <p:spPr bwMode="auto">
            <a:xfrm>
              <a:off x="6969125" y="1741485"/>
              <a:ext cx="1147751" cy="8284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Computer</a:t>
              </a:r>
            </a:p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registers and</a:t>
              </a:r>
            </a:p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flip-flops</a:t>
              </a:r>
            </a:p>
            <a:p>
              <a:pPr eaLnBrk="1" hangingPunct="1"/>
              <a:endParaRPr lang="en-US" altLang="ko-KR" sz="1200" b="1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1764" name="Rectangle 16"/>
            <p:cNvSpPr>
              <a:spLocks noChangeArrowheads="1"/>
            </p:cNvSpPr>
            <p:nvPr/>
          </p:nvSpPr>
          <p:spPr bwMode="auto">
            <a:xfrm>
              <a:off x="3933825" y="2335210"/>
              <a:ext cx="678072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Printer</a:t>
              </a:r>
            </a:p>
          </p:txBody>
        </p:sp>
        <p:sp>
          <p:nvSpPr>
            <p:cNvPr id="31765" name="Rectangle 17"/>
            <p:cNvSpPr>
              <a:spLocks noChangeArrowheads="1"/>
            </p:cNvSpPr>
            <p:nvPr/>
          </p:nvSpPr>
          <p:spPr bwMode="auto">
            <a:xfrm>
              <a:off x="3792538" y="3402007"/>
              <a:ext cx="891271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Keyboard</a:t>
              </a:r>
            </a:p>
          </p:txBody>
        </p:sp>
        <p:sp>
          <p:nvSpPr>
            <p:cNvPr id="31766" name="Rectangle 18"/>
            <p:cNvSpPr>
              <a:spLocks noChangeArrowheads="1"/>
            </p:cNvSpPr>
            <p:nvPr/>
          </p:nvSpPr>
          <p:spPr bwMode="auto">
            <a:xfrm>
              <a:off x="5543550" y="2236784"/>
              <a:ext cx="820739" cy="4590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Receiver</a:t>
              </a:r>
            </a:p>
            <a:p>
              <a:pPr eaLnBrk="1" hangingPunct="1"/>
              <a:endParaRPr lang="en-US" altLang="ko-KR" sz="1200" b="1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1767" name="Rectangle 19"/>
            <p:cNvSpPr>
              <a:spLocks noChangeArrowheads="1"/>
            </p:cNvSpPr>
            <p:nvPr/>
          </p:nvSpPr>
          <p:spPr bwMode="auto">
            <a:xfrm>
              <a:off x="5562600" y="2373310"/>
              <a:ext cx="822342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interface</a:t>
              </a:r>
            </a:p>
          </p:txBody>
        </p:sp>
        <p:sp>
          <p:nvSpPr>
            <p:cNvPr id="31768" name="Rectangle 20"/>
            <p:cNvSpPr>
              <a:spLocks noChangeArrowheads="1"/>
            </p:cNvSpPr>
            <p:nvPr/>
          </p:nvSpPr>
          <p:spPr bwMode="auto">
            <a:xfrm>
              <a:off x="5480050" y="3290884"/>
              <a:ext cx="1019063" cy="4590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Transmitter</a:t>
              </a:r>
            </a:p>
            <a:p>
              <a:pPr eaLnBrk="1" hangingPunct="1"/>
              <a:endParaRPr lang="en-US" altLang="ko-KR" sz="1200" b="1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1769" name="Rectangle 21"/>
            <p:cNvSpPr>
              <a:spLocks noChangeArrowheads="1"/>
            </p:cNvSpPr>
            <p:nvPr/>
          </p:nvSpPr>
          <p:spPr bwMode="auto">
            <a:xfrm>
              <a:off x="5556250" y="3421058"/>
              <a:ext cx="822342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interface</a:t>
              </a:r>
            </a:p>
          </p:txBody>
        </p:sp>
        <p:sp>
          <p:nvSpPr>
            <p:cNvPr id="31770" name="Rectangle 22"/>
            <p:cNvSpPr>
              <a:spLocks noChangeArrowheads="1"/>
            </p:cNvSpPr>
            <p:nvPr/>
          </p:nvSpPr>
          <p:spPr bwMode="auto">
            <a:xfrm>
              <a:off x="7924800" y="2335210"/>
              <a:ext cx="517771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FGO</a:t>
              </a:r>
            </a:p>
          </p:txBody>
        </p:sp>
        <p:sp>
          <p:nvSpPr>
            <p:cNvPr id="31771" name="Rectangle 23"/>
            <p:cNvSpPr>
              <a:spLocks noChangeArrowheads="1"/>
            </p:cNvSpPr>
            <p:nvPr/>
          </p:nvSpPr>
          <p:spPr bwMode="auto">
            <a:xfrm>
              <a:off x="7185025" y="2335210"/>
              <a:ext cx="618760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OUTR</a:t>
              </a:r>
            </a:p>
          </p:txBody>
        </p:sp>
        <p:sp>
          <p:nvSpPr>
            <p:cNvPr id="31772" name="Rectangle 24"/>
            <p:cNvSpPr>
              <a:spLocks noChangeArrowheads="1"/>
            </p:cNvSpPr>
            <p:nvPr/>
          </p:nvSpPr>
          <p:spPr bwMode="auto">
            <a:xfrm>
              <a:off x="7269163" y="2878133"/>
              <a:ext cx="403958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AC</a:t>
              </a:r>
            </a:p>
          </p:txBody>
        </p:sp>
        <p:sp>
          <p:nvSpPr>
            <p:cNvPr id="31773" name="Rectangle 25"/>
            <p:cNvSpPr>
              <a:spLocks noChangeArrowheads="1"/>
            </p:cNvSpPr>
            <p:nvPr/>
          </p:nvSpPr>
          <p:spPr bwMode="auto">
            <a:xfrm>
              <a:off x="7242175" y="3402007"/>
              <a:ext cx="549832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INPR</a:t>
              </a:r>
            </a:p>
          </p:txBody>
        </p:sp>
        <p:sp>
          <p:nvSpPr>
            <p:cNvPr id="31774" name="Rectangle 26"/>
            <p:cNvSpPr>
              <a:spLocks noChangeArrowheads="1"/>
            </p:cNvSpPr>
            <p:nvPr/>
          </p:nvSpPr>
          <p:spPr bwMode="auto">
            <a:xfrm>
              <a:off x="7950200" y="3402007"/>
              <a:ext cx="440827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FGI</a:t>
              </a:r>
            </a:p>
          </p:txBody>
        </p:sp>
        <p:sp>
          <p:nvSpPr>
            <p:cNvPr id="31775" name="Rectangle 27"/>
            <p:cNvSpPr>
              <a:spLocks noChangeArrowheads="1"/>
            </p:cNvSpPr>
            <p:nvPr/>
          </p:nvSpPr>
          <p:spPr bwMode="auto">
            <a:xfrm>
              <a:off x="8002588" y="2333623"/>
              <a:ext cx="360362" cy="207963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200" b="1">
                <a:cs typeface="Arial" panose="020B0604020202020204" pitchFamily="34" charset="0"/>
              </a:endParaRPr>
            </a:p>
          </p:txBody>
        </p:sp>
        <p:sp>
          <p:nvSpPr>
            <p:cNvPr id="31776" name="Rectangle 28"/>
            <p:cNvSpPr>
              <a:spLocks noChangeArrowheads="1"/>
            </p:cNvSpPr>
            <p:nvPr/>
          </p:nvSpPr>
          <p:spPr bwMode="auto">
            <a:xfrm>
              <a:off x="7177088" y="2341559"/>
              <a:ext cx="644525" cy="192087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200" b="1">
                <a:cs typeface="Arial" panose="020B0604020202020204" pitchFamily="34" charset="0"/>
              </a:endParaRPr>
            </a:p>
          </p:txBody>
        </p:sp>
        <p:sp>
          <p:nvSpPr>
            <p:cNvPr id="31777" name="Rectangle 29"/>
            <p:cNvSpPr>
              <a:spLocks noChangeArrowheads="1"/>
            </p:cNvSpPr>
            <p:nvPr/>
          </p:nvSpPr>
          <p:spPr bwMode="auto">
            <a:xfrm>
              <a:off x="6958013" y="2886071"/>
              <a:ext cx="1082675" cy="198437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200" b="1">
                <a:cs typeface="Arial" panose="020B0604020202020204" pitchFamily="34" charset="0"/>
              </a:endParaRPr>
            </a:p>
          </p:txBody>
        </p:sp>
        <p:sp>
          <p:nvSpPr>
            <p:cNvPr id="31778" name="Rectangle 30"/>
            <p:cNvSpPr>
              <a:spLocks noChangeArrowheads="1"/>
            </p:cNvSpPr>
            <p:nvPr/>
          </p:nvSpPr>
          <p:spPr bwMode="auto">
            <a:xfrm>
              <a:off x="7177088" y="3398833"/>
              <a:ext cx="644525" cy="200024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200" b="1">
                <a:cs typeface="Arial" panose="020B0604020202020204" pitchFamily="34" charset="0"/>
              </a:endParaRPr>
            </a:p>
          </p:txBody>
        </p:sp>
        <p:sp>
          <p:nvSpPr>
            <p:cNvPr id="31779" name="Rectangle 31"/>
            <p:cNvSpPr>
              <a:spLocks noChangeArrowheads="1"/>
            </p:cNvSpPr>
            <p:nvPr/>
          </p:nvSpPr>
          <p:spPr bwMode="auto">
            <a:xfrm>
              <a:off x="7989888" y="3398833"/>
              <a:ext cx="347662" cy="190500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200" b="1">
                <a:cs typeface="Arial" panose="020B0604020202020204" pitchFamily="34" charset="0"/>
              </a:endParaRPr>
            </a:p>
          </p:txBody>
        </p:sp>
        <p:sp>
          <p:nvSpPr>
            <p:cNvPr id="31780" name="Arc 32"/>
            <p:cNvSpPr>
              <a:spLocks/>
            </p:cNvSpPr>
            <p:nvPr/>
          </p:nvSpPr>
          <p:spPr bwMode="auto">
            <a:xfrm>
              <a:off x="7435850" y="2525709"/>
              <a:ext cx="96838" cy="85725"/>
            </a:xfrm>
            <a:custGeom>
              <a:avLst/>
              <a:gdLst>
                <a:gd name="T0" fmla="*/ 2147483647 w 17464"/>
                <a:gd name="T1" fmla="*/ 2147483647 h 21600"/>
                <a:gd name="T2" fmla="*/ 0 w 17464"/>
                <a:gd name="T3" fmla="*/ 2147483647 h 21600"/>
                <a:gd name="T4" fmla="*/ 2147483647 w 17464"/>
                <a:gd name="T5" fmla="*/ 0 h 21600"/>
                <a:gd name="T6" fmla="*/ 0 60000 65536"/>
                <a:gd name="T7" fmla="*/ 0 60000 65536"/>
                <a:gd name="T8" fmla="*/ 0 60000 65536"/>
                <a:gd name="T9" fmla="*/ 0 w 17464"/>
                <a:gd name="T10" fmla="*/ 0 h 21600"/>
                <a:gd name="T11" fmla="*/ 17464 w 1746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464" h="21600" fill="none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</a:path>
                <a:path w="17464" h="21600" stroke="0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  <a:lnTo>
                    <a:pt x="8852" y="0"/>
                  </a:lnTo>
                  <a:lnTo>
                    <a:pt x="17463" y="1980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781" name="Arc 33"/>
            <p:cNvSpPr>
              <a:spLocks/>
            </p:cNvSpPr>
            <p:nvPr/>
          </p:nvSpPr>
          <p:spPr bwMode="auto">
            <a:xfrm>
              <a:off x="7427913" y="3076569"/>
              <a:ext cx="98425" cy="85725"/>
            </a:xfrm>
            <a:custGeom>
              <a:avLst/>
              <a:gdLst>
                <a:gd name="T0" fmla="*/ 2147483647 w 17464"/>
                <a:gd name="T1" fmla="*/ 2147483647 h 21600"/>
                <a:gd name="T2" fmla="*/ 0 w 17464"/>
                <a:gd name="T3" fmla="*/ 2147483647 h 21600"/>
                <a:gd name="T4" fmla="*/ 2147483647 w 17464"/>
                <a:gd name="T5" fmla="*/ 0 h 21600"/>
                <a:gd name="T6" fmla="*/ 0 60000 65536"/>
                <a:gd name="T7" fmla="*/ 0 60000 65536"/>
                <a:gd name="T8" fmla="*/ 0 60000 65536"/>
                <a:gd name="T9" fmla="*/ 0 w 17464"/>
                <a:gd name="T10" fmla="*/ 0 h 21600"/>
                <a:gd name="T11" fmla="*/ 17464 w 1746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464" h="21600" fill="none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</a:path>
                <a:path w="17464" h="21600" stroke="0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  <a:lnTo>
                    <a:pt x="8852" y="0"/>
                  </a:lnTo>
                  <a:lnTo>
                    <a:pt x="17463" y="1980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782" name="Line 34"/>
            <p:cNvSpPr>
              <a:spLocks noChangeShapeType="1"/>
            </p:cNvSpPr>
            <p:nvPr/>
          </p:nvSpPr>
          <p:spPr bwMode="auto">
            <a:xfrm>
              <a:off x="7480300" y="3146421"/>
              <a:ext cx="0" cy="249238"/>
            </a:xfrm>
            <a:prstGeom prst="line">
              <a:avLst/>
            </a:prstGeom>
            <a:noFill/>
            <a:ln w="38100" cmpd="dbl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83" name="Arc 35"/>
            <p:cNvSpPr>
              <a:spLocks/>
            </p:cNvSpPr>
            <p:nvPr/>
          </p:nvSpPr>
          <p:spPr bwMode="auto">
            <a:xfrm>
              <a:off x="6519863" y="2403472"/>
              <a:ext cx="122237" cy="69850"/>
            </a:xfrm>
            <a:custGeom>
              <a:avLst/>
              <a:gdLst>
                <a:gd name="T0" fmla="*/ 2147483647 w 21600"/>
                <a:gd name="T1" fmla="*/ 0 h 17464"/>
                <a:gd name="T2" fmla="*/ 2147483647 w 21600"/>
                <a:gd name="T3" fmla="*/ 2147483647 h 17464"/>
                <a:gd name="T4" fmla="*/ 0 w 21600"/>
                <a:gd name="T5" fmla="*/ 2147483647 h 17464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464"/>
                <a:gd name="T11" fmla="*/ 21600 w 21600"/>
                <a:gd name="T12" fmla="*/ 17464 h 1746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464" fill="none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</a:path>
                <a:path w="21600" h="17464" stroke="0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  <a:lnTo>
                    <a:pt x="0" y="8852"/>
                  </a:lnTo>
                  <a:lnTo>
                    <a:pt x="1970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784" name="Line 36"/>
            <p:cNvSpPr>
              <a:spLocks noChangeShapeType="1"/>
            </p:cNvSpPr>
            <p:nvPr/>
          </p:nvSpPr>
          <p:spPr bwMode="auto">
            <a:xfrm>
              <a:off x="6623050" y="2441572"/>
              <a:ext cx="54133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85" name="Rectangle 37"/>
            <p:cNvSpPr>
              <a:spLocks noChangeArrowheads="1"/>
            </p:cNvSpPr>
            <p:nvPr/>
          </p:nvSpPr>
          <p:spPr bwMode="auto">
            <a:xfrm>
              <a:off x="5502275" y="2235196"/>
              <a:ext cx="1004888" cy="350838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200" b="1">
                <a:cs typeface="Arial" panose="020B0604020202020204" pitchFamily="34" charset="0"/>
              </a:endParaRPr>
            </a:p>
          </p:txBody>
        </p:sp>
        <p:sp>
          <p:nvSpPr>
            <p:cNvPr id="31786" name="Rectangle 38"/>
            <p:cNvSpPr>
              <a:spLocks noChangeArrowheads="1"/>
            </p:cNvSpPr>
            <p:nvPr/>
          </p:nvSpPr>
          <p:spPr bwMode="auto">
            <a:xfrm>
              <a:off x="5502275" y="3300407"/>
              <a:ext cx="1004888" cy="350837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200" b="1">
                <a:cs typeface="Arial" panose="020B0604020202020204" pitchFamily="34" charset="0"/>
              </a:endParaRPr>
            </a:p>
          </p:txBody>
        </p:sp>
        <p:sp>
          <p:nvSpPr>
            <p:cNvPr id="31787" name="Arc 39"/>
            <p:cNvSpPr>
              <a:spLocks/>
            </p:cNvSpPr>
            <p:nvPr/>
          </p:nvSpPr>
          <p:spPr bwMode="auto">
            <a:xfrm>
              <a:off x="7056438" y="3468682"/>
              <a:ext cx="122237" cy="71436"/>
            </a:xfrm>
            <a:custGeom>
              <a:avLst/>
              <a:gdLst>
                <a:gd name="T0" fmla="*/ 2147483647 w 21600"/>
                <a:gd name="T1" fmla="*/ 2147483647 h 17255"/>
                <a:gd name="T2" fmla="*/ 2147483647 w 21600"/>
                <a:gd name="T3" fmla="*/ 0 h 17255"/>
                <a:gd name="T4" fmla="*/ 2147483647 w 21600"/>
                <a:gd name="T5" fmla="*/ 2147483647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788" name="Line 40"/>
            <p:cNvSpPr>
              <a:spLocks noChangeShapeType="1"/>
            </p:cNvSpPr>
            <p:nvPr/>
          </p:nvSpPr>
          <p:spPr bwMode="auto">
            <a:xfrm>
              <a:off x="6519863" y="3508369"/>
              <a:ext cx="541337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89" name="Arc 41"/>
            <p:cNvSpPr>
              <a:spLocks/>
            </p:cNvSpPr>
            <p:nvPr/>
          </p:nvSpPr>
          <p:spPr bwMode="auto">
            <a:xfrm>
              <a:off x="4838700" y="2403472"/>
              <a:ext cx="122238" cy="69850"/>
            </a:xfrm>
            <a:custGeom>
              <a:avLst/>
              <a:gdLst>
                <a:gd name="T0" fmla="*/ 2147483647 w 21600"/>
                <a:gd name="T1" fmla="*/ 0 h 17464"/>
                <a:gd name="T2" fmla="*/ 2147483647 w 21600"/>
                <a:gd name="T3" fmla="*/ 2147483647 h 17464"/>
                <a:gd name="T4" fmla="*/ 0 w 21600"/>
                <a:gd name="T5" fmla="*/ 2147483647 h 17464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464"/>
                <a:gd name="T11" fmla="*/ 21600 w 21600"/>
                <a:gd name="T12" fmla="*/ 17464 h 1746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464" fill="none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</a:path>
                <a:path w="21600" h="17464" stroke="0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  <a:lnTo>
                    <a:pt x="0" y="8852"/>
                  </a:lnTo>
                  <a:lnTo>
                    <a:pt x="1970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790" name="Line 42"/>
            <p:cNvSpPr>
              <a:spLocks noChangeShapeType="1"/>
            </p:cNvSpPr>
            <p:nvPr/>
          </p:nvSpPr>
          <p:spPr bwMode="auto">
            <a:xfrm>
              <a:off x="4948238" y="2441572"/>
              <a:ext cx="541337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91" name="Arc 43"/>
            <p:cNvSpPr>
              <a:spLocks/>
            </p:cNvSpPr>
            <p:nvPr/>
          </p:nvSpPr>
          <p:spPr bwMode="auto">
            <a:xfrm>
              <a:off x="5380038" y="3468682"/>
              <a:ext cx="122237" cy="71436"/>
            </a:xfrm>
            <a:custGeom>
              <a:avLst/>
              <a:gdLst>
                <a:gd name="T0" fmla="*/ 2147483647 w 21600"/>
                <a:gd name="T1" fmla="*/ 2147483647 h 17255"/>
                <a:gd name="T2" fmla="*/ 2147483647 w 21600"/>
                <a:gd name="T3" fmla="*/ 0 h 17255"/>
                <a:gd name="T4" fmla="*/ 2147483647 w 21600"/>
                <a:gd name="T5" fmla="*/ 2147483647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792" name="Line 44"/>
            <p:cNvSpPr>
              <a:spLocks noChangeShapeType="1"/>
            </p:cNvSpPr>
            <p:nvPr/>
          </p:nvSpPr>
          <p:spPr bwMode="auto">
            <a:xfrm>
              <a:off x="4845050" y="3508369"/>
              <a:ext cx="53975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93" name="Rectangle 45"/>
            <p:cNvSpPr>
              <a:spLocks noChangeArrowheads="1"/>
            </p:cNvSpPr>
            <p:nvPr/>
          </p:nvSpPr>
          <p:spPr bwMode="auto">
            <a:xfrm>
              <a:off x="3813175" y="2235198"/>
              <a:ext cx="1019175" cy="350838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200" b="1">
                <a:cs typeface="Arial" panose="020B0604020202020204" pitchFamily="34" charset="0"/>
              </a:endParaRPr>
            </a:p>
          </p:txBody>
        </p:sp>
        <p:sp>
          <p:nvSpPr>
            <p:cNvPr id="31794" name="Rectangle 46"/>
            <p:cNvSpPr>
              <a:spLocks noChangeArrowheads="1"/>
            </p:cNvSpPr>
            <p:nvPr/>
          </p:nvSpPr>
          <p:spPr bwMode="auto">
            <a:xfrm>
              <a:off x="3813175" y="3300409"/>
              <a:ext cx="1019175" cy="350837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200" b="1">
                <a:cs typeface="Arial" panose="020B0604020202020204" pitchFamily="34" charset="0"/>
              </a:endParaRPr>
            </a:p>
          </p:txBody>
        </p:sp>
        <p:sp>
          <p:nvSpPr>
            <p:cNvPr id="31795" name="Line 49"/>
            <p:cNvSpPr>
              <a:spLocks noChangeShapeType="1"/>
            </p:cNvSpPr>
            <p:nvPr/>
          </p:nvSpPr>
          <p:spPr bwMode="auto">
            <a:xfrm flipV="1">
              <a:off x="7486650" y="2592385"/>
              <a:ext cx="0" cy="296862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96" name="Arc 50"/>
            <p:cNvSpPr>
              <a:spLocks/>
            </p:cNvSpPr>
            <p:nvPr/>
          </p:nvSpPr>
          <p:spPr bwMode="auto">
            <a:xfrm>
              <a:off x="5883275" y="3836983"/>
              <a:ext cx="122238" cy="68262"/>
            </a:xfrm>
            <a:custGeom>
              <a:avLst/>
              <a:gdLst>
                <a:gd name="T0" fmla="*/ 2147483647 w 21600"/>
                <a:gd name="T1" fmla="*/ 2147483647 h 17255"/>
                <a:gd name="T2" fmla="*/ 2147483647 w 21600"/>
                <a:gd name="T3" fmla="*/ 0 h 17255"/>
                <a:gd name="T4" fmla="*/ 2147483647 w 21600"/>
                <a:gd name="T5" fmla="*/ 2147483647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797" name="Line 51"/>
            <p:cNvSpPr>
              <a:spLocks noChangeShapeType="1"/>
            </p:cNvSpPr>
            <p:nvPr/>
          </p:nvSpPr>
          <p:spPr bwMode="auto">
            <a:xfrm>
              <a:off x="5553075" y="3878260"/>
              <a:ext cx="334963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98" name="Arc 52"/>
            <p:cNvSpPr>
              <a:spLocks/>
            </p:cNvSpPr>
            <p:nvPr/>
          </p:nvSpPr>
          <p:spPr bwMode="auto">
            <a:xfrm>
              <a:off x="5883275" y="4025896"/>
              <a:ext cx="122238" cy="68263"/>
            </a:xfrm>
            <a:custGeom>
              <a:avLst/>
              <a:gdLst>
                <a:gd name="T0" fmla="*/ 2147483647 w 21600"/>
                <a:gd name="T1" fmla="*/ 2147483647 h 17255"/>
                <a:gd name="T2" fmla="*/ 2147483647 w 21600"/>
                <a:gd name="T3" fmla="*/ 0 h 17255"/>
                <a:gd name="T4" fmla="*/ 2147483647 w 21600"/>
                <a:gd name="T5" fmla="*/ 2147483647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799" name="Line 53"/>
            <p:cNvSpPr>
              <a:spLocks noChangeShapeType="1"/>
            </p:cNvSpPr>
            <p:nvPr/>
          </p:nvSpPr>
          <p:spPr bwMode="auto">
            <a:xfrm flipH="1">
              <a:off x="5521325" y="4062409"/>
              <a:ext cx="373063" cy="0"/>
            </a:xfrm>
            <a:prstGeom prst="line">
              <a:avLst/>
            </a:prstGeom>
            <a:noFill/>
            <a:ln w="38100" cmpd="dbl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800" name="Rectangle 54"/>
            <p:cNvSpPr>
              <a:spLocks noChangeArrowheads="1"/>
            </p:cNvSpPr>
            <p:nvPr/>
          </p:nvSpPr>
          <p:spPr bwMode="auto">
            <a:xfrm>
              <a:off x="5967413" y="3727444"/>
              <a:ext cx="2269853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cmpd="dbl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cs typeface="Arial" panose="020B0604020202020204" pitchFamily="34" charset="0"/>
                </a:rPr>
                <a:t>Serial Communications Path</a:t>
              </a:r>
            </a:p>
          </p:txBody>
        </p:sp>
        <p:sp>
          <p:nvSpPr>
            <p:cNvPr id="31801" name="Rectangle 55"/>
            <p:cNvSpPr>
              <a:spLocks noChangeArrowheads="1"/>
            </p:cNvSpPr>
            <p:nvPr/>
          </p:nvSpPr>
          <p:spPr bwMode="auto">
            <a:xfrm>
              <a:off x="5969000" y="3935413"/>
              <a:ext cx="2398093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cmpd="dbl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cs typeface="Arial" panose="020B0604020202020204" pitchFamily="34" charset="0"/>
                </a:rPr>
                <a:t>Parallel Communications Path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434050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1748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750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Input/Output and Interrupt</a:t>
            </a:r>
          </a:p>
        </p:txBody>
      </p:sp>
      <p:sp>
        <p:nvSpPr>
          <p:cNvPr id="2" name="Rectangle 1"/>
          <p:cNvSpPr/>
          <p:nvPr/>
        </p:nvSpPr>
        <p:spPr>
          <a:xfrm>
            <a:off x="2077615" y="2153391"/>
            <a:ext cx="8055429" cy="22863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8000"/>
              </a:lnSpc>
            </a:pPr>
            <a:r>
              <a:rPr lang="en-IN" altLang="ko-K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Transmisson</a:t>
            </a:r>
            <a:r>
              <a:rPr lang="en-IN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Process -</a:t>
            </a:r>
          </a:p>
          <a:p>
            <a:pPr>
              <a:lnSpc>
                <a:spcPct val="88000"/>
              </a:lnSpc>
            </a:pPr>
            <a:endParaRPr lang="en-US" altLang="ko-K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8000"/>
              </a:lnSpc>
            </a:pP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The terminal sends and receives serial information</a:t>
            </a:r>
          </a:p>
          <a:p>
            <a:pPr>
              <a:lnSpc>
                <a:spcPct val="88000"/>
              </a:lnSpc>
            </a:pP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The serial info. from the keyboard is shifted into INPR </a:t>
            </a:r>
          </a:p>
          <a:p>
            <a:pPr>
              <a:lnSpc>
                <a:spcPct val="88000"/>
              </a:lnSpc>
            </a:pP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The serial info. for the printer is stored in the OUTR</a:t>
            </a:r>
          </a:p>
          <a:p>
            <a:pPr>
              <a:lnSpc>
                <a:spcPct val="88000"/>
              </a:lnSpc>
            </a:pP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INPR and OUTR communicate with the terminal serially and with the AC in parallel.</a:t>
            </a:r>
          </a:p>
          <a:p>
            <a:pPr>
              <a:lnSpc>
                <a:spcPct val="88000"/>
              </a:lnSpc>
            </a:pP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The flags are needed to </a:t>
            </a:r>
            <a:r>
              <a:rPr lang="en-US" altLang="ko-KR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synchronize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timing difference between  I/O device and the computer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2938591" y="1598837"/>
            <a:ext cx="43336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Terminal with a keyboard and a Printer</a:t>
            </a:r>
          </a:p>
        </p:txBody>
      </p:sp>
    </p:spTree>
    <p:extLst>
      <p:ext uri="{BB962C8B-B14F-4D97-AF65-F5344CB8AC3E}">
        <p14:creationId xmlns:p14="http://schemas.microsoft.com/office/powerpoint/2010/main" val="118325763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2772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774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Input/Output Instructions</a:t>
            </a:r>
          </a:p>
        </p:txBody>
      </p:sp>
      <p:grpSp>
        <p:nvGrpSpPr>
          <p:cNvPr id="32775" name="Group 75"/>
          <p:cNvGrpSpPr>
            <a:grpSpLocks/>
          </p:cNvGrpSpPr>
          <p:nvPr/>
        </p:nvGrpSpPr>
        <p:grpSpPr bwMode="auto">
          <a:xfrm>
            <a:off x="2219326" y="1522414"/>
            <a:ext cx="7991475" cy="3106737"/>
            <a:chOff x="1000125" y="1522413"/>
            <a:chExt cx="7991475" cy="3106737"/>
          </a:xfrm>
        </p:grpSpPr>
        <p:sp>
          <p:nvSpPr>
            <p:cNvPr id="32776" name="Rectangle 42"/>
            <p:cNvSpPr>
              <a:spLocks noChangeArrowheads="1"/>
            </p:cNvSpPr>
            <p:nvPr/>
          </p:nvSpPr>
          <p:spPr bwMode="auto">
            <a:xfrm>
              <a:off x="1123950" y="1522413"/>
              <a:ext cx="2413000" cy="850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97000"/>
                </a:lnSpc>
              </a:pPr>
              <a:endParaRPr lang="en-US" altLang="ko-KR">
                <a:cs typeface="Arial" panose="020B0604020202020204" pitchFamily="34" charset="0"/>
              </a:endParaRPr>
            </a:p>
            <a:p>
              <a:pPr eaLnBrk="1" hangingPunct="1">
                <a:lnSpc>
                  <a:spcPct val="97000"/>
                </a:lnSpc>
              </a:pPr>
              <a:r>
                <a:rPr lang="en-US" altLang="ko-KR">
                  <a:cs typeface="Arial" panose="020B0604020202020204" pitchFamily="34" charset="0"/>
                </a:rPr>
                <a:t>D</a:t>
              </a:r>
              <a:r>
                <a:rPr lang="en-US" altLang="ko-KR" baseline="-25000">
                  <a:cs typeface="Arial" panose="020B0604020202020204" pitchFamily="34" charset="0"/>
                </a:rPr>
                <a:t>7</a:t>
              </a:r>
              <a:r>
                <a:rPr lang="en-US" altLang="ko-KR">
                  <a:cs typeface="Arial" panose="020B0604020202020204" pitchFamily="34" charset="0"/>
                </a:rPr>
                <a:t>IT</a:t>
              </a:r>
              <a:r>
                <a:rPr lang="en-US" altLang="ko-KR" baseline="-25000">
                  <a:cs typeface="Arial" panose="020B0604020202020204" pitchFamily="34" charset="0"/>
                </a:rPr>
                <a:t>3</a:t>
              </a:r>
              <a:r>
                <a:rPr lang="en-US" altLang="ko-KR">
                  <a:cs typeface="Arial" panose="020B0604020202020204" pitchFamily="34" charset="0"/>
                </a:rPr>
                <a:t> = p	</a:t>
              </a:r>
              <a:r>
                <a:rPr lang="en-US" altLang="ko-KR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	</a:t>
              </a:r>
            </a:p>
            <a:p>
              <a:pPr eaLnBrk="1" hangingPunct="1">
                <a:lnSpc>
                  <a:spcPct val="97000"/>
                </a:lnSpc>
              </a:pPr>
              <a:r>
                <a:rPr lang="en-US" altLang="ko-KR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IR(i) = </a:t>
              </a:r>
              <a:r>
                <a:rPr lang="en-US" altLang="ko-KR">
                  <a:cs typeface="Arial" panose="020B0604020202020204" pitchFamily="34" charset="0"/>
                </a:rPr>
                <a:t>B</a:t>
              </a:r>
              <a:r>
                <a:rPr lang="en-US" altLang="ko-KR" baseline="-25000">
                  <a:cs typeface="Arial" panose="020B0604020202020204" pitchFamily="34" charset="0"/>
                </a:rPr>
                <a:t>i</a:t>
              </a:r>
              <a:r>
                <a:rPr lang="en-US" altLang="ko-KR">
                  <a:cs typeface="Arial" panose="020B0604020202020204" pitchFamily="34" charset="0"/>
                </a:rPr>
                <a:t>, i = 6, …, 11</a:t>
              </a:r>
              <a:endParaRPr lang="en-US" altLang="ko-KR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endParaRPr>
            </a:p>
          </p:txBody>
        </p:sp>
        <p:sp>
          <p:nvSpPr>
            <p:cNvPr id="32777" name="Rectangle 43"/>
            <p:cNvSpPr>
              <a:spLocks noChangeArrowheads="1"/>
            </p:cNvSpPr>
            <p:nvPr/>
          </p:nvSpPr>
          <p:spPr bwMode="auto">
            <a:xfrm>
              <a:off x="1028700" y="2619375"/>
              <a:ext cx="7848600" cy="1917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97000"/>
                </a:lnSpc>
              </a:pPr>
              <a:r>
                <a:rPr lang="en-US" altLang="ko-KR">
                  <a:cs typeface="Arial" panose="020B0604020202020204" pitchFamily="34" charset="0"/>
                </a:rPr>
                <a:t>	p:	SC </a:t>
              </a:r>
              <a:r>
                <a:rPr lang="en-US" altLang="ko-KR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 0				Clear SC</a:t>
              </a:r>
              <a:endParaRPr lang="en-US" altLang="ko-KR" sz="2800">
                <a:cs typeface="Arial" panose="020B0604020202020204" pitchFamily="34" charset="0"/>
              </a:endParaRPr>
            </a:p>
            <a:p>
              <a:pPr eaLnBrk="1" hangingPunct="1">
                <a:lnSpc>
                  <a:spcPct val="97000"/>
                </a:lnSpc>
              </a:pPr>
              <a:r>
                <a:rPr lang="en-US" altLang="ko-KR">
                  <a:cs typeface="Arial" panose="020B0604020202020204" pitchFamily="34" charset="0"/>
                </a:rPr>
                <a:t>INP	pB</a:t>
              </a:r>
              <a:r>
                <a:rPr lang="en-US" altLang="ko-KR" baseline="-25000">
                  <a:cs typeface="Arial" panose="020B0604020202020204" pitchFamily="34" charset="0"/>
                </a:rPr>
                <a:t>11</a:t>
              </a:r>
              <a:r>
                <a:rPr lang="en-US" altLang="ko-KR">
                  <a:cs typeface="Arial" panose="020B0604020202020204" pitchFamily="34" charset="0"/>
                </a:rPr>
                <a:t>:	AC(0-7) </a:t>
              </a:r>
              <a:r>
                <a:rPr lang="en-US" altLang="ko-KR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 INPR, FGI  0		Input char. to AC</a:t>
              </a:r>
              <a:r>
                <a:rPr lang="en-US" altLang="ko-KR">
                  <a:cs typeface="Arial" panose="020B0604020202020204" pitchFamily="34" charset="0"/>
                </a:rPr>
                <a:t> </a:t>
              </a:r>
            </a:p>
            <a:p>
              <a:pPr eaLnBrk="1" hangingPunct="1">
                <a:lnSpc>
                  <a:spcPct val="97000"/>
                </a:lnSpc>
              </a:pPr>
              <a:r>
                <a:rPr lang="en-US" altLang="ko-KR">
                  <a:cs typeface="Arial" panose="020B0604020202020204" pitchFamily="34" charset="0"/>
                </a:rPr>
                <a:t>OUT	pB</a:t>
              </a:r>
              <a:r>
                <a:rPr lang="en-US" altLang="ko-KR" baseline="-25000">
                  <a:cs typeface="Arial" panose="020B0604020202020204" pitchFamily="34" charset="0"/>
                </a:rPr>
                <a:t>10</a:t>
              </a:r>
              <a:r>
                <a:rPr lang="en-US" altLang="ko-KR">
                  <a:cs typeface="Arial" panose="020B0604020202020204" pitchFamily="34" charset="0"/>
                </a:rPr>
                <a:t>:	OUTR </a:t>
              </a:r>
              <a:r>
                <a:rPr lang="en-US" altLang="ko-KR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 AC(0-7), FGO  0		Output char. from AC</a:t>
              </a:r>
              <a:r>
                <a:rPr lang="en-US" altLang="ko-KR">
                  <a:cs typeface="Arial" panose="020B0604020202020204" pitchFamily="34" charset="0"/>
                </a:rPr>
                <a:t> </a:t>
              </a:r>
            </a:p>
            <a:p>
              <a:pPr eaLnBrk="1" hangingPunct="1">
                <a:lnSpc>
                  <a:spcPct val="97000"/>
                </a:lnSpc>
              </a:pPr>
              <a:r>
                <a:rPr lang="en-US" altLang="ko-KR">
                  <a:cs typeface="Arial" panose="020B0604020202020204" pitchFamily="34" charset="0"/>
                </a:rPr>
                <a:t>SKI	pB</a:t>
              </a:r>
              <a:r>
                <a:rPr lang="en-US" altLang="ko-KR" baseline="-25000">
                  <a:cs typeface="Arial" panose="020B0604020202020204" pitchFamily="34" charset="0"/>
                </a:rPr>
                <a:t>9</a:t>
              </a:r>
              <a:r>
                <a:rPr lang="en-US" altLang="ko-KR">
                  <a:cs typeface="Arial" panose="020B0604020202020204" pitchFamily="34" charset="0"/>
                </a:rPr>
                <a:t>:	if(FGI = 1) then (PC </a:t>
              </a:r>
              <a:r>
                <a:rPr lang="en-US" altLang="ko-KR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 PC + 1)	Skip on input flag</a:t>
              </a:r>
              <a:r>
                <a:rPr lang="en-US" altLang="ko-KR">
                  <a:cs typeface="Arial" panose="020B0604020202020204" pitchFamily="34" charset="0"/>
                </a:rPr>
                <a:t> </a:t>
              </a:r>
            </a:p>
            <a:p>
              <a:pPr eaLnBrk="1" hangingPunct="1">
                <a:lnSpc>
                  <a:spcPct val="97000"/>
                </a:lnSpc>
              </a:pPr>
              <a:r>
                <a:rPr lang="en-US" altLang="ko-KR">
                  <a:cs typeface="Arial" panose="020B0604020202020204" pitchFamily="34" charset="0"/>
                </a:rPr>
                <a:t>SKO	pB</a:t>
              </a:r>
              <a:r>
                <a:rPr lang="en-US" altLang="ko-KR" baseline="-25000">
                  <a:cs typeface="Arial" panose="020B0604020202020204" pitchFamily="34" charset="0"/>
                </a:rPr>
                <a:t>8</a:t>
              </a:r>
              <a:r>
                <a:rPr lang="en-US" altLang="ko-KR">
                  <a:cs typeface="Arial" panose="020B0604020202020204" pitchFamily="34" charset="0"/>
                </a:rPr>
                <a:t>:	if(FGO = 1) then (PC </a:t>
              </a:r>
              <a:r>
                <a:rPr lang="en-US" altLang="ko-KR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 PC + 1)</a:t>
              </a:r>
              <a:r>
                <a:rPr lang="en-US" altLang="ko-KR">
                  <a:cs typeface="Arial" panose="020B0604020202020204" pitchFamily="34" charset="0"/>
                </a:rPr>
                <a:t> </a:t>
              </a:r>
              <a:r>
                <a:rPr lang="en-US" altLang="ko-KR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	Skip on output flag</a:t>
              </a:r>
            </a:p>
            <a:p>
              <a:pPr eaLnBrk="1" hangingPunct="1">
                <a:lnSpc>
                  <a:spcPct val="97000"/>
                </a:lnSpc>
              </a:pPr>
              <a:r>
                <a:rPr lang="en-US" altLang="ko-KR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ION	</a:t>
              </a:r>
              <a:r>
                <a:rPr lang="en-US" altLang="ko-KR">
                  <a:cs typeface="Arial" panose="020B0604020202020204" pitchFamily="34" charset="0"/>
                </a:rPr>
                <a:t>pB</a:t>
              </a:r>
              <a:r>
                <a:rPr lang="en-US" altLang="ko-KR" baseline="-25000">
                  <a:cs typeface="Arial" panose="020B0604020202020204" pitchFamily="34" charset="0"/>
                </a:rPr>
                <a:t>7</a:t>
              </a:r>
              <a:r>
                <a:rPr lang="en-US" altLang="ko-KR">
                  <a:cs typeface="Arial" panose="020B0604020202020204" pitchFamily="34" charset="0"/>
                </a:rPr>
                <a:t>:	IEN </a:t>
              </a:r>
              <a:r>
                <a:rPr lang="en-US" altLang="ko-KR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 1				Interrupt enable on</a:t>
              </a:r>
            </a:p>
            <a:p>
              <a:pPr eaLnBrk="1" hangingPunct="1">
                <a:lnSpc>
                  <a:spcPct val="97000"/>
                </a:lnSpc>
              </a:pPr>
              <a:r>
                <a:rPr lang="en-US" altLang="ko-KR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IOF	</a:t>
              </a:r>
              <a:r>
                <a:rPr lang="en-US" altLang="ko-KR">
                  <a:cs typeface="Arial" panose="020B0604020202020204" pitchFamily="34" charset="0"/>
                </a:rPr>
                <a:t>pB</a:t>
              </a:r>
              <a:r>
                <a:rPr lang="en-US" altLang="ko-KR" baseline="-25000">
                  <a:cs typeface="Arial" panose="020B0604020202020204" pitchFamily="34" charset="0"/>
                </a:rPr>
                <a:t>6</a:t>
              </a:r>
              <a:r>
                <a:rPr lang="en-US" altLang="ko-KR">
                  <a:cs typeface="Arial" panose="020B0604020202020204" pitchFamily="34" charset="0"/>
                </a:rPr>
                <a:t>:	IEN </a:t>
              </a:r>
              <a:r>
                <a:rPr lang="en-US" altLang="ko-KR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 0				Interrupt enable off</a:t>
              </a:r>
              <a:r>
                <a:rPr lang="en-US" altLang="ko-KR">
                  <a:cs typeface="Arial" panose="020B0604020202020204" pitchFamily="34" charset="0"/>
                </a:rPr>
                <a:t> </a:t>
              </a:r>
            </a:p>
          </p:txBody>
        </p:sp>
        <p:sp>
          <p:nvSpPr>
            <p:cNvPr id="32778" name="Rectangle 44"/>
            <p:cNvSpPr>
              <a:spLocks noChangeArrowheads="1"/>
            </p:cNvSpPr>
            <p:nvPr/>
          </p:nvSpPr>
          <p:spPr bwMode="auto">
            <a:xfrm>
              <a:off x="1000125" y="2590800"/>
              <a:ext cx="7991475" cy="2038350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>
                <a:cs typeface="Arial" panose="020B0604020202020204" pitchFamily="34" charset="0"/>
              </a:endParaRPr>
            </a:p>
          </p:txBody>
        </p:sp>
        <p:sp>
          <p:nvSpPr>
            <p:cNvPr id="32779" name="Line 45"/>
            <p:cNvSpPr>
              <a:spLocks noChangeShapeType="1"/>
            </p:cNvSpPr>
            <p:nvPr/>
          </p:nvSpPr>
          <p:spPr bwMode="auto">
            <a:xfrm>
              <a:off x="1685925" y="2590800"/>
              <a:ext cx="0" cy="20193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780" name="Line 46"/>
            <p:cNvSpPr>
              <a:spLocks noChangeShapeType="1"/>
            </p:cNvSpPr>
            <p:nvPr/>
          </p:nvSpPr>
          <p:spPr bwMode="auto">
            <a:xfrm>
              <a:off x="6191250" y="2600325"/>
              <a:ext cx="0" cy="20193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3229126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3796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798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Interrupt Initiated Input/Output </a:t>
            </a:r>
          </a:p>
        </p:txBody>
      </p:sp>
      <p:sp>
        <p:nvSpPr>
          <p:cNvPr id="33799" name="Rectangle 3"/>
          <p:cNvSpPr>
            <a:spLocks noChangeArrowheads="1"/>
          </p:cNvSpPr>
          <p:nvPr/>
        </p:nvSpPr>
        <p:spPr bwMode="auto">
          <a:xfrm>
            <a:off x="1890713" y="1282701"/>
            <a:ext cx="8604250" cy="31589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2000"/>
              </a:lnSpc>
            </a:pPr>
            <a:endParaRPr lang="en-IN" altLang="ko-KR" b="1" dirty="0">
              <a:cs typeface="Arial" panose="020B0604020202020204" pitchFamily="34" charset="0"/>
            </a:endParaRPr>
          </a:p>
          <a:p>
            <a:pPr eaLnBrk="1" hangingPunct="1">
              <a:lnSpc>
                <a:spcPct val="102000"/>
              </a:lnSpc>
            </a:pPr>
            <a:endParaRPr lang="en-IN" altLang="ko-KR" b="1" dirty="0">
              <a:cs typeface="Arial" panose="020B0604020202020204" pitchFamily="34" charset="0"/>
            </a:endParaRPr>
          </a:p>
          <a:p>
            <a:pPr eaLnBrk="1" hangingPunct="1">
              <a:lnSpc>
                <a:spcPct val="102000"/>
              </a:lnSpc>
            </a:pPr>
            <a:endParaRPr lang="en-US" altLang="ko-KR" b="1" dirty="0">
              <a:cs typeface="Arial" panose="020B0604020202020204" pitchFamily="34" charset="0"/>
            </a:endParaRPr>
          </a:p>
          <a:p>
            <a:pPr eaLnBrk="1" hangingPunct="1">
              <a:lnSpc>
                <a:spcPct val="102000"/>
              </a:lnSpc>
            </a:pPr>
            <a:r>
              <a:rPr lang="en-US" altLang="ko-KR" b="1" dirty="0">
                <a:cs typeface="Arial" panose="020B0604020202020204" pitchFamily="34" charset="0"/>
              </a:rPr>
              <a:t>- Open communication only when some data has to be passed --&gt; </a:t>
            </a:r>
            <a:r>
              <a:rPr lang="en-US" altLang="ko-KR" b="1" i="1" dirty="0">
                <a:cs typeface="Arial" panose="020B0604020202020204" pitchFamily="34" charset="0"/>
              </a:rPr>
              <a:t>interrupt</a:t>
            </a:r>
            <a:r>
              <a:rPr lang="en-US" altLang="ko-KR" b="1" dirty="0">
                <a:cs typeface="Arial" panose="020B0604020202020204" pitchFamily="34" charset="0"/>
              </a:rPr>
              <a:t>.</a:t>
            </a:r>
          </a:p>
          <a:p>
            <a:pPr eaLnBrk="1" hangingPunct="1">
              <a:lnSpc>
                <a:spcPct val="102000"/>
              </a:lnSpc>
            </a:pPr>
            <a:endParaRPr lang="en-US" altLang="ko-KR" b="1" dirty="0">
              <a:cs typeface="Arial" panose="020B0604020202020204" pitchFamily="34" charset="0"/>
            </a:endParaRPr>
          </a:p>
          <a:p>
            <a:pPr eaLnBrk="1" hangingPunct="1">
              <a:lnSpc>
                <a:spcPct val="102000"/>
              </a:lnSpc>
            </a:pPr>
            <a:endParaRPr lang="en-US" altLang="ko-KR" b="1" dirty="0">
              <a:cs typeface="Arial" panose="020B0604020202020204" pitchFamily="34" charset="0"/>
            </a:endParaRPr>
          </a:p>
          <a:p>
            <a:pPr eaLnBrk="1" hangingPunct="1">
              <a:lnSpc>
                <a:spcPct val="102000"/>
              </a:lnSpc>
            </a:pPr>
            <a:r>
              <a:rPr lang="en-US" altLang="ko-KR" b="1" dirty="0">
                <a:cs typeface="Arial" panose="020B0604020202020204" pitchFamily="34" charset="0"/>
              </a:rPr>
              <a:t>- The I/O interface, instead of the CPU, monitors the I/O device. </a:t>
            </a:r>
          </a:p>
          <a:p>
            <a:pPr eaLnBrk="1" hangingPunct="1">
              <a:lnSpc>
                <a:spcPct val="102000"/>
              </a:lnSpc>
            </a:pPr>
            <a:endParaRPr lang="en-US" altLang="ko-KR" b="1" dirty="0">
              <a:cs typeface="Arial" panose="020B0604020202020204" pitchFamily="34" charset="0"/>
            </a:endParaRPr>
          </a:p>
          <a:p>
            <a:pPr eaLnBrk="1" hangingPunct="1">
              <a:lnSpc>
                <a:spcPct val="102000"/>
              </a:lnSpc>
            </a:pPr>
            <a:endParaRPr lang="en-US" altLang="ko-KR" b="1" dirty="0">
              <a:cs typeface="Arial" panose="020B0604020202020204" pitchFamily="34" charset="0"/>
            </a:endParaRPr>
          </a:p>
          <a:p>
            <a:pPr eaLnBrk="1" hangingPunct="1">
              <a:lnSpc>
                <a:spcPct val="102000"/>
              </a:lnSpc>
            </a:pPr>
            <a:r>
              <a:rPr lang="en-US" altLang="ko-KR" b="1" dirty="0">
                <a:cs typeface="Arial" panose="020B0604020202020204" pitchFamily="34" charset="0"/>
              </a:rPr>
              <a:t>-  When the interface founds that the I/O device is ready for data transfer, </a:t>
            </a:r>
          </a:p>
          <a:p>
            <a:pPr eaLnBrk="1" hangingPunct="1">
              <a:lnSpc>
                <a:spcPct val="102000"/>
              </a:lnSpc>
            </a:pPr>
            <a:r>
              <a:rPr lang="en-US" altLang="ko-KR" b="1" dirty="0">
                <a:cs typeface="Arial" panose="020B0604020202020204" pitchFamily="34" charset="0"/>
              </a:rPr>
              <a:t>	it generates an interrupt request to the CPU</a:t>
            </a:r>
          </a:p>
        </p:txBody>
      </p:sp>
    </p:spTree>
    <p:extLst>
      <p:ext uri="{BB962C8B-B14F-4D97-AF65-F5344CB8AC3E}">
        <p14:creationId xmlns:p14="http://schemas.microsoft.com/office/powerpoint/2010/main" val="157860273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3796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798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Interrupt Initiated Input/Output </a:t>
            </a:r>
          </a:p>
        </p:txBody>
      </p:sp>
      <p:sp>
        <p:nvSpPr>
          <p:cNvPr id="33799" name="Rectangle 3"/>
          <p:cNvSpPr>
            <a:spLocks noChangeArrowheads="1"/>
          </p:cNvSpPr>
          <p:nvPr/>
        </p:nvSpPr>
        <p:spPr bwMode="auto">
          <a:xfrm>
            <a:off x="1890713" y="1282701"/>
            <a:ext cx="8604250" cy="23114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2000"/>
              </a:lnSpc>
            </a:pPr>
            <a:endParaRPr lang="en-US" altLang="ko-KR" b="1" dirty="0">
              <a:cs typeface="Arial" panose="020B0604020202020204" pitchFamily="34" charset="0"/>
            </a:endParaRPr>
          </a:p>
          <a:p>
            <a:pPr eaLnBrk="1" hangingPunct="1">
              <a:lnSpc>
                <a:spcPct val="102000"/>
              </a:lnSpc>
            </a:pPr>
            <a:r>
              <a:rPr lang="en-US" altLang="ko-KR" b="1" dirty="0">
                <a:cs typeface="Arial" panose="020B0604020202020204" pitchFamily="34" charset="0"/>
              </a:rPr>
              <a:t>-  Upon detecting an interrupt, the CPU stops momentarily the task </a:t>
            </a:r>
          </a:p>
          <a:p>
            <a:pPr eaLnBrk="1" hangingPunct="1">
              <a:lnSpc>
                <a:spcPct val="102000"/>
              </a:lnSpc>
            </a:pPr>
            <a:r>
              <a:rPr lang="en-US" altLang="ko-KR" b="1" dirty="0">
                <a:cs typeface="Arial" panose="020B0604020202020204" pitchFamily="34" charset="0"/>
              </a:rPr>
              <a:t>	it is doing, branches to the service routine to process the data </a:t>
            </a:r>
          </a:p>
          <a:p>
            <a:pPr eaLnBrk="1" hangingPunct="1">
              <a:lnSpc>
                <a:spcPct val="102000"/>
              </a:lnSpc>
            </a:pPr>
            <a:r>
              <a:rPr lang="en-US" altLang="ko-KR" b="1" dirty="0">
                <a:cs typeface="Arial" panose="020B0604020202020204" pitchFamily="34" charset="0"/>
              </a:rPr>
              <a:t>	transfer, and then returns to the task it was performing.</a:t>
            </a:r>
          </a:p>
          <a:p>
            <a:pPr eaLnBrk="1" hangingPunct="1">
              <a:lnSpc>
                <a:spcPct val="102000"/>
              </a:lnSpc>
            </a:pPr>
            <a:endParaRPr lang="en-US" altLang="ko-KR" b="1" dirty="0">
              <a:cs typeface="Arial" panose="020B0604020202020204" pitchFamily="34" charset="0"/>
            </a:endParaRPr>
          </a:p>
          <a:p>
            <a:pPr eaLnBrk="1" hangingPunct="1">
              <a:lnSpc>
                <a:spcPct val="102000"/>
              </a:lnSpc>
            </a:pPr>
            <a:r>
              <a:rPr lang="en-US" altLang="ko-KR" b="1" dirty="0">
                <a:cs typeface="Arial" panose="020B0604020202020204" pitchFamily="34" charset="0"/>
              </a:rPr>
              <a:t>FGI –  1 new info. Is available to input device……0 info accepted by computer</a:t>
            </a:r>
          </a:p>
          <a:p>
            <a:pPr eaLnBrk="1" hangingPunct="1">
              <a:lnSpc>
                <a:spcPct val="102000"/>
              </a:lnSpc>
            </a:pPr>
            <a:r>
              <a:rPr lang="en-US" altLang="ko-KR" b="1" dirty="0">
                <a:cs typeface="Arial" panose="020B0604020202020204" pitchFamily="34" charset="0"/>
              </a:rPr>
              <a:t>FGO – 1 info </a:t>
            </a:r>
            <a:r>
              <a:rPr lang="en-US" altLang="ko-KR" b="1" dirty="0" err="1">
                <a:cs typeface="Arial" panose="020B0604020202020204" pitchFamily="34" charset="0"/>
              </a:rPr>
              <a:t>tranffered</a:t>
            </a:r>
            <a:r>
              <a:rPr lang="en-US" altLang="ko-KR" b="1" dirty="0">
                <a:cs typeface="Arial" panose="020B0604020202020204" pitchFamily="34" charset="0"/>
              </a:rPr>
              <a:t> from AC to OUTR………0 don’t load new things</a:t>
            </a:r>
          </a:p>
          <a:p>
            <a:pPr eaLnBrk="1" latinLnBrk="1" hangingPunct="1">
              <a:lnSpc>
                <a:spcPct val="102000"/>
              </a:lnSpc>
            </a:pPr>
            <a:endParaRPr lang="en-US" altLang="ko-KR" b="1" dirty="0">
              <a:cs typeface="Arial" panose="020B0604020202020204" pitchFamily="34" charset="0"/>
            </a:endParaRPr>
          </a:p>
        </p:txBody>
      </p:sp>
      <p:sp>
        <p:nvSpPr>
          <p:cNvPr id="33800" name="Rectangle 4"/>
          <p:cNvSpPr>
            <a:spLocks noChangeArrowheads="1"/>
          </p:cNvSpPr>
          <p:nvPr/>
        </p:nvSpPr>
        <p:spPr bwMode="auto">
          <a:xfrm>
            <a:off x="1697037" y="3449701"/>
            <a:ext cx="3590925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2000"/>
              </a:lnSpc>
            </a:pPr>
            <a:r>
              <a:rPr lang="en-US" altLang="ko-KR" b="1" dirty="0">
                <a:cs typeface="Arial" panose="020B0604020202020204" pitchFamily="34" charset="0"/>
              </a:rPr>
              <a:t>   IEN (Interrupt-enable flip-flop)</a:t>
            </a:r>
          </a:p>
        </p:txBody>
      </p:sp>
      <p:sp>
        <p:nvSpPr>
          <p:cNvPr id="33801" name="Rectangle 5"/>
          <p:cNvSpPr>
            <a:spLocks noChangeArrowheads="1"/>
          </p:cNvSpPr>
          <p:nvPr/>
        </p:nvSpPr>
        <p:spPr bwMode="auto">
          <a:xfrm>
            <a:off x="2209800" y="4037045"/>
            <a:ext cx="5757863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5000"/>
              </a:lnSpc>
            </a:pPr>
            <a:r>
              <a:rPr lang="en-US" altLang="ko-KR" b="1" dirty="0">
                <a:cs typeface="Arial" panose="020B0604020202020204" pitchFamily="34" charset="0"/>
              </a:rPr>
              <a:t>- can be set and cleared by instructions</a:t>
            </a:r>
          </a:p>
          <a:p>
            <a:pPr eaLnBrk="1" hangingPunct="1">
              <a:lnSpc>
                <a:spcPct val="105000"/>
              </a:lnSpc>
            </a:pPr>
            <a:r>
              <a:rPr lang="en-US" altLang="ko-KR" b="1" dirty="0">
                <a:cs typeface="Arial" panose="020B0604020202020204" pitchFamily="34" charset="0"/>
              </a:rPr>
              <a:t>- when cleared, the computer cannot be interrupted</a:t>
            </a:r>
          </a:p>
          <a:p>
            <a:pPr eaLnBrk="1" hangingPunct="1">
              <a:lnSpc>
                <a:spcPct val="95000"/>
              </a:lnSpc>
            </a:pPr>
            <a:endParaRPr lang="en-US" altLang="ko-KR" b="1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391722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822" name="TextBox 8"/>
          <p:cNvSpPr txBox="1">
            <a:spLocks noChangeArrowheads="1"/>
          </p:cNvSpPr>
          <p:nvPr/>
        </p:nvSpPr>
        <p:spPr bwMode="auto">
          <a:xfrm>
            <a:off x="2057400" y="381000"/>
            <a:ext cx="8077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Flow Chart of Interrupt Cycle </a:t>
            </a:r>
          </a:p>
        </p:txBody>
      </p:sp>
      <p:grpSp>
        <p:nvGrpSpPr>
          <p:cNvPr id="34823" name="Group 147"/>
          <p:cNvGrpSpPr>
            <a:grpSpLocks/>
          </p:cNvGrpSpPr>
          <p:nvPr/>
        </p:nvGrpSpPr>
        <p:grpSpPr bwMode="auto">
          <a:xfrm>
            <a:off x="276678" y="965200"/>
            <a:ext cx="11470564" cy="5322758"/>
            <a:chOff x="450850" y="808038"/>
            <a:chExt cx="9259564" cy="5322356"/>
          </a:xfrm>
        </p:grpSpPr>
        <p:sp>
          <p:nvSpPr>
            <p:cNvPr id="34825" name="Rectangle 3"/>
            <p:cNvSpPr>
              <a:spLocks noChangeArrowheads="1"/>
            </p:cNvSpPr>
            <p:nvPr/>
          </p:nvSpPr>
          <p:spPr bwMode="auto">
            <a:xfrm>
              <a:off x="5246688" y="808038"/>
              <a:ext cx="1415452" cy="2667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400" b="1">
                  <a:cs typeface="Arial" panose="020B0604020202020204" pitchFamily="34" charset="0"/>
                </a:rPr>
                <a:t>R = Interrupt f/f</a:t>
              </a:r>
            </a:p>
          </p:txBody>
        </p:sp>
        <p:sp>
          <p:nvSpPr>
            <p:cNvPr id="34826" name="Rectangle 4"/>
            <p:cNvSpPr>
              <a:spLocks noChangeArrowheads="1"/>
            </p:cNvSpPr>
            <p:nvPr/>
          </p:nvSpPr>
          <p:spPr bwMode="auto">
            <a:xfrm>
              <a:off x="450850" y="4392613"/>
              <a:ext cx="9259564" cy="17377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63500" tIns="25400" rIns="63500" bIns="2540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/>
              <a:endParaRPr lang="en-US" altLang="ko-KR" sz="1600" b="1" dirty="0">
                <a:cs typeface="Arial" panose="020B0604020202020204" pitchFamily="34" charset="0"/>
              </a:endParaRPr>
            </a:p>
            <a:p>
              <a:pPr algn="just" eaLnBrk="1" hangingPunct="1"/>
              <a:endParaRPr lang="en-US" altLang="ko-KR" sz="1600" b="1" dirty="0">
                <a:cs typeface="Arial" panose="020B0604020202020204" pitchFamily="34" charset="0"/>
              </a:endParaRPr>
            </a:p>
            <a:p>
              <a:pPr algn="just" eaLnBrk="1" hangingPunct="1"/>
              <a:r>
                <a:rPr lang="en-US" altLang="ko-KR" sz="1600" b="1" dirty="0">
                  <a:cs typeface="Arial" panose="020B0604020202020204" pitchFamily="34" charset="0"/>
                </a:rPr>
                <a:t>- The interrupt cycle is a HW implementation of a branch and save return address operation.</a:t>
              </a:r>
            </a:p>
            <a:p>
              <a:pPr algn="just" eaLnBrk="1" hangingPunct="1"/>
              <a:r>
                <a:rPr lang="en-US" altLang="ko-KR" sz="1600" b="1" dirty="0">
                  <a:cs typeface="Arial" panose="020B0604020202020204" pitchFamily="34" charset="0"/>
                </a:rPr>
                <a:t>- At the beginning of the next instruction cycle, the instruction that is read from memory is in address 1.</a:t>
              </a:r>
            </a:p>
            <a:p>
              <a:pPr algn="just" eaLnBrk="1" hangingPunct="1"/>
              <a:r>
                <a:rPr lang="en-US" altLang="ko-KR" sz="1600" b="1" dirty="0">
                  <a:cs typeface="Arial" panose="020B0604020202020204" pitchFamily="34" charset="0"/>
                </a:rPr>
                <a:t>- At memory address 1, the programmer must store a branch instruction that sends the control to an interrupt service routine</a:t>
              </a:r>
            </a:p>
            <a:p>
              <a:pPr algn="just" eaLnBrk="1" hangingPunct="1">
                <a:lnSpc>
                  <a:spcPct val="85000"/>
                </a:lnSpc>
              </a:pPr>
              <a:r>
                <a:rPr lang="en-US" altLang="ko-KR" sz="1600" b="1" dirty="0">
                  <a:cs typeface="Arial" panose="020B0604020202020204" pitchFamily="34" charset="0"/>
                </a:rPr>
                <a:t>- The instruction that returns the control to the original program is  "indirect BUN   0"</a:t>
              </a:r>
            </a:p>
          </p:txBody>
        </p:sp>
        <p:sp>
          <p:nvSpPr>
            <p:cNvPr id="62" name="Rectangle 17"/>
            <p:cNvSpPr>
              <a:spLocks noChangeArrowheads="1"/>
            </p:cNvSpPr>
            <p:nvPr/>
          </p:nvSpPr>
          <p:spPr bwMode="auto">
            <a:xfrm>
              <a:off x="4348163" y="1646175"/>
              <a:ext cx="1785746" cy="41290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Store return address</a:t>
              </a:r>
            </a:p>
            <a:p>
              <a:pPr defTabSz="762000">
                <a:defRPr/>
              </a:pPr>
              <a:endParaRPr lang="en-US" altLang="ko-KR" sz="1050" b="1">
                <a:solidFill>
                  <a:srgbClr val="000000"/>
                </a:solidFill>
                <a:cs typeface="Arial" pitchFamily="34" charset="0"/>
              </a:endParaRPr>
            </a:p>
          </p:txBody>
        </p:sp>
        <p:grpSp>
          <p:nvGrpSpPr>
            <p:cNvPr id="34828" name="Group 11"/>
            <p:cNvGrpSpPr>
              <a:grpSpLocks/>
            </p:cNvGrpSpPr>
            <p:nvPr/>
          </p:nvGrpSpPr>
          <p:grpSpPr bwMode="auto">
            <a:xfrm>
              <a:off x="3416300" y="1173163"/>
              <a:ext cx="481013" cy="334962"/>
              <a:chOff x="2115" y="1631"/>
              <a:chExt cx="268" cy="236"/>
            </a:xfrm>
          </p:grpSpPr>
          <p:sp>
            <p:nvSpPr>
              <p:cNvPr id="64" name="Line 7"/>
              <p:cNvSpPr>
                <a:spLocks noChangeShapeType="1"/>
              </p:cNvSpPr>
              <p:nvPr/>
            </p:nvSpPr>
            <p:spPr bwMode="auto">
              <a:xfrm flipH="1">
                <a:off x="2115" y="1631"/>
                <a:ext cx="145" cy="114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050" b="1">
                  <a:cs typeface="Arial" pitchFamily="34" charset="0"/>
                </a:endParaRPr>
              </a:p>
            </p:txBody>
          </p:sp>
          <p:sp>
            <p:nvSpPr>
              <p:cNvPr id="65" name="Line 8"/>
              <p:cNvSpPr>
                <a:spLocks noChangeShapeType="1"/>
              </p:cNvSpPr>
              <p:nvPr/>
            </p:nvSpPr>
            <p:spPr bwMode="auto">
              <a:xfrm flipH="1">
                <a:off x="2237" y="1754"/>
                <a:ext cx="146" cy="113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050" b="1">
                  <a:cs typeface="Arial" pitchFamily="34" charset="0"/>
                </a:endParaRPr>
              </a:p>
            </p:txBody>
          </p:sp>
          <p:sp>
            <p:nvSpPr>
              <p:cNvPr id="66" name="Line 9"/>
              <p:cNvSpPr>
                <a:spLocks noChangeShapeType="1"/>
              </p:cNvSpPr>
              <p:nvPr/>
            </p:nvSpPr>
            <p:spPr bwMode="auto">
              <a:xfrm>
                <a:off x="2253" y="1631"/>
                <a:ext cx="114" cy="114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050" b="1">
                  <a:cs typeface="Arial" pitchFamily="34" charset="0"/>
                </a:endParaRPr>
              </a:p>
            </p:txBody>
          </p:sp>
          <p:sp>
            <p:nvSpPr>
              <p:cNvPr id="67" name="Line 10"/>
              <p:cNvSpPr>
                <a:spLocks noChangeShapeType="1"/>
              </p:cNvSpPr>
              <p:nvPr/>
            </p:nvSpPr>
            <p:spPr bwMode="auto">
              <a:xfrm>
                <a:off x="2131" y="1754"/>
                <a:ext cx="113" cy="113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050" b="1">
                  <a:cs typeface="Arial" pitchFamily="34" charset="0"/>
                </a:endParaRPr>
              </a:p>
            </p:txBody>
          </p:sp>
        </p:grpSp>
        <p:sp>
          <p:nvSpPr>
            <p:cNvPr id="68" name="Rectangle 12"/>
            <p:cNvSpPr>
              <a:spLocks noChangeArrowheads="1"/>
            </p:cNvSpPr>
            <p:nvPr/>
          </p:nvSpPr>
          <p:spPr bwMode="auto">
            <a:xfrm>
              <a:off x="3516313" y="1223932"/>
              <a:ext cx="262893" cy="25133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R</a:t>
              </a:r>
            </a:p>
          </p:txBody>
        </p:sp>
        <p:sp>
          <p:nvSpPr>
            <p:cNvPr id="69" name="Rectangle 13"/>
            <p:cNvSpPr>
              <a:spLocks noChangeArrowheads="1"/>
            </p:cNvSpPr>
            <p:nvPr/>
          </p:nvSpPr>
          <p:spPr bwMode="auto">
            <a:xfrm>
              <a:off x="3765550" y="1152500"/>
              <a:ext cx="342900" cy="25874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=1</a:t>
              </a:r>
            </a:p>
          </p:txBody>
        </p:sp>
        <p:sp>
          <p:nvSpPr>
            <p:cNvPr id="70" name="Rectangle 14"/>
            <p:cNvSpPr>
              <a:spLocks noChangeArrowheads="1"/>
            </p:cNvSpPr>
            <p:nvPr/>
          </p:nvSpPr>
          <p:spPr bwMode="auto">
            <a:xfrm>
              <a:off x="3155950" y="1142976"/>
              <a:ext cx="342900" cy="25874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=0</a:t>
              </a:r>
            </a:p>
          </p:txBody>
        </p:sp>
        <p:sp>
          <p:nvSpPr>
            <p:cNvPr id="71" name="Line 15"/>
            <p:cNvSpPr>
              <a:spLocks noChangeShapeType="1"/>
            </p:cNvSpPr>
            <p:nvPr/>
          </p:nvSpPr>
          <p:spPr bwMode="auto">
            <a:xfrm flipV="1">
              <a:off x="3862388" y="1342986"/>
              <a:ext cx="1270000" cy="31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72" name="Line 16"/>
            <p:cNvSpPr>
              <a:spLocks noChangeShapeType="1"/>
            </p:cNvSpPr>
            <p:nvPr/>
          </p:nvSpPr>
          <p:spPr bwMode="auto">
            <a:xfrm flipH="1">
              <a:off x="2397125" y="1342986"/>
              <a:ext cx="1046163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73" name="Rectangle 18"/>
            <p:cNvSpPr>
              <a:spLocks noChangeArrowheads="1"/>
            </p:cNvSpPr>
            <p:nvPr/>
          </p:nvSpPr>
          <p:spPr bwMode="auto">
            <a:xfrm>
              <a:off x="4538663" y="1765229"/>
              <a:ext cx="1224695" cy="41290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 dirty="0">
                  <a:solidFill>
                    <a:srgbClr val="000000"/>
                  </a:solidFill>
                  <a:cs typeface="Arial" pitchFamily="34" charset="0"/>
                </a:rPr>
                <a:t>in location 0</a:t>
              </a:r>
            </a:p>
            <a:p>
              <a:pPr defTabSz="762000">
                <a:defRPr/>
              </a:pPr>
              <a:endParaRPr lang="en-US" altLang="ko-KR" sz="1050" b="1" dirty="0">
                <a:solidFill>
                  <a:srgbClr val="000000"/>
                </a:solidFill>
                <a:cs typeface="Arial" pitchFamily="34" charset="0"/>
              </a:endParaRPr>
            </a:p>
          </p:txBody>
        </p:sp>
        <p:sp>
          <p:nvSpPr>
            <p:cNvPr id="74" name="Rectangle 19"/>
            <p:cNvSpPr>
              <a:spLocks noChangeArrowheads="1"/>
            </p:cNvSpPr>
            <p:nvPr/>
          </p:nvSpPr>
          <p:spPr bwMode="auto">
            <a:xfrm>
              <a:off x="4576763" y="1906505"/>
              <a:ext cx="956994" cy="25133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M[0] </a:t>
              </a: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  <a:sym typeface="Symbol" pitchFamily="18" charset="2"/>
                </a:rPr>
                <a:t></a:t>
              </a: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 PC</a:t>
              </a:r>
            </a:p>
          </p:txBody>
        </p:sp>
        <p:sp>
          <p:nvSpPr>
            <p:cNvPr id="75" name="Rectangle 20"/>
            <p:cNvSpPr>
              <a:spLocks noChangeArrowheads="1"/>
            </p:cNvSpPr>
            <p:nvPr/>
          </p:nvSpPr>
          <p:spPr bwMode="auto">
            <a:xfrm>
              <a:off x="4229100" y="2538283"/>
              <a:ext cx="1785746" cy="41290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Branch to location 1</a:t>
              </a:r>
            </a:p>
            <a:p>
              <a:pPr defTabSz="762000">
                <a:defRPr/>
              </a:pPr>
              <a:endParaRPr lang="en-US" altLang="ko-KR" sz="1050" b="1">
                <a:solidFill>
                  <a:srgbClr val="000000"/>
                </a:solidFill>
                <a:cs typeface="Arial" pitchFamily="34" charset="0"/>
              </a:endParaRPr>
            </a:p>
          </p:txBody>
        </p:sp>
        <p:sp>
          <p:nvSpPr>
            <p:cNvPr id="76" name="Rectangle 21"/>
            <p:cNvSpPr>
              <a:spLocks noChangeArrowheads="1"/>
            </p:cNvSpPr>
            <p:nvPr/>
          </p:nvSpPr>
          <p:spPr bwMode="auto">
            <a:xfrm>
              <a:off x="4641850" y="2682735"/>
              <a:ext cx="716544" cy="25133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PC </a:t>
              </a: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  <a:sym typeface="Symbol" pitchFamily="18" charset="2"/>
                </a:rPr>
                <a:t></a:t>
              </a: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 1</a:t>
              </a:r>
            </a:p>
          </p:txBody>
        </p:sp>
        <p:sp>
          <p:nvSpPr>
            <p:cNvPr id="77" name="Rectangle 22"/>
            <p:cNvSpPr>
              <a:spLocks noChangeArrowheads="1"/>
            </p:cNvSpPr>
            <p:nvPr/>
          </p:nvSpPr>
          <p:spPr bwMode="auto">
            <a:xfrm>
              <a:off x="4602163" y="3243080"/>
              <a:ext cx="876844" cy="57447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IEN </a:t>
              </a: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  <a:sym typeface="Symbol" pitchFamily="18" charset="2"/>
                </a:rPr>
                <a:t></a:t>
              </a: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 0</a:t>
              </a:r>
            </a:p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   R </a:t>
              </a: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  <a:sym typeface="Symbol" pitchFamily="18" charset="2"/>
                </a:rPr>
                <a:t></a:t>
              </a: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 0</a:t>
              </a:r>
            </a:p>
            <a:p>
              <a:pPr defTabSz="762000">
                <a:defRPr/>
              </a:pPr>
              <a:endParaRPr lang="en-US" altLang="ko-KR" sz="1050" b="1">
                <a:solidFill>
                  <a:srgbClr val="000000"/>
                </a:solidFill>
                <a:cs typeface="Arial" pitchFamily="34" charset="0"/>
              </a:endParaRPr>
            </a:p>
          </p:txBody>
        </p:sp>
        <p:sp>
          <p:nvSpPr>
            <p:cNvPr id="78" name="Rectangle 23"/>
            <p:cNvSpPr>
              <a:spLocks noChangeArrowheads="1"/>
            </p:cNvSpPr>
            <p:nvPr/>
          </p:nvSpPr>
          <p:spPr bwMode="auto">
            <a:xfrm>
              <a:off x="4422775" y="1152500"/>
              <a:ext cx="1384996" cy="25133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Interrupt cycle</a:t>
              </a:r>
            </a:p>
          </p:txBody>
        </p:sp>
        <p:sp>
          <p:nvSpPr>
            <p:cNvPr id="79" name="Rectangle 24"/>
            <p:cNvSpPr>
              <a:spLocks noChangeArrowheads="1"/>
            </p:cNvSpPr>
            <p:nvPr/>
          </p:nvSpPr>
          <p:spPr bwMode="auto">
            <a:xfrm>
              <a:off x="1793875" y="1152500"/>
              <a:ext cx="1545296" cy="25133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Instruction cycle</a:t>
              </a:r>
            </a:p>
          </p:txBody>
        </p:sp>
        <p:sp>
          <p:nvSpPr>
            <p:cNvPr id="80" name="Rectangle 25"/>
            <p:cNvSpPr>
              <a:spLocks noChangeArrowheads="1"/>
            </p:cNvSpPr>
            <p:nvPr/>
          </p:nvSpPr>
          <p:spPr bwMode="auto">
            <a:xfrm>
              <a:off x="1677988" y="1673161"/>
              <a:ext cx="1465146" cy="41290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 dirty="0">
                  <a:solidFill>
                    <a:srgbClr val="000000"/>
                  </a:solidFill>
                  <a:cs typeface="Arial" pitchFamily="34" charset="0"/>
                </a:rPr>
                <a:t>Fetch and decode</a:t>
              </a:r>
            </a:p>
            <a:p>
              <a:pPr defTabSz="762000">
                <a:defRPr/>
              </a:pPr>
              <a:endParaRPr lang="en-US" altLang="ko-KR" sz="1050" b="1" dirty="0">
                <a:solidFill>
                  <a:srgbClr val="000000"/>
                </a:solidFill>
                <a:cs typeface="Arial" pitchFamily="34" charset="0"/>
              </a:endParaRPr>
            </a:p>
          </p:txBody>
        </p:sp>
        <p:sp>
          <p:nvSpPr>
            <p:cNvPr id="81" name="Rectangle 26"/>
            <p:cNvSpPr>
              <a:spLocks noChangeArrowheads="1"/>
            </p:cNvSpPr>
            <p:nvPr/>
          </p:nvSpPr>
          <p:spPr bwMode="auto">
            <a:xfrm>
              <a:off x="1909763" y="1814437"/>
              <a:ext cx="1144545" cy="25133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instructions</a:t>
              </a:r>
            </a:p>
          </p:txBody>
        </p:sp>
        <p:sp>
          <p:nvSpPr>
            <p:cNvPr id="82" name="Rectangle 27"/>
            <p:cNvSpPr>
              <a:spLocks noChangeArrowheads="1"/>
            </p:cNvSpPr>
            <p:nvPr/>
          </p:nvSpPr>
          <p:spPr bwMode="auto">
            <a:xfrm>
              <a:off x="1538288" y="1641413"/>
              <a:ext cx="1722437" cy="438117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grpSp>
          <p:nvGrpSpPr>
            <p:cNvPr id="34844" name="Group 32"/>
            <p:cNvGrpSpPr>
              <a:grpSpLocks/>
            </p:cNvGrpSpPr>
            <p:nvPr/>
          </p:nvGrpSpPr>
          <p:grpSpPr bwMode="auto">
            <a:xfrm>
              <a:off x="2681288" y="2274888"/>
              <a:ext cx="479425" cy="333375"/>
              <a:chOff x="1704" y="2409"/>
              <a:chExt cx="268" cy="236"/>
            </a:xfrm>
          </p:grpSpPr>
          <p:sp>
            <p:nvSpPr>
              <p:cNvPr id="84" name="Line 28"/>
              <p:cNvSpPr>
                <a:spLocks noChangeShapeType="1"/>
              </p:cNvSpPr>
              <p:nvPr/>
            </p:nvSpPr>
            <p:spPr bwMode="auto">
              <a:xfrm flipH="1">
                <a:off x="1704" y="2409"/>
                <a:ext cx="146" cy="113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050" b="1">
                  <a:cs typeface="Arial" pitchFamily="34" charset="0"/>
                </a:endParaRPr>
              </a:p>
            </p:txBody>
          </p:sp>
          <p:sp>
            <p:nvSpPr>
              <p:cNvPr id="85" name="Line 29"/>
              <p:cNvSpPr>
                <a:spLocks noChangeShapeType="1"/>
              </p:cNvSpPr>
              <p:nvPr/>
            </p:nvSpPr>
            <p:spPr bwMode="auto">
              <a:xfrm flipH="1">
                <a:off x="1827" y="2531"/>
                <a:ext cx="145" cy="109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050" b="1">
                  <a:cs typeface="Arial" pitchFamily="34" charset="0"/>
                </a:endParaRPr>
              </a:p>
            </p:txBody>
          </p:sp>
          <p:sp>
            <p:nvSpPr>
              <p:cNvPr id="86" name="Line 30"/>
              <p:cNvSpPr>
                <a:spLocks noChangeShapeType="1"/>
              </p:cNvSpPr>
              <p:nvPr/>
            </p:nvSpPr>
            <p:spPr bwMode="auto">
              <a:xfrm>
                <a:off x="1843" y="2409"/>
                <a:ext cx="113" cy="113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050" b="1">
                  <a:cs typeface="Arial" pitchFamily="34" charset="0"/>
                </a:endParaRPr>
              </a:p>
            </p:txBody>
          </p:sp>
          <p:sp>
            <p:nvSpPr>
              <p:cNvPr id="87" name="Line 31"/>
              <p:cNvSpPr>
                <a:spLocks noChangeShapeType="1"/>
              </p:cNvSpPr>
              <p:nvPr/>
            </p:nvSpPr>
            <p:spPr bwMode="auto">
              <a:xfrm>
                <a:off x="1720" y="2531"/>
                <a:ext cx="114" cy="109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050" b="1">
                  <a:cs typeface="Arial" pitchFamily="34" charset="0"/>
                </a:endParaRPr>
              </a:p>
            </p:txBody>
          </p:sp>
        </p:grpSp>
        <p:sp>
          <p:nvSpPr>
            <p:cNvPr id="88" name="Line 34"/>
            <p:cNvSpPr>
              <a:spLocks noChangeShapeType="1"/>
            </p:cNvSpPr>
            <p:nvPr/>
          </p:nvSpPr>
          <p:spPr bwMode="auto">
            <a:xfrm>
              <a:off x="2922588" y="2082705"/>
              <a:ext cx="0" cy="19842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89" name="Rectangle 35"/>
            <p:cNvSpPr>
              <a:spLocks noChangeArrowheads="1"/>
            </p:cNvSpPr>
            <p:nvPr/>
          </p:nvSpPr>
          <p:spPr bwMode="auto">
            <a:xfrm>
              <a:off x="2697163" y="2338273"/>
              <a:ext cx="423194" cy="25133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IEN</a:t>
              </a:r>
            </a:p>
          </p:txBody>
        </p:sp>
        <p:grpSp>
          <p:nvGrpSpPr>
            <p:cNvPr id="34847" name="Group 40"/>
            <p:cNvGrpSpPr>
              <a:grpSpLocks/>
            </p:cNvGrpSpPr>
            <p:nvPr/>
          </p:nvGrpSpPr>
          <p:grpSpPr bwMode="auto">
            <a:xfrm>
              <a:off x="2681288" y="2794000"/>
              <a:ext cx="479425" cy="333375"/>
              <a:chOff x="1704" y="2776"/>
              <a:chExt cx="268" cy="236"/>
            </a:xfrm>
          </p:grpSpPr>
          <p:sp>
            <p:nvSpPr>
              <p:cNvPr id="91" name="Line 36"/>
              <p:cNvSpPr>
                <a:spLocks noChangeShapeType="1"/>
              </p:cNvSpPr>
              <p:nvPr/>
            </p:nvSpPr>
            <p:spPr bwMode="auto">
              <a:xfrm flipH="1">
                <a:off x="1704" y="2776"/>
                <a:ext cx="146" cy="113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050" b="1">
                  <a:cs typeface="Arial" pitchFamily="34" charset="0"/>
                </a:endParaRPr>
              </a:p>
            </p:txBody>
          </p:sp>
          <p:sp>
            <p:nvSpPr>
              <p:cNvPr id="92" name="Line 37"/>
              <p:cNvSpPr>
                <a:spLocks noChangeShapeType="1"/>
              </p:cNvSpPr>
              <p:nvPr/>
            </p:nvSpPr>
            <p:spPr bwMode="auto">
              <a:xfrm flipH="1">
                <a:off x="1827" y="2898"/>
                <a:ext cx="145" cy="109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050" b="1">
                  <a:cs typeface="Arial" pitchFamily="34" charset="0"/>
                </a:endParaRPr>
              </a:p>
            </p:txBody>
          </p:sp>
          <p:sp>
            <p:nvSpPr>
              <p:cNvPr id="93" name="Line 38"/>
              <p:cNvSpPr>
                <a:spLocks noChangeShapeType="1"/>
              </p:cNvSpPr>
              <p:nvPr/>
            </p:nvSpPr>
            <p:spPr bwMode="auto">
              <a:xfrm>
                <a:off x="1843" y="2776"/>
                <a:ext cx="113" cy="113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050" b="1">
                  <a:cs typeface="Arial" pitchFamily="34" charset="0"/>
                </a:endParaRPr>
              </a:p>
            </p:txBody>
          </p:sp>
          <p:sp>
            <p:nvSpPr>
              <p:cNvPr id="94" name="Line 39"/>
              <p:cNvSpPr>
                <a:spLocks noChangeShapeType="1"/>
              </p:cNvSpPr>
              <p:nvPr/>
            </p:nvSpPr>
            <p:spPr bwMode="auto">
              <a:xfrm>
                <a:off x="1720" y="2898"/>
                <a:ext cx="114" cy="109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050" b="1">
                  <a:cs typeface="Arial" pitchFamily="34" charset="0"/>
                </a:endParaRPr>
              </a:p>
            </p:txBody>
          </p:sp>
        </p:grpSp>
        <p:sp>
          <p:nvSpPr>
            <p:cNvPr id="95" name="Line 42"/>
            <p:cNvSpPr>
              <a:spLocks noChangeShapeType="1"/>
            </p:cNvSpPr>
            <p:nvPr/>
          </p:nvSpPr>
          <p:spPr bwMode="auto">
            <a:xfrm>
              <a:off x="2916238" y="2609715"/>
              <a:ext cx="0" cy="19048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96" name="Rectangle 43"/>
            <p:cNvSpPr>
              <a:spLocks noChangeArrowheads="1"/>
            </p:cNvSpPr>
            <p:nvPr/>
          </p:nvSpPr>
          <p:spPr bwMode="auto">
            <a:xfrm>
              <a:off x="2716213" y="2850997"/>
              <a:ext cx="423194" cy="25133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FGI</a:t>
              </a:r>
            </a:p>
          </p:txBody>
        </p:sp>
        <p:grpSp>
          <p:nvGrpSpPr>
            <p:cNvPr id="34850" name="Group 48"/>
            <p:cNvGrpSpPr>
              <a:grpSpLocks/>
            </p:cNvGrpSpPr>
            <p:nvPr/>
          </p:nvGrpSpPr>
          <p:grpSpPr bwMode="auto">
            <a:xfrm>
              <a:off x="2681288" y="3314700"/>
              <a:ext cx="479425" cy="333375"/>
              <a:chOff x="1704" y="3143"/>
              <a:chExt cx="268" cy="236"/>
            </a:xfrm>
          </p:grpSpPr>
          <p:sp>
            <p:nvSpPr>
              <p:cNvPr id="98" name="Line 44"/>
              <p:cNvSpPr>
                <a:spLocks noChangeShapeType="1"/>
              </p:cNvSpPr>
              <p:nvPr/>
            </p:nvSpPr>
            <p:spPr bwMode="auto">
              <a:xfrm flipH="1">
                <a:off x="1704" y="3143"/>
                <a:ext cx="146" cy="113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050" b="1">
                  <a:cs typeface="Arial" pitchFamily="34" charset="0"/>
                </a:endParaRPr>
              </a:p>
            </p:txBody>
          </p:sp>
          <p:sp>
            <p:nvSpPr>
              <p:cNvPr id="99" name="Line 45"/>
              <p:cNvSpPr>
                <a:spLocks noChangeShapeType="1"/>
              </p:cNvSpPr>
              <p:nvPr/>
            </p:nvSpPr>
            <p:spPr bwMode="auto">
              <a:xfrm flipH="1">
                <a:off x="1827" y="3265"/>
                <a:ext cx="145" cy="109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050" b="1">
                  <a:cs typeface="Arial" pitchFamily="34" charset="0"/>
                </a:endParaRPr>
              </a:p>
            </p:txBody>
          </p:sp>
          <p:sp>
            <p:nvSpPr>
              <p:cNvPr id="100" name="Line 46"/>
              <p:cNvSpPr>
                <a:spLocks noChangeShapeType="1"/>
              </p:cNvSpPr>
              <p:nvPr/>
            </p:nvSpPr>
            <p:spPr bwMode="auto">
              <a:xfrm>
                <a:off x="1843" y="3143"/>
                <a:ext cx="113" cy="113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050" b="1">
                  <a:cs typeface="Arial" pitchFamily="34" charset="0"/>
                </a:endParaRPr>
              </a:p>
            </p:txBody>
          </p:sp>
          <p:sp>
            <p:nvSpPr>
              <p:cNvPr id="101" name="Line 47"/>
              <p:cNvSpPr>
                <a:spLocks noChangeShapeType="1"/>
              </p:cNvSpPr>
              <p:nvPr/>
            </p:nvSpPr>
            <p:spPr bwMode="auto">
              <a:xfrm>
                <a:off x="1720" y="3265"/>
                <a:ext cx="114" cy="109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050" b="1">
                  <a:cs typeface="Arial" pitchFamily="34" charset="0"/>
                </a:endParaRPr>
              </a:p>
            </p:txBody>
          </p:sp>
        </p:grpSp>
        <p:sp>
          <p:nvSpPr>
            <p:cNvPr id="102" name="Line 50"/>
            <p:cNvSpPr>
              <a:spLocks noChangeShapeType="1"/>
            </p:cNvSpPr>
            <p:nvPr/>
          </p:nvSpPr>
          <p:spPr bwMode="auto">
            <a:xfrm>
              <a:off x="2916238" y="3139900"/>
              <a:ext cx="0" cy="17619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03" name="Rectangle 51"/>
            <p:cNvSpPr>
              <a:spLocks noChangeArrowheads="1"/>
            </p:cNvSpPr>
            <p:nvPr/>
          </p:nvSpPr>
          <p:spPr bwMode="auto">
            <a:xfrm>
              <a:off x="2670175" y="3378007"/>
              <a:ext cx="423194" cy="25133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FGO</a:t>
              </a:r>
            </a:p>
          </p:txBody>
        </p:sp>
        <p:sp>
          <p:nvSpPr>
            <p:cNvPr id="104" name="Line 52"/>
            <p:cNvSpPr>
              <a:spLocks noChangeShapeType="1"/>
            </p:cNvSpPr>
            <p:nvPr/>
          </p:nvSpPr>
          <p:spPr bwMode="auto">
            <a:xfrm flipH="1">
              <a:off x="2540000" y="3481187"/>
              <a:ext cx="1682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05" name="Arc 53"/>
            <p:cNvSpPr>
              <a:spLocks/>
            </p:cNvSpPr>
            <p:nvPr/>
          </p:nvSpPr>
          <p:spPr bwMode="auto">
            <a:xfrm>
              <a:off x="2493963" y="3662148"/>
              <a:ext cx="96837" cy="95243"/>
            </a:xfrm>
            <a:custGeom>
              <a:avLst/>
              <a:gdLst>
                <a:gd name="G0" fmla="+- 8773 0 0"/>
                <a:gd name="G1" fmla="+- 21600 0 0"/>
                <a:gd name="G2" fmla="+- 21600 0 0"/>
                <a:gd name="T0" fmla="*/ 0 w 17282"/>
                <a:gd name="T1" fmla="*/ 1862 h 21600"/>
                <a:gd name="T2" fmla="*/ 17282 w 17282"/>
                <a:gd name="T3" fmla="*/ 1746 h 21600"/>
                <a:gd name="T4" fmla="*/ 8773 w 17282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82" h="21600" fill="none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</a:path>
                <a:path w="17282" h="21600" stroke="0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  <a:lnTo>
                    <a:pt x="8773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06" name="Line 54"/>
            <p:cNvSpPr>
              <a:spLocks noChangeShapeType="1"/>
            </p:cNvSpPr>
            <p:nvPr/>
          </p:nvSpPr>
          <p:spPr bwMode="auto">
            <a:xfrm>
              <a:off x="2547938" y="3487536"/>
              <a:ext cx="0" cy="18096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07" name="Line 55"/>
            <p:cNvSpPr>
              <a:spLocks noChangeShapeType="1"/>
            </p:cNvSpPr>
            <p:nvPr/>
          </p:nvSpPr>
          <p:spPr bwMode="auto">
            <a:xfrm flipH="1">
              <a:off x="2320925" y="2962114"/>
              <a:ext cx="38735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08" name="Arc 56"/>
            <p:cNvSpPr>
              <a:spLocks/>
            </p:cNvSpPr>
            <p:nvPr/>
          </p:nvSpPr>
          <p:spPr bwMode="auto">
            <a:xfrm>
              <a:off x="2292350" y="3662148"/>
              <a:ext cx="95250" cy="95243"/>
            </a:xfrm>
            <a:custGeom>
              <a:avLst/>
              <a:gdLst>
                <a:gd name="G0" fmla="+- 8773 0 0"/>
                <a:gd name="G1" fmla="+- 21600 0 0"/>
                <a:gd name="G2" fmla="+- 21600 0 0"/>
                <a:gd name="T0" fmla="*/ 0 w 17282"/>
                <a:gd name="T1" fmla="*/ 1862 h 21600"/>
                <a:gd name="T2" fmla="*/ 17282 w 17282"/>
                <a:gd name="T3" fmla="*/ 1746 h 21600"/>
                <a:gd name="T4" fmla="*/ 8773 w 17282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82" h="21600" fill="none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</a:path>
                <a:path w="17282" h="21600" stroke="0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  <a:lnTo>
                    <a:pt x="8773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09" name="Line 57"/>
            <p:cNvSpPr>
              <a:spLocks noChangeShapeType="1"/>
            </p:cNvSpPr>
            <p:nvPr/>
          </p:nvSpPr>
          <p:spPr bwMode="auto">
            <a:xfrm>
              <a:off x="2335213" y="2966875"/>
              <a:ext cx="0" cy="70162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10" name="Rectangle 58"/>
            <p:cNvSpPr>
              <a:spLocks noChangeArrowheads="1"/>
            </p:cNvSpPr>
            <p:nvPr/>
          </p:nvSpPr>
          <p:spPr bwMode="auto">
            <a:xfrm>
              <a:off x="1614488" y="2316049"/>
              <a:ext cx="743794" cy="41290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Execute</a:t>
              </a:r>
            </a:p>
            <a:p>
              <a:pPr defTabSz="762000">
                <a:defRPr/>
              </a:pPr>
              <a:endParaRPr lang="en-US" altLang="ko-KR" sz="1050" b="1">
                <a:solidFill>
                  <a:srgbClr val="000000"/>
                </a:solidFill>
                <a:cs typeface="Arial" pitchFamily="34" charset="0"/>
              </a:endParaRPr>
            </a:p>
          </p:txBody>
        </p:sp>
        <p:sp>
          <p:nvSpPr>
            <p:cNvPr id="111" name="Rectangle 59"/>
            <p:cNvSpPr>
              <a:spLocks noChangeArrowheads="1"/>
            </p:cNvSpPr>
            <p:nvPr/>
          </p:nvSpPr>
          <p:spPr bwMode="auto">
            <a:xfrm>
              <a:off x="1506538" y="2458914"/>
              <a:ext cx="1144545" cy="25133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instructions</a:t>
              </a:r>
            </a:p>
          </p:txBody>
        </p:sp>
        <p:sp>
          <p:nvSpPr>
            <p:cNvPr id="112" name="Rectangle 60"/>
            <p:cNvSpPr>
              <a:spLocks noChangeArrowheads="1"/>
            </p:cNvSpPr>
            <p:nvPr/>
          </p:nvSpPr>
          <p:spPr bwMode="auto">
            <a:xfrm>
              <a:off x="1538288" y="2336686"/>
              <a:ext cx="922337" cy="371447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13" name="Arc 61"/>
            <p:cNvSpPr>
              <a:spLocks/>
            </p:cNvSpPr>
            <p:nvPr/>
          </p:nvSpPr>
          <p:spPr bwMode="auto">
            <a:xfrm>
              <a:off x="1993900" y="2233506"/>
              <a:ext cx="96838" cy="96831"/>
            </a:xfrm>
            <a:custGeom>
              <a:avLst/>
              <a:gdLst>
                <a:gd name="G0" fmla="+- 8773 0 0"/>
                <a:gd name="G1" fmla="+- 21600 0 0"/>
                <a:gd name="G2" fmla="+- 21600 0 0"/>
                <a:gd name="T0" fmla="*/ 0 w 17282"/>
                <a:gd name="T1" fmla="*/ 1862 h 21600"/>
                <a:gd name="T2" fmla="*/ 17282 w 17282"/>
                <a:gd name="T3" fmla="*/ 1746 h 21600"/>
                <a:gd name="T4" fmla="*/ 8773 w 17282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82" h="21600" fill="none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</a:path>
                <a:path w="17282" h="21600" stroke="0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  <a:lnTo>
                    <a:pt x="8773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14" name="Line 62"/>
            <p:cNvSpPr>
              <a:spLocks noChangeShapeType="1"/>
            </p:cNvSpPr>
            <p:nvPr/>
          </p:nvSpPr>
          <p:spPr bwMode="auto">
            <a:xfrm>
              <a:off x="2046288" y="2082705"/>
              <a:ext cx="0" cy="16984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15" name="Arc 63"/>
            <p:cNvSpPr>
              <a:spLocks/>
            </p:cNvSpPr>
            <p:nvPr/>
          </p:nvSpPr>
          <p:spPr bwMode="auto">
            <a:xfrm>
              <a:off x="1930400" y="4174872"/>
              <a:ext cx="98425" cy="96830"/>
            </a:xfrm>
            <a:custGeom>
              <a:avLst/>
              <a:gdLst>
                <a:gd name="G0" fmla="+- 8773 0 0"/>
                <a:gd name="G1" fmla="+- 21600 0 0"/>
                <a:gd name="G2" fmla="+- 21600 0 0"/>
                <a:gd name="T0" fmla="*/ 0 w 17282"/>
                <a:gd name="T1" fmla="*/ 1862 h 21600"/>
                <a:gd name="T2" fmla="*/ 17282 w 17282"/>
                <a:gd name="T3" fmla="*/ 1746 h 21600"/>
                <a:gd name="T4" fmla="*/ 8773 w 17282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82" h="21600" fill="none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</a:path>
                <a:path w="17282" h="21600" stroke="0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  <a:lnTo>
                    <a:pt x="8773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16" name="Rectangle 65"/>
            <p:cNvSpPr>
              <a:spLocks noChangeArrowheads="1"/>
            </p:cNvSpPr>
            <p:nvPr/>
          </p:nvSpPr>
          <p:spPr bwMode="auto">
            <a:xfrm>
              <a:off x="2078038" y="3762153"/>
              <a:ext cx="636394" cy="25133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R </a:t>
              </a: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  <a:sym typeface="Symbol" pitchFamily="18" charset="2"/>
                </a:rPr>
                <a:t></a:t>
              </a: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 1</a:t>
              </a:r>
            </a:p>
          </p:txBody>
        </p:sp>
        <p:sp>
          <p:nvSpPr>
            <p:cNvPr id="117" name="Rectangle 66"/>
            <p:cNvSpPr>
              <a:spLocks noChangeArrowheads="1"/>
            </p:cNvSpPr>
            <p:nvPr/>
          </p:nvSpPr>
          <p:spPr bwMode="auto">
            <a:xfrm>
              <a:off x="2130425" y="3771678"/>
              <a:ext cx="627063" cy="211121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18" name="Rectangle 67"/>
            <p:cNvSpPr>
              <a:spLocks noChangeArrowheads="1"/>
            </p:cNvSpPr>
            <p:nvPr/>
          </p:nvSpPr>
          <p:spPr bwMode="auto">
            <a:xfrm>
              <a:off x="2887663" y="2538283"/>
              <a:ext cx="342900" cy="25874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=1</a:t>
              </a:r>
            </a:p>
          </p:txBody>
        </p:sp>
        <p:sp>
          <p:nvSpPr>
            <p:cNvPr id="119" name="Rectangle 68"/>
            <p:cNvSpPr>
              <a:spLocks noChangeArrowheads="1"/>
            </p:cNvSpPr>
            <p:nvPr/>
          </p:nvSpPr>
          <p:spPr bwMode="auto">
            <a:xfrm>
              <a:off x="2393950" y="2774803"/>
              <a:ext cx="342900" cy="25874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=1</a:t>
              </a:r>
            </a:p>
          </p:txBody>
        </p:sp>
        <p:sp>
          <p:nvSpPr>
            <p:cNvPr id="120" name="Rectangle 69"/>
            <p:cNvSpPr>
              <a:spLocks noChangeArrowheads="1"/>
            </p:cNvSpPr>
            <p:nvPr/>
          </p:nvSpPr>
          <p:spPr bwMode="auto">
            <a:xfrm>
              <a:off x="2451100" y="3293876"/>
              <a:ext cx="342900" cy="25874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=1</a:t>
              </a:r>
            </a:p>
          </p:txBody>
        </p:sp>
        <p:sp>
          <p:nvSpPr>
            <p:cNvPr id="121" name="Rectangle 70"/>
            <p:cNvSpPr>
              <a:spLocks noChangeArrowheads="1"/>
            </p:cNvSpPr>
            <p:nvPr/>
          </p:nvSpPr>
          <p:spPr bwMode="auto">
            <a:xfrm>
              <a:off x="3087688" y="2266841"/>
              <a:ext cx="342900" cy="25874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=0</a:t>
              </a:r>
            </a:p>
          </p:txBody>
        </p:sp>
        <p:sp>
          <p:nvSpPr>
            <p:cNvPr id="122" name="Rectangle 71"/>
            <p:cNvSpPr>
              <a:spLocks noChangeArrowheads="1"/>
            </p:cNvSpPr>
            <p:nvPr/>
          </p:nvSpPr>
          <p:spPr bwMode="auto">
            <a:xfrm>
              <a:off x="2887663" y="3058943"/>
              <a:ext cx="342900" cy="25874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=0</a:t>
              </a:r>
            </a:p>
          </p:txBody>
        </p:sp>
        <p:sp>
          <p:nvSpPr>
            <p:cNvPr id="123" name="Rectangle 72"/>
            <p:cNvSpPr>
              <a:spLocks noChangeArrowheads="1"/>
            </p:cNvSpPr>
            <p:nvPr/>
          </p:nvSpPr>
          <p:spPr bwMode="auto">
            <a:xfrm>
              <a:off x="2887663" y="3579604"/>
              <a:ext cx="342900" cy="25874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=0</a:t>
              </a:r>
            </a:p>
          </p:txBody>
        </p:sp>
        <p:sp>
          <p:nvSpPr>
            <p:cNvPr id="124" name="Arc 73"/>
            <p:cNvSpPr>
              <a:spLocks/>
            </p:cNvSpPr>
            <p:nvPr/>
          </p:nvSpPr>
          <p:spPr bwMode="auto">
            <a:xfrm>
              <a:off x="2870200" y="4181222"/>
              <a:ext cx="96838" cy="95243"/>
            </a:xfrm>
            <a:custGeom>
              <a:avLst/>
              <a:gdLst>
                <a:gd name="G0" fmla="+- 8773 0 0"/>
                <a:gd name="G1" fmla="+- 21600 0 0"/>
                <a:gd name="G2" fmla="+- 21600 0 0"/>
                <a:gd name="T0" fmla="*/ 0 w 17282"/>
                <a:gd name="T1" fmla="*/ 1862 h 21600"/>
                <a:gd name="T2" fmla="*/ 17282 w 17282"/>
                <a:gd name="T3" fmla="*/ 1746 h 21600"/>
                <a:gd name="T4" fmla="*/ 8773 w 17282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82" h="21600" fill="none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</a:path>
                <a:path w="17282" h="21600" stroke="0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  <a:lnTo>
                    <a:pt x="8773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25" name="Line 74"/>
            <p:cNvSpPr>
              <a:spLocks noChangeShapeType="1"/>
            </p:cNvSpPr>
            <p:nvPr/>
          </p:nvSpPr>
          <p:spPr bwMode="auto">
            <a:xfrm>
              <a:off x="2916238" y="3655798"/>
              <a:ext cx="0" cy="52542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26" name="Arc 75"/>
            <p:cNvSpPr>
              <a:spLocks/>
            </p:cNvSpPr>
            <p:nvPr/>
          </p:nvSpPr>
          <p:spPr bwMode="auto">
            <a:xfrm>
              <a:off x="2354263" y="4181222"/>
              <a:ext cx="98425" cy="95243"/>
            </a:xfrm>
            <a:custGeom>
              <a:avLst/>
              <a:gdLst>
                <a:gd name="G0" fmla="+- 8773 0 0"/>
                <a:gd name="G1" fmla="+- 21600 0 0"/>
                <a:gd name="G2" fmla="+- 21600 0 0"/>
                <a:gd name="T0" fmla="*/ 0 w 17282"/>
                <a:gd name="T1" fmla="*/ 1862 h 21600"/>
                <a:gd name="T2" fmla="*/ 17282 w 17282"/>
                <a:gd name="T3" fmla="*/ 1746 h 21600"/>
                <a:gd name="T4" fmla="*/ 8773 w 17282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82" h="21600" fill="none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</a:path>
                <a:path w="17282" h="21600" stroke="0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  <a:lnTo>
                    <a:pt x="8773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27" name="Line 76"/>
            <p:cNvSpPr>
              <a:spLocks noChangeShapeType="1"/>
            </p:cNvSpPr>
            <p:nvPr/>
          </p:nvSpPr>
          <p:spPr bwMode="auto">
            <a:xfrm>
              <a:off x="2408238" y="3997086"/>
              <a:ext cx="0" cy="19048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28" name="Arc 77"/>
            <p:cNvSpPr>
              <a:spLocks/>
            </p:cNvSpPr>
            <p:nvPr/>
          </p:nvSpPr>
          <p:spPr bwMode="auto">
            <a:xfrm>
              <a:off x="2354263" y="1530297"/>
              <a:ext cx="98425" cy="96830"/>
            </a:xfrm>
            <a:custGeom>
              <a:avLst/>
              <a:gdLst>
                <a:gd name="G0" fmla="+- 8773 0 0"/>
                <a:gd name="G1" fmla="+- 21600 0 0"/>
                <a:gd name="G2" fmla="+- 21600 0 0"/>
                <a:gd name="T0" fmla="*/ 0 w 17282"/>
                <a:gd name="T1" fmla="*/ 1862 h 21600"/>
                <a:gd name="T2" fmla="*/ 17282 w 17282"/>
                <a:gd name="T3" fmla="*/ 1746 h 21600"/>
                <a:gd name="T4" fmla="*/ 8773 w 17282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82" h="21600" fill="none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</a:path>
                <a:path w="17282" h="21600" stroke="0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  <a:lnTo>
                    <a:pt x="8773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29" name="Line 78"/>
            <p:cNvSpPr>
              <a:spLocks noChangeShapeType="1"/>
            </p:cNvSpPr>
            <p:nvPr/>
          </p:nvSpPr>
          <p:spPr bwMode="auto">
            <a:xfrm>
              <a:off x="2408238" y="1346160"/>
              <a:ext cx="0" cy="19048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30" name="Rectangle 79"/>
            <p:cNvSpPr>
              <a:spLocks noChangeArrowheads="1"/>
            </p:cNvSpPr>
            <p:nvPr/>
          </p:nvSpPr>
          <p:spPr bwMode="auto">
            <a:xfrm>
              <a:off x="4243388" y="1641413"/>
              <a:ext cx="1658937" cy="49685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31" name="Arc 80"/>
            <p:cNvSpPr>
              <a:spLocks/>
            </p:cNvSpPr>
            <p:nvPr/>
          </p:nvSpPr>
          <p:spPr bwMode="auto">
            <a:xfrm>
              <a:off x="5070475" y="1530297"/>
              <a:ext cx="96838" cy="96830"/>
            </a:xfrm>
            <a:custGeom>
              <a:avLst/>
              <a:gdLst>
                <a:gd name="G0" fmla="+- 8773 0 0"/>
                <a:gd name="G1" fmla="+- 21600 0 0"/>
                <a:gd name="G2" fmla="+- 21600 0 0"/>
                <a:gd name="T0" fmla="*/ 0 w 17282"/>
                <a:gd name="T1" fmla="*/ 1862 h 21600"/>
                <a:gd name="T2" fmla="*/ 17282 w 17282"/>
                <a:gd name="T3" fmla="*/ 1746 h 21600"/>
                <a:gd name="T4" fmla="*/ 8773 w 17282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82" h="21600" fill="none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</a:path>
                <a:path w="17282" h="21600" stroke="0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  <a:lnTo>
                    <a:pt x="8773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32" name="Line 81"/>
            <p:cNvSpPr>
              <a:spLocks noChangeShapeType="1"/>
            </p:cNvSpPr>
            <p:nvPr/>
          </p:nvSpPr>
          <p:spPr bwMode="auto">
            <a:xfrm>
              <a:off x="5113338" y="1346160"/>
              <a:ext cx="0" cy="19048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33" name="Rectangle 82"/>
            <p:cNvSpPr>
              <a:spLocks noChangeArrowheads="1"/>
            </p:cNvSpPr>
            <p:nvPr/>
          </p:nvSpPr>
          <p:spPr bwMode="auto">
            <a:xfrm>
              <a:off x="4243388" y="2508123"/>
              <a:ext cx="1658937" cy="374622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34" name="Rectangle 83"/>
            <p:cNvSpPr>
              <a:spLocks noChangeArrowheads="1"/>
            </p:cNvSpPr>
            <p:nvPr/>
          </p:nvSpPr>
          <p:spPr bwMode="auto">
            <a:xfrm>
              <a:off x="4462463" y="3252604"/>
              <a:ext cx="1143000" cy="371447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35" name="Arc 84"/>
            <p:cNvSpPr>
              <a:spLocks/>
            </p:cNvSpPr>
            <p:nvPr/>
          </p:nvSpPr>
          <p:spPr bwMode="auto">
            <a:xfrm>
              <a:off x="5067300" y="2414467"/>
              <a:ext cx="96838" cy="95243"/>
            </a:xfrm>
            <a:custGeom>
              <a:avLst/>
              <a:gdLst>
                <a:gd name="G0" fmla="+- 8773 0 0"/>
                <a:gd name="G1" fmla="+- 21600 0 0"/>
                <a:gd name="G2" fmla="+- 21600 0 0"/>
                <a:gd name="T0" fmla="*/ 0 w 17282"/>
                <a:gd name="T1" fmla="*/ 1862 h 21600"/>
                <a:gd name="T2" fmla="*/ 17282 w 17282"/>
                <a:gd name="T3" fmla="*/ 1746 h 21600"/>
                <a:gd name="T4" fmla="*/ 8773 w 17282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82" h="21600" fill="none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</a:path>
                <a:path w="17282" h="21600" stroke="0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  <a:lnTo>
                    <a:pt x="8773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36" name="Line 85"/>
            <p:cNvSpPr>
              <a:spLocks noChangeShapeType="1"/>
            </p:cNvSpPr>
            <p:nvPr/>
          </p:nvSpPr>
          <p:spPr bwMode="auto">
            <a:xfrm>
              <a:off x="5113338" y="2136676"/>
              <a:ext cx="0" cy="300014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37" name="Arc 86"/>
            <p:cNvSpPr>
              <a:spLocks/>
            </p:cNvSpPr>
            <p:nvPr/>
          </p:nvSpPr>
          <p:spPr bwMode="auto">
            <a:xfrm>
              <a:off x="5067300" y="3152599"/>
              <a:ext cx="96838" cy="95243"/>
            </a:xfrm>
            <a:custGeom>
              <a:avLst/>
              <a:gdLst>
                <a:gd name="G0" fmla="+- 8773 0 0"/>
                <a:gd name="G1" fmla="+- 21600 0 0"/>
                <a:gd name="G2" fmla="+- 21600 0 0"/>
                <a:gd name="T0" fmla="*/ 0 w 17282"/>
                <a:gd name="T1" fmla="*/ 1862 h 21600"/>
                <a:gd name="T2" fmla="*/ 17282 w 17282"/>
                <a:gd name="T3" fmla="*/ 1746 h 21600"/>
                <a:gd name="T4" fmla="*/ 8773 w 17282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82" h="21600" fill="none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</a:path>
                <a:path w="17282" h="21600" stroke="0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  <a:lnTo>
                    <a:pt x="8773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38" name="Line 87"/>
            <p:cNvSpPr>
              <a:spLocks noChangeShapeType="1"/>
            </p:cNvSpPr>
            <p:nvPr/>
          </p:nvSpPr>
          <p:spPr bwMode="auto">
            <a:xfrm>
              <a:off x="5113338" y="2881157"/>
              <a:ext cx="0" cy="28731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39" name="Arc 88"/>
            <p:cNvSpPr>
              <a:spLocks/>
            </p:cNvSpPr>
            <p:nvPr/>
          </p:nvSpPr>
          <p:spPr bwMode="auto">
            <a:xfrm>
              <a:off x="5067300" y="4181222"/>
              <a:ext cx="96838" cy="95243"/>
            </a:xfrm>
            <a:custGeom>
              <a:avLst/>
              <a:gdLst>
                <a:gd name="G0" fmla="+- 8773 0 0"/>
                <a:gd name="G1" fmla="+- 21600 0 0"/>
                <a:gd name="G2" fmla="+- 21600 0 0"/>
                <a:gd name="T0" fmla="*/ 0 w 17282"/>
                <a:gd name="T1" fmla="*/ 1862 h 21600"/>
                <a:gd name="T2" fmla="*/ 17282 w 17282"/>
                <a:gd name="T3" fmla="*/ 1746 h 21600"/>
                <a:gd name="T4" fmla="*/ 8773 w 17282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82" h="21600" fill="none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</a:path>
                <a:path w="17282" h="21600" stroke="0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  <a:lnTo>
                    <a:pt x="8773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40" name="Line 89"/>
            <p:cNvSpPr>
              <a:spLocks noChangeShapeType="1"/>
            </p:cNvSpPr>
            <p:nvPr/>
          </p:nvSpPr>
          <p:spPr bwMode="auto">
            <a:xfrm>
              <a:off x="5113338" y="3616114"/>
              <a:ext cx="0" cy="57145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41" name="Freeform 90"/>
            <p:cNvSpPr>
              <a:spLocks/>
            </p:cNvSpPr>
            <p:nvPr/>
          </p:nvSpPr>
          <p:spPr bwMode="auto">
            <a:xfrm>
              <a:off x="1163638" y="877883"/>
              <a:ext cx="3952875" cy="3412868"/>
            </a:xfrm>
            <a:custGeom>
              <a:avLst/>
              <a:gdLst/>
              <a:ahLst/>
              <a:cxnLst>
                <a:cxn ang="0">
                  <a:pos x="2203" y="2404"/>
                </a:cxn>
                <a:cxn ang="0">
                  <a:pos x="0" y="2404"/>
                </a:cxn>
                <a:cxn ang="0">
                  <a:pos x="0" y="0"/>
                </a:cxn>
              </a:cxnLst>
              <a:rect l="0" t="0" r="r" b="b"/>
              <a:pathLst>
                <a:path w="2204" h="2405">
                  <a:moveTo>
                    <a:pt x="2203" y="2404"/>
                  </a:moveTo>
                  <a:lnTo>
                    <a:pt x="0" y="2404"/>
                  </a:lnTo>
                  <a:lnTo>
                    <a:pt x="0" y="0"/>
                  </a:lnTo>
                </a:path>
              </a:pathLst>
            </a:custGeom>
            <a:noFill/>
            <a:ln w="254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42" name="Line 92"/>
            <p:cNvSpPr>
              <a:spLocks noChangeShapeType="1"/>
            </p:cNvSpPr>
            <p:nvPr/>
          </p:nvSpPr>
          <p:spPr bwMode="auto">
            <a:xfrm flipH="1">
              <a:off x="3656013" y="879471"/>
              <a:ext cx="0" cy="300014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43" name="Line 93"/>
            <p:cNvSpPr>
              <a:spLocks noChangeShapeType="1"/>
            </p:cNvSpPr>
            <p:nvPr/>
          </p:nvSpPr>
          <p:spPr bwMode="auto">
            <a:xfrm flipH="1">
              <a:off x="1149350" y="873121"/>
              <a:ext cx="25114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44" name="Line 94"/>
            <p:cNvSpPr>
              <a:spLocks noChangeShapeType="1"/>
            </p:cNvSpPr>
            <p:nvPr/>
          </p:nvSpPr>
          <p:spPr bwMode="auto">
            <a:xfrm>
              <a:off x="3148013" y="2441453"/>
              <a:ext cx="3143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45" name="Arc 95"/>
            <p:cNvSpPr>
              <a:spLocks/>
            </p:cNvSpPr>
            <p:nvPr/>
          </p:nvSpPr>
          <p:spPr bwMode="auto">
            <a:xfrm>
              <a:off x="3386138" y="4181222"/>
              <a:ext cx="96837" cy="95243"/>
            </a:xfrm>
            <a:custGeom>
              <a:avLst/>
              <a:gdLst>
                <a:gd name="G0" fmla="+- 8773 0 0"/>
                <a:gd name="G1" fmla="+- 21600 0 0"/>
                <a:gd name="G2" fmla="+- 21600 0 0"/>
                <a:gd name="T0" fmla="*/ 0 w 17282"/>
                <a:gd name="T1" fmla="*/ 1862 h 21600"/>
                <a:gd name="T2" fmla="*/ 17282 w 17282"/>
                <a:gd name="T3" fmla="*/ 1746 h 21600"/>
                <a:gd name="T4" fmla="*/ 8773 w 17282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82" h="21600" fill="none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</a:path>
                <a:path w="17282" h="21600" stroke="0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  <a:lnTo>
                    <a:pt x="8773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46" name="Line 96"/>
            <p:cNvSpPr>
              <a:spLocks noChangeShapeType="1"/>
            </p:cNvSpPr>
            <p:nvPr/>
          </p:nvSpPr>
          <p:spPr bwMode="auto">
            <a:xfrm>
              <a:off x="3438525" y="2446215"/>
              <a:ext cx="0" cy="174135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47" name="Line 98"/>
            <p:cNvSpPr>
              <a:spLocks noChangeShapeType="1"/>
            </p:cNvSpPr>
            <p:nvPr/>
          </p:nvSpPr>
          <p:spPr bwMode="auto">
            <a:xfrm>
              <a:off x="1981200" y="2693846"/>
              <a:ext cx="0" cy="154134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</p:grpSp>
      <p:sp>
        <p:nvSpPr>
          <p:cNvPr id="34824" name="Rectangle 4"/>
          <p:cNvSpPr>
            <a:spLocks noChangeArrowheads="1"/>
          </p:cNvSpPr>
          <p:nvPr/>
        </p:nvSpPr>
        <p:spPr bwMode="auto">
          <a:xfrm>
            <a:off x="7764464" y="1968500"/>
            <a:ext cx="2670175" cy="909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 marL="609600" indent="-609600" defTabSz="1524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1524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1524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1524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1524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152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152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152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152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93000"/>
              </a:lnSpc>
            </a:pPr>
            <a:r>
              <a:rPr lang="en-US" altLang="ko-KR" sz="1200" b="1" i="1">
                <a:cs typeface="Arial" panose="020B0604020202020204" pitchFamily="34" charset="0"/>
              </a:rPr>
              <a:t>INPR</a:t>
            </a:r>
            <a:r>
              <a:rPr lang="en-US" altLang="ko-KR" sz="1200" b="1">
                <a:cs typeface="Arial" panose="020B0604020202020204" pitchFamily="34" charset="0"/>
              </a:rPr>
              <a:t>	Input register - 8 bits</a:t>
            </a:r>
          </a:p>
          <a:p>
            <a:pPr algn="just" eaLnBrk="1" hangingPunct="1">
              <a:lnSpc>
                <a:spcPct val="93000"/>
              </a:lnSpc>
            </a:pPr>
            <a:r>
              <a:rPr lang="en-US" altLang="ko-KR" sz="1200" b="1" i="1">
                <a:cs typeface="Arial" panose="020B0604020202020204" pitchFamily="34" charset="0"/>
              </a:rPr>
              <a:t>OUTR</a:t>
            </a:r>
            <a:r>
              <a:rPr lang="en-US" altLang="ko-KR" sz="1200" b="1">
                <a:cs typeface="Arial" panose="020B0604020202020204" pitchFamily="34" charset="0"/>
              </a:rPr>
              <a:t>	Output register - 8 bits</a:t>
            </a:r>
          </a:p>
          <a:p>
            <a:pPr algn="just" eaLnBrk="1" hangingPunct="1">
              <a:lnSpc>
                <a:spcPct val="93000"/>
              </a:lnSpc>
            </a:pPr>
            <a:r>
              <a:rPr lang="en-US" altLang="ko-KR" sz="1200" b="1" i="1">
                <a:cs typeface="Arial" panose="020B0604020202020204" pitchFamily="34" charset="0"/>
              </a:rPr>
              <a:t>FGI</a:t>
            </a:r>
            <a:r>
              <a:rPr lang="en-US" altLang="ko-KR" sz="1200" b="1">
                <a:cs typeface="Arial" panose="020B0604020202020204" pitchFamily="34" charset="0"/>
              </a:rPr>
              <a:t>	Input flag - 1 bit</a:t>
            </a:r>
          </a:p>
          <a:p>
            <a:pPr algn="just" eaLnBrk="1" hangingPunct="1">
              <a:lnSpc>
                <a:spcPct val="93000"/>
              </a:lnSpc>
            </a:pPr>
            <a:r>
              <a:rPr lang="en-US" altLang="ko-KR" sz="1200" b="1" i="1">
                <a:cs typeface="Arial" panose="020B0604020202020204" pitchFamily="34" charset="0"/>
              </a:rPr>
              <a:t>FGO</a:t>
            </a:r>
            <a:r>
              <a:rPr lang="en-US" altLang="ko-KR" sz="1200" b="1">
                <a:cs typeface="Arial" panose="020B0604020202020204" pitchFamily="34" charset="0"/>
              </a:rPr>
              <a:t>	Output flag - 1 bit</a:t>
            </a:r>
          </a:p>
          <a:p>
            <a:pPr algn="just" eaLnBrk="1" hangingPunct="1">
              <a:lnSpc>
                <a:spcPct val="93000"/>
              </a:lnSpc>
            </a:pPr>
            <a:r>
              <a:rPr lang="en-US" altLang="ko-KR" sz="1200" b="1" i="1">
                <a:cs typeface="Arial" panose="020B0604020202020204" pitchFamily="34" charset="0"/>
              </a:rPr>
              <a:t>IEN</a:t>
            </a:r>
            <a:r>
              <a:rPr lang="en-US" altLang="ko-KR" sz="1200" b="1">
                <a:cs typeface="Arial" panose="020B0604020202020204" pitchFamily="34" charset="0"/>
              </a:rPr>
              <a:t>	Interrupt enable - 1 bit</a:t>
            </a:r>
          </a:p>
        </p:txBody>
      </p:sp>
    </p:spTree>
    <p:extLst>
      <p:ext uri="{BB962C8B-B14F-4D97-AF65-F5344CB8AC3E}">
        <p14:creationId xmlns:p14="http://schemas.microsoft.com/office/powerpoint/2010/main" val="379232303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5844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846" name="TextBox 8"/>
          <p:cNvSpPr txBox="1">
            <a:spLocks noChangeArrowheads="1"/>
          </p:cNvSpPr>
          <p:nvPr/>
        </p:nvSpPr>
        <p:spPr bwMode="auto">
          <a:xfrm>
            <a:off x="2057400" y="381000"/>
            <a:ext cx="8077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Register Transfer Operations in Interrupt Cycle </a:t>
            </a:r>
          </a:p>
        </p:txBody>
      </p:sp>
      <p:grpSp>
        <p:nvGrpSpPr>
          <p:cNvPr id="35847" name="Group 59"/>
          <p:cNvGrpSpPr>
            <a:grpSpLocks/>
          </p:cNvGrpSpPr>
          <p:nvPr/>
        </p:nvGrpSpPr>
        <p:grpSpPr bwMode="auto">
          <a:xfrm>
            <a:off x="2638426" y="1143001"/>
            <a:ext cx="6780213" cy="5332413"/>
            <a:chOff x="685800" y="822325"/>
            <a:chExt cx="6780663" cy="5333051"/>
          </a:xfrm>
        </p:grpSpPr>
        <p:sp>
          <p:nvSpPr>
            <p:cNvPr id="35848" name="Rectangle 3"/>
            <p:cNvSpPr>
              <a:spLocks noChangeArrowheads="1"/>
            </p:cNvSpPr>
            <p:nvPr/>
          </p:nvSpPr>
          <p:spPr bwMode="auto">
            <a:xfrm>
              <a:off x="854075" y="3587750"/>
              <a:ext cx="6612388" cy="25676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85000"/>
                </a:lnSpc>
              </a:pPr>
              <a:r>
                <a:rPr lang="en-US" altLang="ko-KR" sz="1600" b="1">
                  <a:cs typeface="Arial" panose="020B0604020202020204" pitchFamily="34" charset="0"/>
                </a:rPr>
                <a:t> Register Transfer Statements for Interrupt Cycle</a:t>
              </a:r>
            </a:p>
            <a:p>
              <a:pPr eaLnBrk="1" hangingPunct="1">
                <a:lnSpc>
                  <a:spcPct val="85000"/>
                </a:lnSpc>
              </a:pPr>
              <a:r>
                <a:rPr lang="en-US" altLang="ko-KR" sz="1600" b="1">
                  <a:cs typeface="Arial" panose="020B0604020202020204" pitchFamily="34" charset="0"/>
                </a:rPr>
                <a:t>	- R  F/F </a:t>
              </a:r>
              <a:r>
                <a:rPr lang="en-US" altLang="ko-KR" sz="16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600" b="1">
                  <a:cs typeface="Arial" panose="020B0604020202020204" pitchFamily="34" charset="0"/>
                </a:rPr>
                <a:t> 1     if IEN (FGI + FGO)T</a:t>
              </a:r>
              <a:r>
                <a:rPr lang="en-US" altLang="ko-KR" sz="1600" b="1" baseline="-25000">
                  <a:cs typeface="Arial" panose="020B0604020202020204" pitchFamily="34" charset="0"/>
                </a:rPr>
                <a:t>0</a:t>
              </a:r>
              <a:r>
                <a:rPr lang="en-US" altLang="ko-KR" sz="1600" b="1">
                  <a:cs typeface="Arial" panose="020B0604020202020204" pitchFamily="34" charset="0"/>
                  <a:sym typeface="Symbol" panose="05050102010706020507" pitchFamily="18" charset="2"/>
                </a:rPr>
                <a:t></a:t>
              </a:r>
              <a:r>
                <a:rPr lang="en-US" altLang="ko-KR" sz="1600" b="1">
                  <a:cs typeface="Arial" panose="020B0604020202020204" pitchFamily="34" charset="0"/>
                </a:rPr>
                <a:t>T</a:t>
              </a:r>
              <a:r>
                <a:rPr lang="en-US" altLang="ko-KR" sz="1600" b="1" baseline="-25000">
                  <a:cs typeface="Arial" panose="020B0604020202020204" pitchFamily="34" charset="0"/>
                </a:rPr>
                <a:t>1</a:t>
              </a:r>
              <a:r>
                <a:rPr lang="en-US" altLang="ko-KR" sz="1600" b="1">
                  <a:cs typeface="Arial" panose="020B0604020202020204" pitchFamily="34" charset="0"/>
                  <a:sym typeface="Symbol" panose="05050102010706020507" pitchFamily="18" charset="2"/>
                </a:rPr>
                <a:t></a:t>
              </a:r>
              <a:r>
                <a:rPr lang="en-US" altLang="ko-KR" sz="1600" b="1">
                  <a:cs typeface="Arial" panose="020B0604020202020204" pitchFamily="34" charset="0"/>
                </a:rPr>
                <a:t>T</a:t>
              </a:r>
              <a:r>
                <a:rPr lang="en-US" altLang="ko-KR" sz="1600" b="1" baseline="-25000">
                  <a:cs typeface="Arial" panose="020B0604020202020204" pitchFamily="34" charset="0"/>
                </a:rPr>
                <a:t>2</a:t>
              </a:r>
              <a:r>
                <a:rPr lang="en-US" altLang="ko-KR" sz="1600" b="1">
                  <a:cs typeface="Arial" panose="020B0604020202020204" pitchFamily="34" charset="0"/>
                  <a:sym typeface="Symbol" panose="05050102010706020507" pitchFamily="18" charset="2"/>
                </a:rPr>
                <a:t></a:t>
              </a:r>
              <a:endParaRPr lang="en-US" altLang="ko-KR" sz="1600" b="1">
                <a:cs typeface="Arial" panose="020B0604020202020204" pitchFamily="34" charset="0"/>
              </a:endParaRPr>
            </a:p>
            <a:p>
              <a:pPr eaLnBrk="1" hangingPunct="1">
                <a:lnSpc>
                  <a:spcPct val="96000"/>
                </a:lnSpc>
              </a:pPr>
              <a:r>
                <a:rPr lang="en-US" altLang="ko-KR" sz="1600" b="1">
                  <a:cs typeface="Arial" panose="020B0604020202020204" pitchFamily="34" charset="0"/>
                </a:rPr>
                <a:t>	  		</a:t>
              </a:r>
              <a:r>
                <a:rPr lang="en-US" altLang="ko-KR" sz="1600" b="1">
                  <a:cs typeface="Arial" panose="020B0604020202020204" pitchFamily="34" charset="0"/>
                  <a:sym typeface="Symbol" panose="05050102010706020507" pitchFamily="18" charset="2"/>
                </a:rPr>
                <a:t></a:t>
              </a:r>
              <a:r>
                <a:rPr lang="en-US" altLang="ko-KR" sz="1600" b="1">
                  <a:cs typeface="Arial" panose="020B0604020202020204" pitchFamily="34" charset="0"/>
                </a:rPr>
                <a:t> T</a:t>
              </a:r>
              <a:r>
                <a:rPr lang="en-US" altLang="ko-KR" sz="1600" b="1" baseline="-25000">
                  <a:cs typeface="Arial" panose="020B0604020202020204" pitchFamily="34" charset="0"/>
                </a:rPr>
                <a:t>0</a:t>
              </a:r>
              <a:r>
                <a:rPr lang="en-US" altLang="ko-KR" sz="1600" b="1">
                  <a:cs typeface="Arial" panose="020B0604020202020204" pitchFamily="34" charset="0"/>
                  <a:sym typeface="Symbol" panose="05050102010706020507" pitchFamily="18" charset="2"/>
                </a:rPr>
                <a:t></a:t>
              </a:r>
              <a:r>
                <a:rPr lang="en-US" altLang="ko-KR" sz="1600" b="1">
                  <a:cs typeface="Arial" panose="020B0604020202020204" pitchFamily="34" charset="0"/>
                </a:rPr>
                <a:t>T</a:t>
              </a:r>
              <a:r>
                <a:rPr lang="en-US" altLang="ko-KR" sz="1600" b="1" baseline="-25000">
                  <a:cs typeface="Arial" panose="020B0604020202020204" pitchFamily="34" charset="0"/>
                </a:rPr>
                <a:t>1</a:t>
              </a:r>
              <a:r>
                <a:rPr lang="en-US" altLang="ko-KR" sz="1600" b="1">
                  <a:cs typeface="Arial" panose="020B0604020202020204" pitchFamily="34" charset="0"/>
                  <a:sym typeface="Symbol" panose="05050102010706020507" pitchFamily="18" charset="2"/>
                </a:rPr>
                <a:t></a:t>
              </a:r>
              <a:r>
                <a:rPr lang="en-US" altLang="ko-KR" sz="1600" b="1">
                  <a:cs typeface="Arial" panose="020B0604020202020204" pitchFamily="34" charset="0"/>
                </a:rPr>
                <a:t>T</a:t>
              </a:r>
              <a:r>
                <a:rPr lang="en-US" altLang="ko-KR" sz="1600" b="1" baseline="-25000">
                  <a:cs typeface="Arial" panose="020B0604020202020204" pitchFamily="34" charset="0"/>
                </a:rPr>
                <a:t>2</a:t>
              </a:r>
              <a:r>
                <a:rPr lang="en-US" altLang="ko-KR" sz="1600" b="1">
                  <a:cs typeface="Arial" panose="020B0604020202020204" pitchFamily="34" charset="0"/>
                  <a:sym typeface="Symbol" panose="05050102010706020507" pitchFamily="18" charset="2"/>
                </a:rPr>
                <a:t></a:t>
              </a:r>
              <a:r>
                <a:rPr lang="en-US" altLang="ko-KR" sz="1600" b="1">
                  <a:cs typeface="Arial" panose="020B0604020202020204" pitchFamily="34" charset="0"/>
                </a:rPr>
                <a:t> (IEN)(FGI + FGO):   R </a:t>
              </a:r>
              <a:r>
                <a:rPr lang="en-US" altLang="ko-KR" sz="16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600" b="1">
                  <a:cs typeface="Arial" panose="020B0604020202020204" pitchFamily="34" charset="0"/>
                </a:rPr>
                <a:t> 1</a:t>
              </a:r>
            </a:p>
            <a:p>
              <a:pPr eaLnBrk="1" hangingPunct="1">
                <a:lnSpc>
                  <a:spcPct val="96000"/>
                </a:lnSpc>
              </a:pPr>
              <a:endParaRPr lang="en-US" altLang="ko-KR" sz="1600" b="1">
                <a:cs typeface="Arial" panose="020B0604020202020204" pitchFamily="34" charset="0"/>
              </a:endParaRPr>
            </a:p>
            <a:p>
              <a:pPr eaLnBrk="1" hangingPunct="1"/>
              <a:r>
                <a:rPr lang="en-US" altLang="ko-KR" sz="1600" b="1">
                  <a:cs typeface="Arial" panose="020B0604020202020204" pitchFamily="34" charset="0"/>
                </a:rPr>
                <a:t>- The fetch and decode phases of the instruction cycle</a:t>
              </a:r>
            </a:p>
            <a:p>
              <a:pPr eaLnBrk="1" hangingPunct="1"/>
              <a:r>
                <a:rPr lang="en-US" altLang="ko-KR" sz="1600" b="1">
                  <a:cs typeface="Arial" panose="020B0604020202020204" pitchFamily="34" charset="0"/>
                </a:rPr>
                <a:t>   	must be modified </a:t>
              </a:r>
              <a:r>
                <a:rPr lang="en-US" altLang="ko-KR" sz="1600" b="1">
                  <a:cs typeface="Arial" panose="020B0604020202020204" pitchFamily="34" charset="0"/>
                  <a:sym typeface="Wingdings" panose="05000000000000000000" pitchFamily="2" charset="2"/>
                </a:rPr>
                <a:t></a:t>
              </a:r>
              <a:r>
                <a:rPr lang="en-US" altLang="ko-KR" sz="1600" b="1">
                  <a:cs typeface="Arial" panose="020B0604020202020204" pitchFamily="34" charset="0"/>
                </a:rPr>
                <a:t>Replace T</a:t>
              </a:r>
              <a:r>
                <a:rPr lang="en-US" altLang="ko-KR" sz="1600" b="1" baseline="-25000">
                  <a:cs typeface="Arial" panose="020B0604020202020204" pitchFamily="34" charset="0"/>
                </a:rPr>
                <a:t>0</a:t>
              </a:r>
              <a:r>
                <a:rPr lang="en-US" altLang="ko-KR" sz="1600" b="1">
                  <a:cs typeface="Arial" panose="020B0604020202020204" pitchFamily="34" charset="0"/>
                </a:rPr>
                <a:t>, T</a:t>
              </a:r>
              <a:r>
                <a:rPr lang="en-US" altLang="ko-KR" sz="1600" b="1" baseline="-25000">
                  <a:cs typeface="Arial" panose="020B0604020202020204" pitchFamily="34" charset="0"/>
                </a:rPr>
                <a:t>1</a:t>
              </a:r>
              <a:r>
                <a:rPr lang="en-US" altLang="ko-KR" sz="1600" b="1">
                  <a:cs typeface="Arial" panose="020B0604020202020204" pitchFamily="34" charset="0"/>
                </a:rPr>
                <a:t>, T</a:t>
              </a:r>
              <a:r>
                <a:rPr lang="en-US" altLang="ko-KR" sz="1600" b="1" baseline="-25000">
                  <a:cs typeface="Arial" panose="020B0604020202020204" pitchFamily="34" charset="0"/>
                </a:rPr>
                <a:t>2</a:t>
              </a:r>
              <a:r>
                <a:rPr lang="en-US" altLang="ko-KR" sz="1600" b="1">
                  <a:cs typeface="Arial" panose="020B0604020202020204" pitchFamily="34" charset="0"/>
                </a:rPr>
                <a:t>  with  R'T</a:t>
              </a:r>
              <a:r>
                <a:rPr lang="en-US" altLang="ko-KR" sz="1600" b="1" baseline="-25000">
                  <a:cs typeface="Arial" panose="020B0604020202020204" pitchFamily="34" charset="0"/>
                </a:rPr>
                <a:t>0</a:t>
              </a:r>
              <a:r>
                <a:rPr lang="en-US" altLang="ko-KR" sz="1600" b="1">
                  <a:cs typeface="Arial" panose="020B0604020202020204" pitchFamily="34" charset="0"/>
                </a:rPr>
                <a:t>, R'T</a:t>
              </a:r>
              <a:r>
                <a:rPr lang="en-US" altLang="ko-KR" sz="1600" b="1" baseline="-25000">
                  <a:cs typeface="Arial" panose="020B0604020202020204" pitchFamily="34" charset="0"/>
                </a:rPr>
                <a:t>1</a:t>
              </a:r>
              <a:r>
                <a:rPr lang="en-US" altLang="ko-KR" sz="1600" b="1">
                  <a:cs typeface="Arial" panose="020B0604020202020204" pitchFamily="34" charset="0"/>
                </a:rPr>
                <a:t>, R'T</a:t>
              </a:r>
              <a:r>
                <a:rPr lang="en-US" altLang="ko-KR" sz="1600" b="1" baseline="-25000">
                  <a:cs typeface="Arial" panose="020B0604020202020204" pitchFamily="34" charset="0"/>
                </a:rPr>
                <a:t>2</a:t>
              </a:r>
            </a:p>
            <a:p>
              <a:pPr eaLnBrk="1" hangingPunct="1"/>
              <a:r>
                <a:rPr lang="en-US" altLang="ko-KR" sz="1600" b="1">
                  <a:cs typeface="Arial" panose="020B0604020202020204" pitchFamily="34" charset="0"/>
                </a:rPr>
                <a:t>- The interrupt cycle :</a:t>
              </a:r>
            </a:p>
            <a:p>
              <a:pPr eaLnBrk="1" hangingPunct="1">
                <a:spcBef>
                  <a:spcPct val="20000"/>
                </a:spcBef>
              </a:pPr>
              <a:r>
                <a:rPr lang="en-US" altLang="ko-KR" sz="1600" b="1">
                  <a:cs typeface="Arial" panose="020B0604020202020204" pitchFamily="34" charset="0"/>
                </a:rPr>
                <a:t>	RT</a:t>
              </a:r>
              <a:r>
                <a:rPr lang="en-US" altLang="ko-KR" sz="1600" b="1" baseline="-25000">
                  <a:cs typeface="Arial" panose="020B0604020202020204" pitchFamily="34" charset="0"/>
                </a:rPr>
                <a:t>0</a:t>
              </a:r>
              <a:r>
                <a:rPr lang="en-US" altLang="ko-KR" sz="1600" b="1">
                  <a:cs typeface="Arial" panose="020B0604020202020204" pitchFamily="34" charset="0"/>
                </a:rPr>
                <a:t>:	AR </a:t>
              </a:r>
              <a:r>
                <a:rPr lang="en-US" altLang="ko-KR" sz="16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600" b="1">
                  <a:cs typeface="Arial" panose="020B0604020202020204" pitchFamily="34" charset="0"/>
                </a:rPr>
                <a:t> 0,  TR </a:t>
              </a:r>
              <a:r>
                <a:rPr lang="en-US" altLang="ko-KR" sz="16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600" b="1">
                  <a:cs typeface="Arial" panose="020B0604020202020204" pitchFamily="34" charset="0"/>
                </a:rPr>
                <a:t> PC</a:t>
              </a:r>
            </a:p>
            <a:p>
              <a:pPr eaLnBrk="1" hangingPunct="1">
                <a:spcBef>
                  <a:spcPct val="20000"/>
                </a:spcBef>
              </a:pPr>
              <a:r>
                <a:rPr lang="en-US" altLang="ko-KR" sz="1600" b="1">
                  <a:cs typeface="Arial" panose="020B0604020202020204" pitchFamily="34" charset="0"/>
                </a:rPr>
                <a:t>	RT</a:t>
              </a:r>
              <a:r>
                <a:rPr lang="en-US" altLang="ko-KR" sz="1600" b="1" baseline="-25000">
                  <a:cs typeface="Arial" panose="020B0604020202020204" pitchFamily="34" charset="0"/>
                </a:rPr>
                <a:t>1</a:t>
              </a:r>
              <a:r>
                <a:rPr lang="en-US" altLang="ko-KR" sz="1600" b="1">
                  <a:cs typeface="Arial" panose="020B0604020202020204" pitchFamily="34" charset="0"/>
                </a:rPr>
                <a:t>:	M[AR] </a:t>
              </a:r>
              <a:r>
                <a:rPr lang="en-US" altLang="ko-KR" sz="16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600" b="1">
                  <a:cs typeface="Arial" panose="020B0604020202020204" pitchFamily="34" charset="0"/>
                </a:rPr>
                <a:t> TR,  PC </a:t>
              </a:r>
              <a:r>
                <a:rPr lang="en-US" altLang="ko-KR" sz="16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600" b="1">
                  <a:cs typeface="Arial" panose="020B0604020202020204" pitchFamily="34" charset="0"/>
                </a:rPr>
                <a:t> 0</a:t>
              </a:r>
            </a:p>
            <a:p>
              <a:pPr eaLnBrk="1" hangingPunct="1">
                <a:spcBef>
                  <a:spcPct val="20000"/>
                </a:spcBef>
              </a:pPr>
              <a:r>
                <a:rPr lang="en-US" altLang="ko-KR" sz="1600" b="1">
                  <a:cs typeface="Arial" panose="020B0604020202020204" pitchFamily="34" charset="0"/>
                </a:rPr>
                <a:t>	RT</a:t>
              </a:r>
              <a:r>
                <a:rPr lang="en-US" altLang="ko-KR" sz="1600" b="1" baseline="-25000">
                  <a:cs typeface="Arial" panose="020B0604020202020204" pitchFamily="34" charset="0"/>
                </a:rPr>
                <a:t>2</a:t>
              </a:r>
              <a:r>
                <a:rPr lang="en-US" altLang="ko-KR" sz="1600" b="1">
                  <a:cs typeface="Arial" panose="020B0604020202020204" pitchFamily="34" charset="0"/>
                </a:rPr>
                <a:t>:	PC </a:t>
              </a:r>
              <a:r>
                <a:rPr lang="en-US" altLang="ko-KR" sz="16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600" b="1">
                  <a:cs typeface="Arial" panose="020B0604020202020204" pitchFamily="34" charset="0"/>
                </a:rPr>
                <a:t> PC + 1,  IEN </a:t>
              </a:r>
              <a:r>
                <a:rPr lang="en-US" altLang="ko-KR" sz="16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600" b="1">
                  <a:cs typeface="Arial" panose="020B0604020202020204" pitchFamily="34" charset="0"/>
                </a:rPr>
                <a:t> 0,  R </a:t>
              </a:r>
              <a:r>
                <a:rPr lang="en-US" altLang="ko-KR" sz="16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600" b="1">
                  <a:cs typeface="Arial" panose="020B0604020202020204" pitchFamily="34" charset="0"/>
                </a:rPr>
                <a:t> 0, SC </a:t>
              </a:r>
              <a:r>
                <a:rPr lang="en-US" altLang="ko-KR" sz="16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600" b="1">
                  <a:cs typeface="Arial" panose="020B0604020202020204" pitchFamily="34" charset="0"/>
                </a:rPr>
                <a:t> 0</a:t>
              </a:r>
            </a:p>
          </p:txBody>
        </p:sp>
        <p:sp>
          <p:nvSpPr>
            <p:cNvPr id="13" name="Rectangle 4"/>
            <p:cNvSpPr>
              <a:spLocks noChangeArrowheads="1"/>
            </p:cNvSpPr>
            <p:nvPr/>
          </p:nvSpPr>
          <p:spPr bwMode="auto">
            <a:xfrm>
              <a:off x="685800" y="3956425"/>
              <a:ext cx="208404" cy="18866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 defTabSz="762000">
                <a:lnSpc>
                  <a:spcPct val="85000"/>
                </a:lnSpc>
                <a:defRPr/>
              </a:pPr>
              <a:r>
                <a:rPr lang="en-US" altLang="ko-KR" sz="1050" b="1">
                  <a:cs typeface="Arial" pitchFamily="34" charset="0"/>
                </a:rPr>
                <a:t> </a:t>
              </a:r>
            </a:p>
          </p:txBody>
        </p:sp>
        <p:sp>
          <p:nvSpPr>
            <p:cNvPr id="14" name="Rectangle 5"/>
            <p:cNvSpPr>
              <a:spLocks noChangeArrowheads="1"/>
            </p:cNvSpPr>
            <p:nvPr/>
          </p:nvSpPr>
          <p:spPr bwMode="auto">
            <a:xfrm>
              <a:off x="2778264" y="4145361"/>
              <a:ext cx="288560" cy="20642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 defTabSz="762000">
                <a:lnSpc>
                  <a:spcPct val="96000"/>
                </a:lnSpc>
                <a:defRPr/>
              </a:pPr>
              <a:r>
                <a:rPr lang="en-US" altLang="ko-KR" sz="1050" b="1">
                  <a:cs typeface="Arial" pitchFamily="34" charset="0"/>
                </a:rPr>
                <a:t>  </a:t>
              </a:r>
            </a:p>
          </p:txBody>
        </p:sp>
        <p:sp>
          <p:nvSpPr>
            <p:cNvPr id="15" name="Rectangle 46"/>
            <p:cNvSpPr>
              <a:spLocks noChangeArrowheads="1"/>
            </p:cNvSpPr>
            <p:nvPr/>
          </p:nvSpPr>
          <p:spPr bwMode="auto">
            <a:xfrm>
              <a:off x="4434137" y="1089057"/>
              <a:ext cx="1946176" cy="25138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 After interrupt cycle</a:t>
              </a:r>
            </a:p>
          </p:txBody>
        </p:sp>
        <p:sp>
          <p:nvSpPr>
            <p:cNvPr id="17" name="Line 45"/>
            <p:cNvSpPr>
              <a:spLocks noChangeShapeType="1"/>
            </p:cNvSpPr>
            <p:nvPr/>
          </p:nvSpPr>
          <p:spPr bwMode="auto">
            <a:xfrm>
              <a:off x="4543681" y="3116537"/>
              <a:ext cx="1419319" cy="0"/>
            </a:xfrm>
            <a:prstGeom prst="line">
              <a:avLst/>
            </a:prstGeom>
            <a:noFill/>
            <a:ln w="25400">
              <a:pattFill prst="ltUpDiag">
                <a:fgClr>
                  <a:srgbClr val="000000"/>
                </a:fgClr>
                <a:bgClr>
                  <a:srgbClr val="FFFFFF"/>
                </a:bgClr>
              </a:patt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8" name="Line 24"/>
            <p:cNvSpPr>
              <a:spLocks noChangeShapeType="1"/>
            </p:cNvSpPr>
            <p:nvPr/>
          </p:nvSpPr>
          <p:spPr bwMode="auto">
            <a:xfrm>
              <a:off x="1924132" y="3116537"/>
              <a:ext cx="1419319" cy="0"/>
            </a:xfrm>
            <a:prstGeom prst="line">
              <a:avLst/>
            </a:prstGeom>
            <a:noFill/>
            <a:ln w="25400">
              <a:pattFill prst="ltUpDiag">
                <a:fgClr>
                  <a:srgbClr val="000000"/>
                </a:fgClr>
                <a:bgClr>
                  <a:srgbClr val="FFFFFF"/>
                </a:bgClr>
              </a:patt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9" name="Rectangle 10"/>
            <p:cNvSpPr>
              <a:spLocks noChangeArrowheads="1"/>
            </p:cNvSpPr>
            <p:nvPr/>
          </p:nvSpPr>
          <p:spPr bwMode="auto">
            <a:xfrm>
              <a:off x="1924132" y="1370079"/>
              <a:ext cx="1428845" cy="1940157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20" name="Rectangle 11"/>
            <p:cNvSpPr>
              <a:spLocks noChangeArrowheads="1"/>
            </p:cNvSpPr>
            <p:nvPr/>
          </p:nvSpPr>
          <p:spPr bwMode="auto">
            <a:xfrm>
              <a:off x="1897143" y="1536785"/>
              <a:ext cx="262910" cy="25138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0</a:t>
              </a:r>
            </a:p>
          </p:txBody>
        </p:sp>
        <p:sp>
          <p:nvSpPr>
            <p:cNvPr id="21" name="Rectangle 12"/>
            <p:cNvSpPr>
              <a:spLocks noChangeArrowheads="1"/>
            </p:cNvSpPr>
            <p:nvPr/>
          </p:nvSpPr>
          <p:spPr bwMode="auto">
            <a:xfrm>
              <a:off x="2176562" y="1536785"/>
              <a:ext cx="423222" cy="25138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BUN</a:t>
              </a:r>
            </a:p>
          </p:txBody>
        </p:sp>
        <p:sp>
          <p:nvSpPr>
            <p:cNvPr id="22" name="Rectangle 13"/>
            <p:cNvSpPr>
              <a:spLocks noChangeArrowheads="1"/>
            </p:cNvSpPr>
            <p:nvPr/>
          </p:nvSpPr>
          <p:spPr bwMode="auto">
            <a:xfrm>
              <a:off x="2784614" y="1536785"/>
              <a:ext cx="503377" cy="25138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1120</a:t>
              </a:r>
            </a:p>
          </p:txBody>
        </p:sp>
        <p:sp>
          <p:nvSpPr>
            <p:cNvPr id="23" name="Line 14"/>
            <p:cNvSpPr>
              <a:spLocks noChangeShapeType="1"/>
            </p:cNvSpPr>
            <p:nvPr/>
          </p:nvSpPr>
          <p:spPr bwMode="auto">
            <a:xfrm>
              <a:off x="1924132" y="1546312"/>
              <a:ext cx="1419319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24" name="Line 15"/>
            <p:cNvSpPr>
              <a:spLocks noChangeShapeType="1"/>
            </p:cNvSpPr>
            <p:nvPr/>
          </p:nvSpPr>
          <p:spPr bwMode="auto">
            <a:xfrm>
              <a:off x="1924132" y="1728896"/>
              <a:ext cx="1419319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25" name="Rectangle 16"/>
            <p:cNvSpPr>
              <a:spLocks noChangeArrowheads="1"/>
            </p:cNvSpPr>
            <p:nvPr/>
          </p:nvSpPr>
          <p:spPr bwMode="auto">
            <a:xfrm>
              <a:off x="1632013" y="1355789"/>
              <a:ext cx="262910" cy="25138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0</a:t>
              </a:r>
            </a:p>
          </p:txBody>
        </p:sp>
        <p:sp>
          <p:nvSpPr>
            <p:cNvPr id="26" name="Rectangle 17"/>
            <p:cNvSpPr>
              <a:spLocks noChangeArrowheads="1"/>
            </p:cNvSpPr>
            <p:nvPr/>
          </p:nvSpPr>
          <p:spPr bwMode="auto">
            <a:xfrm>
              <a:off x="1619312" y="1536785"/>
              <a:ext cx="262910" cy="25138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1</a:t>
              </a:r>
            </a:p>
          </p:txBody>
        </p:sp>
        <p:sp>
          <p:nvSpPr>
            <p:cNvPr id="27" name="Line 18"/>
            <p:cNvSpPr>
              <a:spLocks noChangeShapeType="1"/>
            </p:cNvSpPr>
            <p:nvPr/>
          </p:nvSpPr>
          <p:spPr bwMode="auto">
            <a:xfrm>
              <a:off x="1924132" y="2389375"/>
              <a:ext cx="1419319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28" name="Rectangle 19"/>
            <p:cNvSpPr>
              <a:spLocks noChangeArrowheads="1"/>
            </p:cNvSpPr>
            <p:nvPr/>
          </p:nvSpPr>
          <p:spPr bwMode="auto">
            <a:xfrm>
              <a:off x="1133505" y="2152809"/>
              <a:ext cx="824000" cy="25138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PC = 256</a:t>
              </a:r>
            </a:p>
          </p:txBody>
        </p:sp>
        <p:sp>
          <p:nvSpPr>
            <p:cNvPr id="29" name="Rectangle 20"/>
            <p:cNvSpPr>
              <a:spLocks noChangeArrowheads="1"/>
            </p:cNvSpPr>
            <p:nvPr/>
          </p:nvSpPr>
          <p:spPr bwMode="auto">
            <a:xfrm>
              <a:off x="1527231" y="2006742"/>
              <a:ext cx="423222" cy="25138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255</a:t>
              </a:r>
            </a:p>
          </p:txBody>
        </p:sp>
        <p:sp>
          <p:nvSpPr>
            <p:cNvPr id="30" name="Rectangle 21"/>
            <p:cNvSpPr>
              <a:spLocks noChangeArrowheads="1"/>
            </p:cNvSpPr>
            <p:nvPr/>
          </p:nvSpPr>
          <p:spPr bwMode="auto">
            <a:xfrm>
              <a:off x="1897143" y="3108599"/>
              <a:ext cx="262910" cy="25138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1</a:t>
              </a:r>
            </a:p>
          </p:txBody>
        </p:sp>
        <p:sp>
          <p:nvSpPr>
            <p:cNvPr id="31" name="Rectangle 22"/>
            <p:cNvSpPr>
              <a:spLocks noChangeArrowheads="1"/>
            </p:cNvSpPr>
            <p:nvPr/>
          </p:nvSpPr>
          <p:spPr bwMode="auto">
            <a:xfrm>
              <a:off x="2176562" y="3108599"/>
              <a:ext cx="423222" cy="25138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BUN</a:t>
              </a:r>
            </a:p>
          </p:txBody>
        </p:sp>
        <p:sp>
          <p:nvSpPr>
            <p:cNvPr id="32" name="Rectangle 23"/>
            <p:cNvSpPr>
              <a:spLocks noChangeArrowheads="1"/>
            </p:cNvSpPr>
            <p:nvPr/>
          </p:nvSpPr>
          <p:spPr bwMode="auto">
            <a:xfrm>
              <a:off x="3041806" y="3108599"/>
              <a:ext cx="262910" cy="25138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0</a:t>
              </a:r>
            </a:p>
          </p:txBody>
        </p:sp>
        <p:sp>
          <p:nvSpPr>
            <p:cNvPr id="33" name="Rectangle 25"/>
            <p:cNvSpPr>
              <a:spLocks noChangeArrowheads="1"/>
            </p:cNvSpPr>
            <p:nvPr/>
          </p:nvSpPr>
          <p:spPr bwMode="auto">
            <a:xfrm>
              <a:off x="1947947" y="1057303"/>
              <a:ext cx="1545399" cy="25138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 Before interrupt</a:t>
              </a:r>
            </a:p>
          </p:txBody>
        </p:sp>
        <p:sp>
          <p:nvSpPr>
            <p:cNvPr id="34" name="Rectangle 26"/>
            <p:cNvSpPr>
              <a:spLocks noChangeArrowheads="1"/>
            </p:cNvSpPr>
            <p:nvPr/>
          </p:nvSpPr>
          <p:spPr bwMode="auto">
            <a:xfrm>
              <a:off x="2395651" y="1879726"/>
              <a:ext cx="503377" cy="41298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 dirty="0">
                  <a:solidFill>
                    <a:srgbClr val="000000"/>
                  </a:solidFill>
                  <a:cs typeface="Arial" pitchFamily="34" charset="0"/>
                </a:rPr>
                <a:t>Main</a:t>
              </a:r>
            </a:p>
            <a:p>
              <a:pPr defTabSz="762000" latinLnBrk="1">
                <a:defRPr/>
              </a:pPr>
              <a:endParaRPr lang="en-US" altLang="ko-KR" sz="1050" b="1" dirty="0">
                <a:solidFill>
                  <a:srgbClr val="000000"/>
                </a:solidFill>
                <a:cs typeface="Arial" pitchFamily="34" charset="0"/>
              </a:endParaRPr>
            </a:p>
          </p:txBody>
        </p:sp>
        <p:sp>
          <p:nvSpPr>
            <p:cNvPr id="35" name="Rectangle 27"/>
            <p:cNvSpPr>
              <a:spLocks noChangeArrowheads="1"/>
            </p:cNvSpPr>
            <p:nvPr/>
          </p:nvSpPr>
          <p:spPr bwMode="auto">
            <a:xfrm>
              <a:off x="2274993" y="2028969"/>
              <a:ext cx="743843" cy="25138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Program</a:t>
              </a:r>
            </a:p>
          </p:txBody>
        </p:sp>
        <p:sp>
          <p:nvSpPr>
            <p:cNvPr id="36" name="Rectangle 28"/>
            <p:cNvSpPr>
              <a:spLocks noChangeArrowheads="1"/>
            </p:cNvSpPr>
            <p:nvPr/>
          </p:nvSpPr>
          <p:spPr bwMode="auto">
            <a:xfrm>
              <a:off x="1412923" y="2360797"/>
              <a:ext cx="503377" cy="25138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1120</a:t>
              </a:r>
            </a:p>
          </p:txBody>
        </p:sp>
        <p:sp>
          <p:nvSpPr>
            <p:cNvPr id="37" name="Rectangle 29"/>
            <p:cNvSpPr>
              <a:spLocks noChangeArrowheads="1"/>
            </p:cNvSpPr>
            <p:nvPr/>
          </p:nvSpPr>
          <p:spPr bwMode="auto">
            <a:xfrm>
              <a:off x="2529010" y="2541794"/>
              <a:ext cx="423222" cy="41298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I/O</a:t>
              </a:r>
            </a:p>
            <a:p>
              <a:pPr defTabSz="762000" latinLnBrk="1">
                <a:defRPr/>
              </a:pPr>
              <a:endParaRPr lang="en-US" altLang="ko-KR" sz="1050" b="1">
                <a:solidFill>
                  <a:srgbClr val="000000"/>
                </a:solidFill>
                <a:cs typeface="Arial" pitchFamily="34" charset="0"/>
              </a:endParaRPr>
            </a:p>
          </p:txBody>
        </p:sp>
        <p:sp>
          <p:nvSpPr>
            <p:cNvPr id="38" name="Rectangle 30"/>
            <p:cNvSpPr>
              <a:spLocks noChangeArrowheads="1"/>
            </p:cNvSpPr>
            <p:nvPr/>
          </p:nvSpPr>
          <p:spPr bwMode="auto">
            <a:xfrm>
              <a:off x="2335322" y="2692624"/>
              <a:ext cx="743843" cy="25138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Program</a:t>
              </a:r>
            </a:p>
          </p:txBody>
        </p:sp>
        <p:sp>
          <p:nvSpPr>
            <p:cNvPr id="39" name="Rectangle 31"/>
            <p:cNvSpPr>
              <a:spLocks noChangeArrowheads="1"/>
            </p:cNvSpPr>
            <p:nvPr/>
          </p:nvSpPr>
          <p:spPr bwMode="auto">
            <a:xfrm>
              <a:off x="4543681" y="1370079"/>
              <a:ext cx="1428845" cy="1949683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40" name="Rectangle 32"/>
            <p:cNvSpPr>
              <a:spLocks noChangeArrowheads="1"/>
            </p:cNvSpPr>
            <p:nvPr/>
          </p:nvSpPr>
          <p:spPr bwMode="auto">
            <a:xfrm>
              <a:off x="4507167" y="1536785"/>
              <a:ext cx="262910" cy="25138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0</a:t>
              </a:r>
            </a:p>
          </p:txBody>
        </p:sp>
        <p:sp>
          <p:nvSpPr>
            <p:cNvPr id="41" name="Rectangle 33"/>
            <p:cNvSpPr>
              <a:spLocks noChangeArrowheads="1"/>
            </p:cNvSpPr>
            <p:nvPr/>
          </p:nvSpPr>
          <p:spPr bwMode="auto">
            <a:xfrm>
              <a:off x="4784997" y="1536785"/>
              <a:ext cx="423222" cy="25138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BUN</a:t>
              </a:r>
            </a:p>
          </p:txBody>
        </p:sp>
        <p:sp>
          <p:nvSpPr>
            <p:cNvPr id="42" name="Rectangle 34"/>
            <p:cNvSpPr>
              <a:spLocks noChangeArrowheads="1"/>
            </p:cNvSpPr>
            <p:nvPr/>
          </p:nvSpPr>
          <p:spPr bwMode="auto">
            <a:xfrm>
              <a:off x="5391462" y="1536785"/>
              <a:ext cx="503377" cy="25138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1120</a:t>
              </a:r>
            </a:p>
          </p:txBody>
        </p:sp>
        <p:sp>
          <p:nvSpPr>
            <p:cNvPr id="43" name="Line 35"/>
            <p:cNvSpPr>
              <a:spLocks noChangeShapeType="1"/>
            </p:cNvSpPr>
            <p:nvPr/>
          </p:nvSpPr>
          <p:spPr bwMode="auto">
            <a:xfrm>
              <a:off x="4543681" y="1546312"/>
              <a:ext cx="1419319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44" name="Line 36"/>
            <p:cNvSpPr>
              <a:spLocks noChangeShapeType="1"/>
            </p:cNvSpPr>
            <p:nvPr/>
          </p:nvSpPr>
          <p:spPr bwMode="auto">
            <a:xfrm>
              <a:off x="4543681" y="1728896"/>
              <a:ext cx="1419319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45" name="Rectangle 37"/>
            <p:cNvSpPr>
              <a:spLocks noChangeArrowheads="1"/>
            </p:cNvSpPr>
            <p:nvPr/>
          </p:nvSpPr>
          <p:spPr bwMode="auto">
            <a:xfrm>
              <a:off x="4238861" y="1355789"/>
              <a:ext cx="262910" cy="25138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0</a:t>
              </a:r>
            </a:p>
          </p:txBody>
        </p:sp>
        <p:sp>
          <p:nvSpPr>
            <p:cNvPr id="46" name="Rectangle 38"/>
            <p:cNvSpPr>
              <a:spLocks noChangeArrowheads="1"/>
            </p:cNvSpPr>
            <p:nvPr/>
          </p:nvSpPr>
          <p:spPr bwMode="auto">
            <a:xfrm>
              <a:off x="3888001" y="1536785"/>
              <a:ext cx="663688" cy="25138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PC = 1</a:t>
              </a:r>
            </a:p>
          </p:txBody>
        </p:sp>
        <p:sp>
          <p:nvSpPr>
            <p:cNvPr id="47" name="Line 39"/>
            <p:cNvSpPr>
              <a:spLocks noChangeShapeType="1"/>
            </p:cNvSpPr>
            <p:nvPr/>
          </p:nvSpPr>
          <p:spPr bwMode="auto">
            <a:xfrm>
              <a:off x="4543681" y="2389375"/>
              <a:ext cx="1419319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48" name="Rectangle 40"/>
            <p:cNvSpPr>
              <a:spLocks noChangeArrowheads="1"/>
            </p:cNvSpPr>
            <p:nvPr/>
          </p:nvSpPr>
          <p:spPr bwMode="auto">
            <a:xfrm>
              <a:off x="4068988" y="2171861"/>
              <a:ext cx="503377" cy="25138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 256</a:t>
              </a:r>
            </a:p>
          </p:txBody>
        </p:sp>
        <p:sp>
          <p:nvSpPr>
            <p:cNvPr id="49" name="Rectangle 41"/>
            <p:cNvSpPr>
              <a:spLocks noChangeArrowheads="1"/>
            </p:cNvSpPr>
            <p:nvPr/>
          </p:nvSpPr>
          <p:spPr bwMode="auto">
            <a:xfrm>
              <a:off x="4115028" y="2025794"/>
              <a:ext cx="423222" cy="25138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255</a:t>
              </a:r>
            </a:p>
          </p:txBody>
        </p:sp>
        <p:sp>
          <p:nvSpPr>
            <p:cNvPr id="50" name="Rectangle 42"/>
            <p:cNvSpPr>
              <a:spLocks noChangeArrowheads="1"/>
            </p:cNvSpPr>
            <p:nvPr/>
          </p:nvSpPr>
          <p:spPr bwMode="auto">
            <a:xfrm>
              <a:off x="4507167" y="3108599"/>
              <a:ext cx="262910" cy="25138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1</a:t>
              </a:r>
            </a:p>
          </p:txBody>
        </p:sp>
        <p:sp>
          <p:nvSpPr>
            <p:cNvPr id="51" name="Rectangle 43"/>
            <p:cNvSpPr>
              <a:spLocks noChangeArrowheads="1"/>
            </p:cNvSpPr>
            <p:nvPr/>
          </p:nvSpPr>
          <p:spPr bwMode="auto">
            <a:xfrm>
              <a:off x="4784997" y="3108599"/>
              <a:ext cx="423222" cy="25138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BUN</a:t>
              </a:r>
            </a:p>
          </p:txBody>
        </p:sp>
        <p:sp>
          <p:nvSpPr>
            <p:cNvPr id="52" name="Rectangle 44"/>
            <p:cNvSpPr>
              <a:spLocks noChangeArrowheads="1"/>
            </p:cNvSpPr>
            <p:nvPr/>
          </p:nvSpPr>
          <p:spPr bwMode="auto">
            <a:xfrm>
              <a:off x="5648654" y="3108599"/>
              <a:ext cx="262910" cy="25138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0</a:t>
              </a:r>
            </a:p>
          </p:txBody>
        </p:sp>
        <p:sp>
          <p:nvSpPr>
            <p:cNvPr id="35888" name="Rectangle 47"/>
            <p:cNvSpPr>
              <a:spLocks noChangeArrowheads="1"/>
            </p:cNvSpPr>
            <p:nvPr/>
          </p:nvSpPr>
          <p:spPr bwMode="auto">
            <a:xfrm>
              <a:off x="3325957" y="822325"/>
              <a:ext cx="969818" cy="3359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600" b="1">
                  <a:solidFill>
                    <a:srgbClr val="000000"/>
                  </a:solidFill>
                  <a:cs typeface="Arial" panose="020B0604020202020204" pitchFamily="34" charset="0"/>
                </a:rPr>
                <a:t>Memory</a:t>
              </a:r>
            </a:p>
          </p:txBody>
        </p:sp>
        <p:sp>
          <p:nvSpPr>
            <p:cNvPr id="54" name="Rectangle 48"/>
            <p:cNvSpPr>
              <a:spLocks noChangeArrowheads="1"/>
            </p:cNvSpPr>
            <p:nvPr/>
          </p:nvSpPr>
          <p:spPr bwMode="auto">
            <a:xfrm>
              <a:off x="5004087" y="1879726"/>
              <a:ext cx="503377" cy="41298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Main</a:t>
              </a:r>
            </a:p>
            <a:p>
              <a:pPr defTabSz="762000">
                <a:defRPr/>
              </a:pPr>
              <a:endParaRPr lang="en-US" altLang="ko-KR" sz="1050" b="1">
                <a:solidFill>
                  <a:srgbClr val="000000"/>
                </a:solidFill>
                <a:cs typeface="Arial" pitchFamily="34" charset="0"/>
              </a:endParaRPr>
            </a:p>
          </p:txBody>
        </p:sp>
        <p:sp>
          <p:nvSpPr>
            <p:cNvPr id="55" name="Rectangle 49"/>
            <p:cNvSpPr>
              <a:spLocks noChangeArrowheads="1"/>
            </p:cNvSpPr>
            <p:nvPr/>
          </p:nvSpPr>
          <p:spPr bwMode="auto">
            <a:xfrm>
              <a:off x="4881841" y="2028969"/>
              <a:ext cx="743843" cy="25138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Program</a:t>
              </a:r>
            </a:p>
          </p:txBody>
        </p:sp>
        <p:sp>
          <p:nvSpPr>
            <p:cNvPr id="56" name="Rectangle 50"/>
            <p:cNvSpPr>
              <a:spLocks noChangeArrowheads="1"/>
            </p:cNvSpPr>
            <p:nvPr/>
          </p:nvSpPr>
          <p:spPr bwMode="auto">
            <a:xfrm>
              <a:off x="4034060" y="2360797"/>
              <a:ext cx="503377" cy="25138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1120</a:t>
              </a:r>
            </a:p>
          </p:txBody>
        </p:sp>
        <p:sp>
          <p:nvSpPr>
            <p:cNvPr id="57" name="Rectangle 51"/>
            <p:cNvSpPr>
              <a:spLocks noChangeArrowheads="1"/>
            </p:cNvSpPr>
            <p:nvPr/>
          </p:nvSpPr>
          <p:spPr bwMode="auto">
            <a:xfrm>
              <a:off x="5137445" y="2541794"/>
              <a:ext cx="423222" cy="41298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I/O</a:t>
              </a:r>
            </a:p>
            <a:p>
              <a:pPr defTabSz="762000">
                <a:defRPr/>
              </a:pPr>
              <a:endParaRPr lang="en-US" altLang="ko-KR" sz="1050" b="1">
                <a:solidFill>
                  <a:srgbClr val="000000"/>
                </a:solidFill>
                <a:cs typeface="Arial" pitchFamily="34" charset="0"/>
              </a:endParaRPr>
            </a:p>
          </p:txBody>
        </p:sp>
        <p:sp>
          <p:nvSpPr>
            <p:cNvPr id="58" name="Rectangle 52"/>
            <p:cNvSpPr>
              <a:spLocks noChangeArrowheads="1"/>
            </p:cNvSpPr>
            <p:nvPr/>
          </p:nvSpPr>
          <p:spPr bwMode="auto">
            <a:xfrm>
              <a:off x="4943758" y="2692624"/>
              <a:ext cx="743843" cy="25138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Program</a:t>
              </a:r>
            </a:p>
          </p:txBody>
        </p:sp>
        <p:sp>
          <p:nvSpPr>
            <p:cNvPr id="59" name="Rectangle 53"/>
            <p:cNvSpPr>
              <a:spLocks noChangeArrowheads="1"/>
            </p:cNvSpPr>
            <p:nvPr/>
          </p:nvSpPr>
          <p:spPr bwMode="auto">
            <a:xfrm>
              <a:off x="5004087" y="1335149"/>
              <a:ext cx="423222" cy="25138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256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0271164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6868" name="TextBox 5"/>
          <p:cNvSpPr txBox="1">
            <a:spLocks noChangeArrowheads="1"/>
          </p:cNvSpPr>
          <p:nvPr/>
        </p:nvSpPr>
        <p:spPr bwMode="auto">
          <a:xfrm>
            <a:off x="1360488" y="6540500"/>
            <a:ext cx="9144001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870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Complete Computer Design</a:t>
            </a:r>
          </a:p>
        </p:txBody>
      </p:sp>
      <p:grpSp>
        <p:nvGrpSpPr>
          <p:cNvPr id="36871" name="Group 330"/>
          <p:cNvGrpSpPr>
            <a:grpSpLocks/>
          </p:cNvGrpSpPr>
          <p:nvPr/>
        </p:nvGrpSpPr>
        <p:grpSpPr bwMode="auto">
          <a:xfrm>
            <a:off x="2576514" y="971550"/>
            <a:ext cx="6415087" cy="5657850"/>
            <a:chOff x="692150" y="782638"/>
            <a:chExt cx="6415088" cy="5657850"/>
          </a:xfrm>
        </p:grpSpPr>
        <p:sp>
          <p:nvSpPr>
            <p:cNvPr id="36873" name="Rectangle 82"/>
            <p:cNvSpPr>
              <a:spLocks noChangeArrowheads="1"/>
            </p:cNvSpPr>
            <p:nvPr/>
          </p:nvSpPr>
          <p:spPr bwMode="auto">
            <a:xfrm>
              <a:off x="1293813" y="4097338"/>
              <a:ext cx="4215899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=1 (I/O)       =0 (Register)                            =1(Indir)         =0(Dir)</a:t>
              </a:r>
            </a:p>
          </p:txBody>
        </p:sp>
        <p:sp>
          <p:nvSpPr>
            <p:cNvPr id="36874" name="Rectangle 4"/>
            <p:cNvSpPr>
              <a:spLocks noChangeArrowheads="1"/>
            </p:cNvSpPr>
            <p:nvPr/>
          </p:nvSpPr>
          <p:spPr bwMode="auto">
            <a:xfrm>
              <a:off x="2922588" y="835025"/>
              <a:ext cx="1833562" cy="327025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36875" name="Rectangle 5"/>
            <p:cNvSpPr>
              <a:spLocks noChangeArrowheads="1"/>
            </p:cNvSpPr>
            <p:nvPr/>
          </p:nvSpPr>
          <p:spPr bwMode="auto">
            <a:xfrm>
              <a:off x="2903538" y="782638"/>
              <a:ext cx="1756892" cy="428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ko-KR" sz="1100" b="1">
                  <a:cs typeface="Arial" panose="020B0604020202020204" pitchFamily="34" charset="0"/>
                </a:rPr>
                <a:t>start</a:t>
              </a:r>
            </a:p>
            <a:p>
              <a:pPr algn="ctr" eaLnBrk="1" hangingPunct="1"/>
              <a:r>
                <a:rPr lang="en-US" altLang="ko-KR" sz="1100" b="1">
                  <a:cs typeface="Arial" panose="020B0604020202020204" pitchFamily="34" charset="0"/>
                </a:rPr>
                <a:t>SC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cs typeface="Arial" panose="020B0604020202020204" pitchFamily="34" charset="0"/>
                </a:rPr>
                <a:t> 0, IEN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cs typeface="Arial" panose="020B0604020202020204" pitchFamily="34" charset="0"/>
                </a:rPr>
                <a:t> 0, R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cs typeface="Arial" panose="020B0604020202020204" pitchFamily="34" charset="0"/>
                </a:rPr>
                <a:t> 0</a:t>
              </a:r>
            </a:p>
          </p:txBody>
        </p:sp>
        <p:sp>
          <p:nvSpPr>
            <p:cNvPr id="36876" name="AutoShape 6"/>
            <p:cNvSpPr>
              <a:spLocks noChangeArrowheads="1"/>
            </p:cNvSpPr>
            <p:nvPr/>
          </p:nvSpPr>
          <p:spPr bwMode="auto">
            <a:xfrm>
              <a:off x="3605213" y="1366838"/>
              <a:ext cx="428625" cy="339725"/>
            </a:xfrm>
            <a:prstGeom prst="diamond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36877" name="Rectangle 7"/>
            <p:cNvSpPr>
              <a:spLocks noChangeArrowheads="1"/>
            </p:cNvSpPr>
            <p:nvPr/>
          </p:nvSpPr>
          <p:spPr bwMode="auto">
            <a:xfrm>
              <a:off x="3665538" y="1404938"/>
              <a:ext cx="285336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R</a:t>
              </a:r>
            </a:p>
          </p:txBody>
        </p:sp>
        <p:sp>
          <p:nvSpPr>
            <p:cNvPr id="36878" name="Rectangle 8"/>
            <p:cNvSpPr>
              <a:spLocks noChangeArrowheads="1"/>
            </p:cNvSpPr>
            <p:nvPr/>
          </p:nvSpPr>
          <p:spPr bwMode="auto">
            <a:xfrm>
              <a:off x="1698625" y="1919288"/>
              <a:ext cx="1079500" cy="217487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36879" name="Rectangle 9"/>
            <p:cNvSpPr>
              <a:spLocks noChangeArrowheads="1"/>
            </p:cNvSpPr>
            <p:nvPr/>
          </p:nvSpPr>
          <p:spPr bwMode="auto">
            <a:xfrm>
              <a:off x="1746250" y="1898650"/>
              <a:ext cx="801502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ko-KR" sz="1100" b="1">
                  <a:cs typeface="Arial" panose="020B0604020202020204" pitchFamily="34" charset="0"/>
                </a:rPr>
                <a:t>AR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cs typeface="Arial" panose="020B0604020202020204" pitchFamily="34" charset="0"/>
                </a:rPr>
                <a:t> PC</a:t>
              </a:r>
            </a:p>
          </p:txBody>
        </p:sp>
        <p:sp>
          <p:nvSpPr>
            <p:cNvPr id="36880" name="Rectangle 10"/>
            <p:cNvSpPr>
              <a:spLocks noChangeArrowheads="1"/>
            </p:cNvSpPr>
            <p:nvPr/>
          </p:nvSpPr>
          <p:spPr bwMode="auto">
            <a:xfrm>
              <a:off x="2409825" y="1693863"/>
              <a:ext cx="463269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R’T</a:t>
              </a:r>
              <a:r>
                <a:rPr lang="en-US" altLang="ko-KR" sz="1100" b="1" baseline="-25000"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36881" name="Rectangle 11"/>
            <p:cNvSpPr>
              <a:spLocks noChangeArrowheads="1"/>
            </p:cNvSpPr>
            <p:nvPr/>
          </p:nvSpPr>
          <p:spPr bwMode="auto">
            <a:xfrm>
              <a:off x="1081088" y="2239963"/>
              <a:ext cx="2249487" cy="244475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36882" name="Rectangle 12"/>
            <p:cNvSpPr>
              <a:spLocks noChangeArrowheads="1"/>
            </p:cNvSpPr>
            <p:nvPr/>
          </p:nvSpPr>
          <p:spPr bwMode="auto">
            <a:xfrm>
              <a:off x="1087438" y="2232025"/>
              <a:ext cx="1880324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ko-KR" sz="1100" b="1">
                  <a:cs typeface="Arial" panose="020B0604020202020204" pitchFamily="34" charset="0"/>
                </a:rPr>
                <a:t>IR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cs typeface="Arial" panose="020B0604020202020204" pitchFamily="34" charset="0"/>
                </a:rPr>
                <a:t> M[AR], PC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cs typeface="Arial" panose="020B0604020202020204" pitchFamily="34" charset="0"/>
                </a:rPr>
                <a:t> PC + 1</a:t>
              </a:r>
            </a:p>
          </p:txBody>
        </p:sp>
        <p:sp>
          <p:nvSpPr>
            <p:cNvPr id="36883" name="Rectangle 13"/>
            <p:cNvSpPr>
              <a:spLocks noChangeArrowheads="1"/>
            </p:cNvSpPr>
            <p:nvPr/>
          </p:nvSpPr>
          <p:spPr bwMode="auto">
            <a:xfrm>
              <a:off x="2855913" y="2012950"/>
              <a:ext cx="463269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R’T</a:t>
              </a:r>
              <a:r>
                <a:rPr lang="en-US" altLang="ko-KR" sz="1100" b="1" baseline="-25000"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36884" name="Rectangle 14"/>
            <p:cNvSpPr>
              <a:spLocks noChangeArrowheads="1"/>
            </p:cNvSpPr>
            <p:nvPr/>
          </p:nvSpPr>
          <p:spPr bwMode="auto">
            <a:xfrm>
              <a:off x="989013" y="2674938"/>
              <a:ext cx="2540000" cy="415925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36885" name="Rectangle 15"/>
            <p:cNvSpPr>
              <a:spLocks noChangeArrowheads="1"/>
            </p:cNvSpPr>
            <p:nvPr/>
          </p:nvSpPr>
          <p:spPr bwMode="auto">
            <a:xfrm>
              <a:off x="982663" y="2665413"/>
              <a:ext cx="2082302" cy="428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ko-KR" sz="1100" b="1">
                  <a:cs typeface="Arial" panose="020B0604020202020204" pitchFamily="34" charset="0"/>
                </a:rPr>
                <a:t>AR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cs typeface="Arial" panose="020B0604020202020204" pitchFamily="34" charset="0"/>
                </a:rPr>
                <a:t> IR(0~11), I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cs typeface="Arial" panose="020B0604020202020204" pitchFamily="34" charset="0"/>
                </a:rPr>
                <a:t> IR(15)</a:t>
              </a:r>
            </a:p>
            <a:p>
              <a:pPr algn="ctr" eaLnBrk="1" hangingPunct="1"/>
              <a:r>
                <a:rPr lang="en-US" altLang="ko-KR" sz="1100" b="1">
                  <a:cs typeface="Arial" panose="020B0604020202020204" pitchFamily="34" charset="0"/>
                </a:rPr>
                <a:t>D</a:t>
              </a:r>
              <a:r>
                <a:rPr lang="en-US" altLang="ko-KR" sz="1100" b="1" baseline="-25000">
                  <a:cs typeface="Arial" panose="020B0604020202020204" pitchFamily="34" charset="0"/>
                </a:rPr>
                <a:t>0</a:t>
              </a:r>
              <a:r>
                <a:rPr lang="en-US" altLang="ko-KR" sz="1100" b="1">
                  <a:cs typeface="Arial" panose="020B0604020202020204" pitchFamily="34" charset="0"/>
                </a:rPr>
                <a:t>...D</a:t>
              </a:r>
              <a:r>
                <a:rPr lang="en-US" altLang="ko-KR" sz="1100" b="1" baseline="-25000">
                  <a:cs typeface="Arial" panose="020B0604020202020204" pitchFamily="34" charset="0"/>
                </a:rPr>
                <a:t>7</a:t>
              </a:r>
              <a:r>
                <a:rPr lang="en-US" altLang="ko-KR" sz="1100" b="1">
                  <a:cs typeface="Arial" panose="020B0604020202020204" pitchFamily="34" charset="0"/>
                </a:rPr>
                <a:t>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cs typeface="Arial" panose="020B0604020202020204" pitchFamily="34" charset="0"/>
                </a:rPr>
                <a:t> Decode IR(12 ~ 14)</a:t>
              </a:r>
            </a:p>
          </p:txBody>
        </p:sp>
        <p:sp>
          <p:nvSpPr>
            <p:cNvPr id="36886" name="Rectangle 16"/>
            <p:cNvSpPr>
              <a:spLocks noChangeArrowheads="1"/>
            </p:cNvSpPr>
            <p:nvPr/>
          </p:nvSpPr>
          <p:spPr bwMode="auto">
            <a:xfrm>
              <a:off x="3143250" y="2459038"/>
              <a:ext cx="463269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R’T</a:t>
              </a:r>
              <a:r>
                <a:rPr lang="en-US" altLang="ko-KR" sz="1100" b="1" baseline="-25000"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36887" name="Rectangle 17"/>
            <p:cNvSpPr>
              <a:spLocks noChangeArrowheads="1"/>
            </p:cNvSpPr>
            <p:nvPr/>
          </p:nvSpPr>
          <p:spPr bwMode="auto">
            <a:xfrm>
              <a:off x="4725988" y="1919288"/>
              <a:ext cx="1604962" cy="19685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36888" name="Rectangle 18"/>
            <p:cNvSpPr>
              <a:spLocks noChangeArrowheads="1"/>
            </p:cNvSpPr>
            <p:nvPr/>
          </p:nvSpPr>
          <p:spPr bwMode="auto">
            <a:xfrm>
              <a:off x="4714875" y="1890713"/>
              <a:ext cx="1354538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ko-KR" sz="1100" b="1">
                  <a:cs typeface="Arial" panose="020B0604020202020204" pitchFamily="34" charset="0"/>
                </a:rPr>
                <a:t>AR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cs typeface="Arial" panose="020B0604020202020204" pitchFamily="34" charset="0"/>
                </a:rPr>
                <a:t> 0, TR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cs typeface="Arial" panose="020B0604020202020204" pitchFamily="34" charset="0"/>
                </a:rPr>
                <a:t> PC</a:t>
              </a:r>
            </a:p>
          </p:txBody>
        </p:sp>
        <p:sp>
          <p:nvSpPr>
            <p:cNvPr id="36889" name="Rectangle 19"/>
            <p:cNvSpPr>
              <a:spLocks noChangeArrowheads="1"/>
            </p:cNvSpPr>
            <p:nvPr/>
          </p:nvSpPr>
          <p:spPr bwMode="auto">
            <a:xfrm>
              <a:off x="5921375" y="1654175"/>
              <a:ext cx="424797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RT</a:t>
              </a:r>
              <a:r>
                <a:rPr lang="en-US" altLang="ko-KR" sz="1100" b="1" baseline="-25000"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36890" name="Rectangle 20"/>
            <p:cNvSpPr>
              <a:spLocks noChangeArrowheads="1"/>
            </p:cNvSpPr>
            <p:nvPr/>
          </p:nvSpPr>
          <p:spPr bwMode="auto">
            <a:xfrm>
              <a:off x="4646613" y="2262188"/>
              <a:ext cx="2119312" cy="242887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36891" name="Rectangle 21"/>
            <p:cNvSpPr>
              <a:spLocks noChangeArrowheads="1"/>
            </p:cNvSpPr>
            <p:nvPr/>
          </p:nvSpPr>
          <p:spPr bwMode="auto">
            <a:xfrm>
              <a:off x="4745038" y="2251075"/>
              <a:ext cx="1572547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ko-KR" sz="1100" b="1">
                  <a:cs typeface="Arial" panose="020B0604020202020204" pitchFamily="34" charset="0"/>
                </a:rPr>
                <a:t>M[AR]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cs typeface="Arial" panose="020B0604020202020204" pitchFamily="34" charset="0"/>
                </a:rPr>
                <a:t> TR, PC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cs typeface="Arial" panose="020B0604020202020204" pitchFamily="34" charset="0"/>
                </a:rPr>
                <a:t> 0</a:t>
              </a:r>
            </a:p>
          </p:txBody>
        </p:sp>
        <p:sp>
          <p:nvSpPr>
            <p:cNvPr id="36892" name="Rectangle 22"/>
            <p:cNvSpPr>
              <a:spLocks noChangeArrowheads="1"/>
            </p:cNvSpPr>
            <p:nvPr/>
          </p:nvSpPr>
          <p:spPr bwMode="auto">
            <a:xfrm>
              <a:off x="6407150" y="2014538"/>
              <a:ext cx="424797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RT</a:t>
              </a:r>
              <a:r>
                <a:rPr lang="en-US" altLang="ko-KR" sz="1100" b="1" baseline="-25000"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36893" name="Rectangle 23"/>
            <p:cNvSpPr>
              <a:spLocks noChangeArrowheads="1"/>
            </p:cNvSpPr>
            <p:nvPr/>
          </p:nvSpPr>
          <p:spPr bwMode="auto">
            <a:xfrm>
              <a:off x="4646613" y="2706688"/>
              <a:ext cx="2132012" cy="37306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36894" name="Rectangle 24"/>
            <p:cNvSpPr>
              <a:spLocks noChangeArrowheads="1"/>
            </p:cNvSpPr>
            <p:nvPr/>
          </p:nvSpPr>
          <p:spPr bwMode="auto">
            <a:xfrm>
              <a:off x="4699000" y="2676525"/>
              <a:ext cx="1638270" cy="428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ko-KR" sz="1100" b="1">
                  <a:cs typeface="Arial" panose="020B0604020202020204" pitchFamily="34" charset="0"/>
                </a:rPr>
                <a:t>PC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cs typeface="Arial" panose="020B0604020202020204" pitchFamily="34" charset="0"/>
                </a:rPr>
                <a:t> PC + 1, IEN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cs typeface="Arial" panose="020B0604020202020204" pitchFamily="34" charset="0"/>
                </a:rPr>
                <a:t> 0</a:t>
              </a:r>
            </a:p>
            <a:p>
              <a:pPr algn="ctr" eaLnBrk="1" hangingPunct="1"/>
              <a:r>
                <a:rPr lang="en-US" altLang="ko-KR" sz="1100" b="1">
                  <a:cs typeface="Arial" panose="020B0604020202020204" pitchFamily="34" charset="0"/>
                </a:rPr>
                <a:t>R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cs typeface="Arial" panose="020B0604020202020204" pitchFamily="34" charset="0"/>
                </a:rPr>
                <a:t> 0, SC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cs typeface="Arial" panose="020B0604020202020204" pitchFamily="34" charset="0"/>
                </a:rPr>
                <a:t> 0</a:t>
              </a:r>
            </a:p>
          </p:txBody>
        </p:sp>
        <p:sp>
          <p:nvSpPr>
            <p:cNvPr id="36895" name="Rectangle 25"/>
            <p:cNvSpPr>
              <a:spLocks noChangeArrowheads="1"/>
            </p:cNvSpPr>
            <p:nvPr/>
          </p:nvSpPr>
          <p:spPr bwMode="auto">
            <a:xfrm>
              <a:off x="6484938" y="2462213"/>
              <a:ext cx="424797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RT</a:t>
              </a:r>
              <a:r>
                <a:rPr lang="en-US" altLang="ko-KR" sz="1100" b="1" baseline="-25000"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36896" name="AutoShape 26"/>
            <p:cNvSpPr>
              <a:spLocks noChangeArrowheads="1"/>
            </p:cNvSpPr>
            <p:nvPr/>
          </p:nvSpPr>
          <p:spPr bwMode="auto">
            <a:xfrm>
              <a:off x="3619500" y="3462338"/>
              <a:ext cx="527050" cy="352425"/>
            </a:xfrm>
            <a:prstGeom prst="diamond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36897" name="Rectangle 27"/>
            <p:cNvSpPr>
              <a:spLocks noChangeArrowheads="1"/>
            </p:cNvSpPr>
            <p:nvPr/>
          </p:nvSpPr>
          <p:spPr bwMode="auto">
            <a:xfrm>
              <a:off x="3713163" y="3497263"/>
              <a:ext cx="338235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D</a:t>
              </a:r>
              <a:r>
                <a:rPr lang="en-US" altLang="ko-KR" sz="1100" b="1" baseline="-25000"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36898" name="AutoShape 28"/>
            <p:cNvSpPr>
              <a:spLocks noChangeArrowheads="1"/>
            </p:cNvSpPr>
            <p:nvPr/>
          </p:nvSpPr>
          <p:spPr bwMode="auto">
            <a:xfrm>
              <a:off x="1963738" y="4219575"/>
              <a:ext cx="315912" cy="247650"/>
            </a:xfrm>
            <a:prstGeom prst="diamond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36899" name="Rectangle 29"/>
            <p:cNvSpPr>
              <a:spLocks noChangeArrowheads="1"/>
            </p:cNvSpPr>
            <p:nvPr/>
          </p:nvSpPr>
          <p:spPr bwMode="auto">
            <a:xfrm>
              <a:off x="2006600" y="4222750"/>
              <a:ext cx="221215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I</a:t>
              </a:r>
            </a:p>
          </p:txBody>
        </p:sp>
        <p:sp>
          <p:nvSpPr>
            <p:cNvPr id="36900" name="AutoShape 30"/>
            <p:cNvSpPr>
              <a:spLocks noChangeArrowheads="1"/>
            </p:cNvSpPr>
            <p:nvPr/>
          </p:nvSpPr>
          <p:spPr bwMode="auto">
            <a:xfrm>
              <a:off x="5500688" y="4230688"/>
              <a:ext cx="315912" cy="247650"/>
            </a:xfrm>
            <a:prstGeom prst="diamond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36901" name="Rectangle 31"/>
            <p:cNvSpPr>
              <a:spLocks noChangeArrowheads="1"/>
            </p:cNvSpPr>
            <p:nvPr/>
          </p:nvSpPr>
          <p:spPr bwMode="auto">
            <a:xfrm>
              <a:off x="5551488" y="4233863"/>
              <a:ext cx="221215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I</a:t>
              </a:r>
            </a:p>
          </p:txBody>
        </p:sp>
        <p:sp>
          <p:nvSpPr>
            <p:cNvPr id="36902" name="Rectangle 32"/>
            <p:cNvSpPr>
              <a:spLocks noChangeArrowheads="1"/>
            </p:cNvSpPr>
            <p:nvPr/>
          </p:nvSpPr>
          <p:spPr bwMode="auto">
            <a:xfrm>
              <a:off x="804863" y="5068888"/>
              <a:ext cx="1000125" cy="636587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36903" name="Rectangle 33"/>
            <p:cNvSpPr>
              <a:spLocks noChangeArrowheads="1"/>
            </p:cNvSpPr>
            <p:nvPr/>
          </p:nvSpPr>
          <p:spPr bwMode="auto">
            <a:xfrm>
              <a:off x="768350" y="5060950"/>
              <a:ext cx="910507" cy="5975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ko-KR" sz="1100" b="1">
                  <a:cs typeface="Arial" panose="020B0604020202020204" pitchFamily="34" charset="0"/>
                </a:rPr>
                <a:t>Execute</a:t>
              </a:r>
            </a:p>
            <a:p>
              <a:pPr algn="ctr" eaLnBrk="1" hangingPunct="1"/>
              <a:r>
                <a:rPr lang="en-US" altLang="ko-KR" sz="1100" b="1">
                  <a:cs typeface="Arial" panose="020B0604020202020204" pitchFamily="34" charset="0"/>
                </a:rPr>
                <a:t>I/O</a:t>
              </a:r>
            </a:p>
            <a:p>
              <a:pPr algn="ctr" eaLnBrk="1" hangingPunct="1"/>
              <a:r>
                <a:rPr lang="en-US" altLang="ko-KR" sz="1100" b="1">
                  <a:cs typeface="Arial" panose="020B0604020202020204" pitchFamily="34" charset="0"/>
                </a:rPr>
                <a:t>Instruction</a:t>
              </a:r>
            </a:p>
          </p:txBody>
        </p:sp>
        <p:sp>
          <p:nvSpPr>
            <p:cNvPr id="36904" name="Rectangle 34"/>
            <p:cNvSpPr>
              <a:spLocks noChangeArrowheads="1"/>
            </p:cNvSpPr>
            <p:nvPr/>
          </p:nvSpPr>
          <p:spPr bwMode="auto">
            <a:xfrm>
              <a:off x="2370138" y="5068888"/>
              <a:ext cx="1039812" cy="636587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36905" name="Rectangle 35"/>
            <p:cNvSpPr>
              <a:spLocks noChangeArrowheads="1"/>
            </p:cNvSpPr>
            <p:nvPr/>
          </p:nvSpPr>
          <p:spPr bwMode="auto">
            <a:xfrm>
              <a:off x="2333625" y="5049838"/>
              <a:ext cx="910507" cy="5975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ko-KR" sz="1100" b="1">
                  <a:cs typeface="Arial" panose="020B0604020202020204" pitchFamily="34" charset="0"/>
                </a:rPr>
                <a:t>Execute</a:t>
              </a:r>
            </a:p>
            <a:p>
              <a:pPr algn="ctr" eaLnBrk="1" hangingPunct="1"/>
              <a:r>
                <a:rPr lang="en-US" altLang="ko-KR" sz="1100" b="1">
                  <a:cs typeface="Arial" panose="020B0604020202020204" pitchFamily="34" charset="0"/>
                </a:rPr>
                <a:t>RR</a:t>
              </a:r>
            </a:p>
            <a:p>
              <a:pPr algn="ctr" eaLnBrk="1" hangingPunct="1"/>
              <a:r>
                <a:rPr lang="en-US" altLang="ko-KR" sz="1100" b="1">
                  <a:cs typeface="Arial" panose="020B0604020202020204" pitchFamily="34" charset="0"/>
                </a:rPr>
                <a:t>Instruction</a:t>
              </a:r>
            </a:p>
          </p:txBody>
        </p:sp>
        <p:sp>
          <p:nvSpPr>
            <p:cNvPr id="36906" name="Rectangle 36"/>
            <p:cNvSpPr>
              <a:spLocks noChangeArrowheads="1"/>
            </p:cNvSpPr>
            <p:nvPr/>
          </p:nvSpPr>
          <p:spPr bwMode="auto">
            <a:xfrm>
              <a:off x="4502150" y="5080000"/>
              <a:ext cx="1117600" cy="2159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36907" name="Rectangle 37"/>
            <p:cNvSpPr>
              <a:spLocks noChangeArrowheads="1"/>
            </p:cNvSpPr>
            <p:nvPr/>
          </p:nvSpPr>
          <p:spPr bwMode="auto">
            <a:xfrm>
              <a:off x="4454525" y="5041900"/>
              <a:ext cx="1008290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ko-KR" sz="1100" b="1">
                  <a:cs typeface="Arial" panose="020B0604020202020204" pitchFamily="34" charset="0"/>
                </a:rPr>
                <a:t>AR &lt;- M[AR]</a:t>
              </a:r>
            </a:p>
          </p:txBody>
        </p:sp>
        <p:sp>
          <p:nvSpPr>
            <p:cNvPr id="36908" name="Rectangle 38"/>
            <p:cNvSpPr>
              <a:spLocks noChangeArrowheads="1"/>
            </p:cNvSpPr>
            <p:nvPr/>
          </p:nvSpPr>
          <p:spPr bwMode="auto">
            <a:xfrm>
              <a:off x="5726113" y="5091113"/>
              <a:ext cx="1052512" cy="19526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36909" name="Rectangle 39"/>
            <p:cNvSpPr>
              <a:spLocks noChangeArrowheads="1"/>
            </p:cNvSpPr>
            <p:nvPr/>
          </p:nvSpPr>
          <p:spPr bwMode="auto">
            <a:xfrm>
              <a:off x="6007100" y="5053013"/>
              <a:ext cx="424797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ko-KR" sz="1100" b="1">
                  <a:cs typeface="Arial" panose="020B0604020202020204" pitchFamily="34" charset="0"/>
                </a:rPr>
                <a:t>Idle</a:t>
              </a:r>
            </a:p>
          </p:txBody>
        </p:sp>
        <p:sp>
          <p:nvSpPr>
            <p:cNvPr id="36910" name="Rectangle 40"/>
            <p:cNvSpPr>
              <a:spLocks noChangeArrowheads="1"/>
            </p:cNvSpPr>
            <p:nvPr/>
          </p:nvSpPr>
          <p:spPr bwMode="auto">
            <a:xfrm>
              <a:off x="788988" y="4832350"/>
              <a:ext cx="2138407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D</a:t>
              </a:r>
              <a:r>
                <a:rPr lang="en-US" altLang="ko-KR" sz="1100" b="1" baseline="-25000">
                  <a:cs typeface="Arial" panose="020B0604020202020204" pitchFamily="34" charset="0"/>
                </a:rPr>
                <a:t>7</a:t>
              </a:r>
              <a:r>
                <a:rPr lang="en-US" altLang="ko-KR" sz="1100" b="1">
                  <a:cs typeface="Arial" panose="020B0604020202020204" pitchFamily="34" charset="0"/>
                </a:rPr>
                <a:t>IT</a:t>
              </a:r>
              <a:r>
                <a:rPr lang="en-US" altLang="ko-KR" sz="1100" b="1" baseline="-25000">
                  <a:cs typeface="Arial" panose="020B0604020202020204" pitchFamily="34" charset="0"/>
                </a:rPr>
                <a:t>3 </a:t>
              </a:r>
              <a:r>
                <a:rPr lang="en-US" altLang="ko-KR" sz="1100" b="1">
                  <a:cs typeface="Arial" panose="020B0604020202020204" pitchFamily="34" charset="0"/>
                </a:rPr>
                <a:t>                                D</a:t>
              </a:r>
              <a:r>
                <a:rPr lang="en-US" altLang="ko-KR" sz="1100" b="1" baseline="-25000">
                  <a:cs typeface="Arial" panose="020B0604020202020204" pitchFamily="34" charset="0"/>
                </a:rPr>
                <a:t>7</a:t>
              </a:r>
              <a:r>
                <a:rPr lang="en-US" altLang="ko-KR" sz="1100" b="1">
                  <a:cs typeface="Arial" panose="020B0604020202020204" pitchFamily="34" charset="0"/>
                </a:rPr>
                <a:t>I’T</a:t>
              </a:r>
              <a:r>
                <a:rPr lang="en-US" altLang="ko-KR" sz="1100" b="1" baseline="-25000"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36911" name="Rectangle 41"/>
            <p:cNvSpPr>
              <a:spLocks noChangeArrowheads="1"/>
            </p:cNvSpPr>
            <p:nvPr/>
          </p:nvSpPr>
          <p:spPr bwMode="auto">
            <a:xfrm>
              <a:off x="4354513" y="4841875"/>
              <a:ext cx="2061463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D</a:t>
              </a:r>
              <a:r>
                <a:rPr lang="en-US" altLang="ko-KR" sz="1100" b="1" baseline="-25000">
                  <a:cs typeface="Arial" panose="020B0604020202020204" pitchFamily="34" charset="0"/>
                </a:rPr>
                <a:t>7</a:t>
              </a:r>
              <a:r>
                <a:rPr lang="en-US" altLang="ko-KR" sz="1100" b="1">
                  <a:cs typeface="Arial" panose="020B0604020202020204" pitchFamily="34" charset="0"/>
                </a:rPr>
                <a:t>’IT3</a:t>
              </a:r>
              <a:r>
                <a:rPr lang="en-US" altLang="ko-KR" sz="1100" b="1" baseline="-25000">
                  <a:cs typeface="Arial" panose="020B0604020202020204" pitchFamily="34" charset="0"/>
                </a:rPr>
                <a:t> </a:t>
              </a:r>
              <a:r>
                <a:rPr lang="en-US" altLang="ko-KR" sz="1100" b="1">
                  <a:cs typeface="Arial" panose="020B0604020202020204" pitchFamily="34" charset="0"/>
                </a:rPr>
                <a:t>                           D</a:t>
              </a:r>
              <a:r>
                <a:rPr lang="en-US" altLang="ko-KR" sz="1100" b="1" baseline="-25000">
                  <a:cs typeface="Arial" panose="020B0604020202020204" pitchFamily="34" charset="0"/>
                </a:rPr>
                <a:t>7</a:t>
              </a:r>
              <a:r>
                <a:rPr lang="en-US" altLang="ko-KR" sz="1100" b="1">
                  <a:cs typeface="Arial" panose="020B0604020202020204" pitchFamily="34" charset="0"/>
                </a:rPr>
                <a:t>’I’T3</a:t>
              </a:r>
            </a:p>
          </p:txBody>
        </p:sp>
        <p:sp>
          <p:nvSpPr>
            <p:cNvPr id="36912" name="Rectangle 42"/>
            <p:cNvSpPr>
              <a:spLocks noChangeArrowheads="1"/>
            </p:cNvSpPr>
            <p:nvPr/>
          </p:nvSpPr>
          <p:spPr bwMode="auto">
            <a:xfrm>
              <a:off x="4949825" y="5638800"/>
              <a:ext cx="1577975" cy="485775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36913" name="Rectangle 43"/>
            <p:cNvSpPr>
              <a:spLocks noChangeArrowheads="1"/>
            </p:cNvSpPr>
            <p:nvPr/>
          </p:nvSpPr>
          <p:spPr bwMode="auto">
            <a:xfrm>
              <a:off x="5097463" y="5648325"/>
              <a:ext cx="1021114" cy="428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ko-KR" sz="1100" b="1">
                  <a:cs typeface="Arial" panose="020B0604020202020204" pitchFamily="34" charset="0"/>
                </a:rPr>
                <a:t>Execute  MR</a:t>
              </a:r>
            </a:p>
            <a:p>
              <a:pPr algn="ctr" eaLnBrk="1" hangingPunct="1"/>
              <a:r>
                <a:rPr lang="en-US" altLang="ko-KR" sz="1100" b="1">
                  <a:cs typeface="Arial" panose="020B0604020202020204" pitchFamily="34" charset="0"/>
                </a:rPr>
                <a:t>Instruction</a:t>
              </a:r>
            </a:p>
          </p:txBody>
        </p:sp>
        <p:sp>
          <p:nvSpPr>
            <p:cNvPr id="36914" name="Line 44"/>
            <p:cNvSpPr>
              <a:spLocks noChangeShapeType="1"/>
            </p:cNvSpPr>
            <p:nvPr/>
          </p:nvSpPr>
          <p:spPr bwMode="auto">
            <a:xfrm>
              <a:off x="3817938" y="1173163"/>
              <a:ext cx="0" cy="19685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15" name="Line 45"/>
            <p:cNvSpPr>
              <a:spLocks noChangeShapeType="1"/>
            </p:cNvSpPr>
            <p:nvPr/>
          </p:nvSpPr>
          <p:spPr bwMode="auto">
            <a:xfrm flipH="1">
              <a:off x="2265363" y="1536700"/>
              <a:ext cx="136842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16" name="Line 46"/>
            <p:cNvSpPr>
              <a:spLocks noChangeShapeType="1"/>
            </p:cNvSpPr>
            <p:nvPr/>
          </p:nvSpPr>
          <p:spPr bwMode="auto">
            <a:xfrm>
              <a:off x="2279650" y="1544638"/>
              <a:ext cx="0" cy="3540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17" name="Line 47"/>
            <p:cNvSpPr>
              <a:spLocks noChangeShapeType="1"/>
            </p:cNvSpPr>
            <p:nvPr/>
          </p:nvSpPr>
          <p:spPr bwMode="auto">
            <a:xfrm>
              <a:off x="4035425" y="1536700"/>
              <a:ext cx="14938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18" name="Line 48"/>
            <p:cNvSpPr>
              <a:spLocks noChangeShapeType="1"/>
            </p:cNvSpPr>
            <p:nvPr/>
          </p:nvSpPr>
          <p:spPr bwMode="auto">
            <a:xfrm>
              <a:off x="5514975" y="1524000"/>
              <a:ext cx="0" cy="3952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19" name="Line 49"/>
            <p:cNvSpPr>
              <a:spLocks noChangeShapeType="1"/>
            </p:cNvSpPr>
            <p:nvPr/>
          </p:nvSpPr>
          <p:spPr bwMode="auto">
            <a:xfrm>
              <a:off x="2265363" y="2147888"/>
              <a:ext cx="0" cy="7143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20" name="Line 50"/>
            <p:cNvSpPr>
              <a:spLocks noChangeShapeType="1"/>
            </p:cNvSpPr>
            <p:nvPr/>
          </p:nvSpPr>
          <p:spPr bwMode="auto">
            <a:xfrm>
              <a:off x="2265363" y="2487613"/>
              <a:ext cx="0" cy="1778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21" name="Line 51"/>
            <p:cNvSpPr>
              <a:spLocks noChangeShapeType="1"/>
            </p:cNvSpPr>
            <p:nvPr/>
          </p:nvSpPr>
          <p:spPr bwMode="auto">
            <a:xfrm>
              <a:off x="5514975" y="2127250"/>
              <a:ext cx="0" cy="1524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22" name="Line 52"/>
            <p:cNvSpPr>
              <a:spLocks noChangeShapeType="1"/>
            </p:cNvSpPr>
            <p:nvPr/>
          </p:nvSpPr>
          <p:spPr bwMode="auto">
            <a:xfrm>
              <a:off x="5508625" y="2508250"/>
              <a:ext cx="0" cy="18732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23" name="Line 53"/>
            <p:cNvSpPr>
              <a:spLocks noChangeShapeType="1"/>
            </p:cNvSpPr>
            <p:nvPr/>
          </p:nvSpPr>
          <p:spPr bwMode="auto">
            <a:xfrm>
              <a:off x="2265363" y="3094038"/>
              <a:ext cx="0" cy="889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24" name="Line 54"/>
            <p:cNvSpPr>
              <a:spLocks noChangeShapeType="1"/>
            </p:cNvSpPr>
            <p:nvPr/>
          </p:nvSpPr>
          <p:spPr bwMode="auto">
            <a:xfrm>
              <a:off x="2259013" y="3182938"/>
              <a:ext cx="16383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25" name="Line 55"/>
            <p:cNvSpPr>
              <a:spLocks noChangeShapeType="1"/>
            </p:cNvSpPr>
            <p:nvPr/>
          </p:nvSpPr>
          <p:spPr bwMode="auto">
            <a:xfrm>
              <a:off x="3897313" y="3194050"/>
              <a:ext cx="0" cy="2794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26" name="Line 56"/>
            <p:cNvSpPr>
              <a:spLocks noChangeShapeType="1"/>
            </p:cNvSpPr>
            <p:nvPr/>
          </p:nvSpPr>
          <p:spPr bwMode="auto">
            <a:xfrm>
              <a:off x="5495925" y="3079750"/>
              <a:ext cx="0" cy="2079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27" name="Line 57"/>
            <p:cNvSpPr>
              <a:spLocks noChangeShapeType="1"/>
            </p:cNvSpPr>
            <p:nvPr/>
          </p:nvSpPr>
          <p:spPr bwMode="auto">
            <a:xfrm>
              <a:off x="5508625" y="3276600"/>
              <a:ext cx="157321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28" name="Line 58"/>
            <p:cNvSpPr>
              <a:spLocks noChangeShapeType="1"/>
            </p:cNvSpPr>
            <p:nvPr/>
          </p:nvSpPr>
          <p:spPr bwMode="auto">
            <a:xfrm flipV="1">
              <a:off x="7094538" y="1287463"/>
              <a:ext cx="0" cy="200025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29" name="Line 59"/>
            <p:cNvSpPr>
              <a:spLocks noChangeShapeType="1"/>
            </p:cNvSpPr>
            <p:nvPr/>
          </p:nvSpPr>
          <p:spPr bwMode="auto">
            <a:xfrm flipH="1">
              <a:off x="3790950" y="1296988"/>
              <a:ext cx="33162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30" name="Line 60"/>
            <p:cNvSpPr>
              <a:spLocks noChangeShapeType="1"/>
            </p:cNvSpPr>
            <p:nvPr/>
          </p:nvSpPr>
          <p:spPr bwMode="auto">
            <a:xfrm>
              <a:off x="4160838" y="3644900"/>
              <a:ext cx="1519237" cy="47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31" name="Line 61"/>
            <p:cNvSpPr>
              <a:spLocks noChangeShapeType="1"/>
            </p:cNvSpPr>
            <p:nvPr/>
          </p:nvSpPr>
          <p:spPr bwMode="auto">
            <a:xfrm>
              <a:off x="5665788" y="3643313"/>
              <a:ext cx="0" cy="58102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32" name="Line 62"/>
            <p:cNvSpPr>
              <a:spLocks noChangeShapeType="1"/>
            </p:cNvSpPr>
            <p:nvPr/>
          </p:nvSpPr>
          <p:spPr bwMode="auto">
            <a:xfrm flipH="1">
              <a:off x="2133600" y="3649663"/>
              <a:ext cx="15001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33" name="Line 63"/>
            <p:cNvSpPr>
              <a:spLocks noChangeShapeType="1"/>
            </p:cNvSpPr>
            <p:nvPr/>
          </p:nvSpPr>
          <p:spPr bwMode="auto">
            <a:xfrm>
              <a:off x="2127250" y="3659188"/>
              <a:ext cx="0" cy="5603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34" name="Line 64"/>
            <p:cNvSpPr>
              <a:spLocks noChangeShapeType="1"/>
            </p:cNvSpPr>
            <p:nvPr/>
          </p:nvSpPr>
          <p:spPr bwMode="auto">
            <a:xfrm>
              <a:off x="2276475" y="4343400"/>
              <a:ext cx="5730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35" name="Line 65"/>
            <p:cNvSpPr>
              <a:spLocks noChangeShapeType="1"/>
            </p:cNvSpPr>
            <p:nvPr/>
          </p:nvSpPr>
          <p:spPr bwMode="auto">
            <a:xfrm>
              <a:off x="2844800" y="4352925"/>
              <a:ext cx="0" cy="70643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36" name="Line 66"/>
            <p:cNvSpPr>
              <a:spLocks noChangeShapeType="1"/>
            </p:cNvSpPr>
            <p:nvPr/>
          </p:nvSpPr>
          <p:spPr bwMode="auto">
            <a:xfrm flipH="1">
              <a:off x="1409700" y="4343400"/>
              <a:ext cx="5794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37" name="Line 68"/>
            <p:cNvSpPr>
              <a:spLocks noChangeShapeType="1"/>
            </p:cNvSpPr>
            <p:nvPr/>
          </p:nvSpPr>
          <p:spPr bwMode="auto">
            <a:xfrm flipH="1">
              <a:off x="5029200" y="4352925"/>
              <a:ext cx="48577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38" name="Line 69"/>
            <p:cNvSpPr>
              <a:spLocks noChangeShapeType="1"/>
            </p:cNvSpPr>
            <p:nvPr/>
          </p:nvSpPr>
          <p:spPr bwMode="auto">
            <a:xfrm>
              <a:off x="5041900" y="4364038"/>
              <a:ext cx="0" cy="69532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39" name="Line 70"/>
            <p:cNvSpPr>
              <a:spLocks noChangeShapeType="1"/>
            </p:cNvSpPr>
            <p:nvPr/>
          </p:nvSpPr>
          <p:spPr bwMode="auto">
            <a:xfrm>
              <a:off x="5843588" y="4364038"/>
              <a:ext cx="34131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40" name="Line 71"/>
            <p:cNvSpPr>
              <a:spLocks noChangeShapeType="1"/>
            </p:cNvSpPr>
            <p:nvPr/>
          </p:nvSpPr>
          <p:spPr bwMode="auto">
            <a:xfrm>
              <a:off x="6199188" y="4373563"/>
              <a:ext cx="0" cy="69532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41" name="Line 72"/>
            <p:cNvSpPr>
              <a:spLocks noChangeShapeType="1"/>
            </p:cNvSpPr>
            <p:nvPr/>
          </p:nvSpPr>
          <p:spPr bwMode="auto">
            <a:xfrm>
              <a:off x="5054600" y="5295900"/>
              <a:ext cx="0" cy="33337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42" name="Line 73"/>
            <p:cNvSpPr>
              <a:spLocks noChangeShapeType="1"/>
            </p:cNvSpPr>
            <p:nvPr/>
          </p:nvSpPr>
          <p:spPr bwMode="auto">
            <a:xfrm>
              <a:off x="6199188" y="5295900"/>
              <a:ext cx="0" cy="33337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43" name="Line 74"/>
            <p:cNvSpPr>
              <a:spLocks noChangeShapeType="1"/>
            </p:cNvSpPr>
            <p:nvPr/>
          </p:nvSpPr>
          <p:spPr bwMode="auto">
            <a:xfrm>
              <a:off x="5732463" y="6130925"/>
              <a:ext cx="0" cy="28257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44" name="Line 75"/>
            <p:cNvSpPr>
              <a:spLocks noChangeShapeType="1"/>
            </p:cNvSpPr>
            <p:nvPr/>
          </p:nvSpPr>
          <p:spPr bwMode="auto">
            <a:xfrm flipH="1">
              <a:off x="692150" y="6423025"/>
              <a:ext cx="506571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45" name="Line 76"/>
            <p:cNvSpPr>
              <a:spLocks noChangeShapeType="1"/>
            </p:cNvSpPr>
            <p:nvPr/>
          </p:nvSpPr>
          <p:spPr bwMode="auto">
            <a:xfrm>
              <a:off x="1436688" y="5695950"/>
              <a:ext cx="0" cy="70643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46" name="Line 77"/>
            <p:cNvSpPr>
              <a:spLocks noChangeShapeType="1"/>
            </p:cNvSpPr>
            <p:nvPr/>
          </p:nvSpPr>
          <p:spPr bwMode="auto">
            <a:xfrm>
              <a:off x="2857500" y="5695950"/>
              <a:ext cx="0" cy="70802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47" name="Line 79"/>
            <p:cNvSpPr>
              <a:spLocks noChangeShapeType="1"/>
            </p:cNvSpPr>
            <p:nvPr/>
          </p:nvSpPr>
          <p:spPr bwMode="auto">
            <a:xfrm flipH="1">
              <a:off x="704850" y="1296988"/>
              <a:ext cx="31257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48" name="Rectangle 80"/>
            <p:cNvSpPr>
              <a:spLocks noChangeArrowheads="1"/>
            </p:cNvSpPr>
            <p:nvPr/>
          </p:nvSpPr>
          <p:spPr bwMode="auto">
            <a:xfrm>
              <a:off x="2262188" y="1312863"/>
              <a:ext cx="3681412" cy="428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=0(Instruction              		=1(Interrupt </a:t>
              </a:r>
            </a:p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     Cycle)                           	      Cycle)</a:t>
              </a:r>
            </a:p>
          </p:txBody>
        </p:sp>
        <p:sp>
          <p:nvSpPr>
            <p:cNvPr id="36949" name="Rectangle 81"/>
            <p:cNvSpPr>
              <a:spLocks noChangeArrowheads="1"/>
            </p:cNvSpPr>
            <p:nvPr/>
          </p:nvSpPr>
          <p:spPr bwMode="auto">
            <a:xfrm>
              <a:off x="1868488" y="3424238"/>
              <a:ext cx="4358566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=1(Register or I/O)             		 =0(Memory Ref)</a:t>
              </a:r>
            </a:p>
          </p:txBody>
        </p:sp>
        <p:sp>
          <p:nvSpPr>
            <p:cNvPr id="36950" name="Rectangle 83"/>
            <p:cNvSpPr>
              <a:spLocks noChangeArrowheads="1"/>
            </p:cNvSpPr>
            <p:nvPr/>
          </p:nvSpPr>
          <p:spPr bwMode="auto">
            <a:xfrm>
              <a:off x="6426200" y="5619750"/>
              <a:ext cx="580288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 D</a:t>
              </a:r>
              <a:r>
                <a:rPr lang="en-US" altLang="ko-KR" sz="1100" b="1" baseline="-25000">
                  <a:cs typeface="Arial" panose="020B0604020202020204" pitchFamily="34" charset="0"/>
                </a:rPr>
                <a:t>7</a:t>
              </a:r>
              <a:r>
                <a:rPr lang="en-US" altLang="ko-KR" sz="1100" b="1">
                  <a:cs typeface="Arial" panose="020B0604020202020204" pitchFamily="34" charset="0"/>
                </a:rPr>
                <a:t>’T4</a:t>
              </a:r>
            </a:p>
          </p:txBody>
        </p:sp>
        <p:sp>
          <p:nvSpPr>
            <p:cNvPr id="36951" name="Line 85"/>
            <p:cNvSpPr>
              <a:spLocks noChangeShapeType="1"/>
            </p:cNvSpPr>
            <p:nvPr/>
          </p:nvSpPr>
          <p:spPr bwMode="auto">
            <a:xfrm>
              <a:off x="1406525" y="4362450"/>
              <a:ext cx="0" cy="70643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52" name="Line 86"/>
            <p:cNvSpPr>
              <a:spLocks noChangeShapeType="1"/>
            </p:cNvSpPr>
            <p:nvPr/>
          </p:nvSpPr>
          <p:spPr bwMode="auto">
            <a:xfrm flipV="1">
              <a:off x="693738" y="1287463"/>
              <a:ext cx="0" cy="515302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6872" name="Rectangle 4"/>
          <p:cNvSpPr>
            <a:spLocks noChangeArrowheads="1"/>
          </p:cNvSpPr>
          <p:nvPr/>
        </p:nvSpPr>
        <p:spPr bwMode="auto">
          <a:xfrm>
            <a:off x="8302626" y="3738564"/>
            <a:ext cx="2670175" cy="909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 marL="609600" indent="-609600" defTabSz="1524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1524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1524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1524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1524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152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152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152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152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93000"/>
              </a:lnSpc>
            </a:pPr>
            <a:r>
              <a:rPr lang="en-US" altLang="ko-KR" sz="1200" b="1" i="1">
                <a:cs typeface="Arial" panose="020B0604020202020204" pitchFamily="34" charset="0"/>
              </a:rPr>
              <a:t>INPR</a:t>
            </a:r>
            <a:r>
              <a:rPr lang="en-US" altLang="ko-KR" sz="1200" b="1">
                <a:cs typeface="Arial" panose="020B0604020202020204" pitchFamily="34" charset="0"/>
              </a:rPr>
              <a:t>	Input register - 8 bits</a:t>
            </a:r>
          </a:p>
          <a:p>
            <a:pPr algn="just" eaLnBrk="1" hangingPunct="1">
              <a:lnSpc>
                <a:spcPct val="93000"/>
              </a:lnSpc>
            </a:pPr>
            <a:r>
              <a:rPr lang="en-US" altLang="ko-KR" sz="1200" b="1" i="1">
                <a:cs typeface="Arial" panose="020B0604020202020204" pitchFamily="34" charset="0"/>
              </a:rPr>
              <a:t>OUTR</a:t>
            </a:r>
            <a:r>
              <a:rPr lang="en-US" altLang="ko-KR" sz="1200" b="1">
                <a:cs typeface="Arial" panose="020B0604020202020204" pitchFamily="34" charset="0"/>
              </a:rPr>
              <a:t>	Output register - 8 bits</a:t>
            </a:r>
          </a:p>
          <a:p>
            <a:pPr algn="just" eaLnBrk="1" hangingPunct="1">
              <a:lnSpc>
                <a:spcPct val="93000"/>
              </a:lnSpc>
            </a:pPr>
            <a:r>
              <a:rPr lang="en-US" altLang="ko-KR" sz="1200" b="1" i="1">
                <a:cs typeface="Arial" panose="020B0604020202020204" pitchFamily="34" charset="0"/>
              </a:rPr>
              <a:t>FGI</a:t>
            </a:r>
            <a:r>
              <a:rPr lang="en-US" altLang="ko-KR" sz="1200" b="1">
                <a:cs typeface="Arial" panose="020B0604020202020204" pitchFamily="34" charset="0"/>
              </a:rPr>
              <a:t>	Input flag - 1 bit</a:t>
            </a:r>
          </a:p>
          <a:p>
            <a:pPr algn="just" eaLnBrk="1" hangingPunct="1">
              <a:lnSpc>
                <a:spcPct val="93000"/>
              </a:lnSpc>
            </a:pPr>
            <a:r>
              <a:rPr lang="en-US" altLang="ko-KR" sz="1200" b="1" i="1">
                <a:cs typeface="Arial" panose="020B0604020202020204" pitchFamily="34" charset="0"/>
              </a:rPr>
              <a:t>FGO</a:t>
            </a:r>
            <a:r>
              <a:rPr lang="en-US" altLang="ko-KR" sz="1200" b="1">
                <a:cs typeface="Arial" panose="020B0604020202020204" pitchFamily="34" charset="0"/>
              </a:rPr>
              <a:t>	Output flag - 1 bit</a:t>
            </a:r>
          </a:p>
          <a:p>
            <a:pPr algn="just" eaLnBrk="1" hangingPunct="1">
              <a:lnSpc>
                <a:spcPct val="93000"/>
              </a:lnSpc>
            </a:pPr>
            <a:r>
              <a:rPr lang="en-US" altLang="ko-KR" sz="1200" b="1" i="1">
                <a:cs typeface="Arial" panose="020B0604020202020204" pitchFamily="34" charset="0"/>
              </a:rPr>
              <a:t>IEN</a:t>
            </a:r>
            <a:r>
              <a:rPr lang="en-US" altLang="ko-KR" sz="1200" b="1">
                <a:cs typeface="Arial" panose="020B0604020202020204" pitchFamily="34" charset="0"/>
              </a:rPr>
              <a:t>	Interrupt enable - 1 bit</a:t>
            </a:r>
          </a:p>
        </p:txBody>
      </p:sp>
    </p:spTree>
    <p:extLst>
      <p:ext uri="{BB962C8B-B14F-4D97-AF65-F5344CB8AC3E}">
        <p14:creationId xmlns:p14="http://schemas.microsoft.com/office/powerpoint/2010/main" val="60414454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7892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894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Complete Computer Design</a:t>
            </a:r>
          </a:p>
        </p:txBody>
      </p:sp>
      <p:sp>
        <p:nvSpPr>
          <p:cNvPr id="37895" name="Rectangle 4"/>
          <p:cNvSpPr>
            <a:spLocks noChangeArrowheads="1"/>
          </p:cNvSpPr>
          <p:nvPr/>
        </p:nvSpPr>
        <p:spPr bwMode="auto">
          <a:xfrm>
            <a:off x="2743200" y="1433514"/>
            <a:ext cx="1563688" cy="4891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Fetch</a:t>
            </a:r>
          </a:p>
          <a:p>
            <a:pPr eaLnBrk="1" hangingPunct="1"/>
            <a:endParaRPr lang="en-US" altLang="ko-KR" sz="1200" b="1"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Decode</a:t>
            </a:r>
          </a:p>
          <a:p>
            <a:pPr eaLnBrk="1" hangingPunct="1"/>
            <a:endParaRPr lang="en-US" altLang="ko-KR" sz="1200" b="1"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Indirect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Interrupt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                            </a:t>
            </a:r>
          </a:p>
          <a:p>
            <a:pPr eaLnBrk="1" hangingPunct="1"/>
            <a:endParaRPr lang="en-US" altLang="ko-KR" sz="1200" b="1">
              <a:cs typeface="Arial" panose="020B0604020202020204" pitchFamily="34" charset="0"/>
            </a:endParaRPr>
          </a:p>
          <a:p>
            <a:pPr eaLnBrk="1" hangingPunct="1"/>
            <a:endParaRPr lang="en-US" altLang="ko-KR" sz="1200" b="1">
              <a:cs typeface="Arial" panose="020B0604020202020204" pitchFamily="34" charset="0"/>
            </a:endParaRPr>
          </a:p>
          <a:p>
            <a:pPr eaLnBrk="1" hangingPunct="1"/>
            <a:endParaRPr lang="en-US" altLang="ko-KR" sz="1200" b="1"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Memory-Reference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  AND</a:t>
            </a:r>
          </a:p>
          <a:p>
            <a:pPr eaLnBrk="1" hangingPunct="1"/>
            <a:endParaRPr lang="en-US" altLang="ko-KR" sz="1200" b="1"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  ADD</a:t>
            </a:r>
          </a:p>
          <a:p>
            <a:pPr eaLnBrk="1" hangingPunct="1"/>
            <a:endParaRPr lang="en-US" altLang="ko-KR" sz="1200" b="1"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  LDA</a:t>
            </a:r>
          </a:p>
          <a:p>
            <a:pPr eaLnBrk="1" hangingPunct="1"/>
            <a:endParaRPr lang="en-US" altLang="ko-KR" sz="1200" b="1"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  STA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  BUN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  BSA</a:t>
            </a:r>
          </a:p>
          <a:p>
            <a:pPr eaLnBrk="1" hangingPunct="1"/>
            <a:endParaRPr lang="en-US" altLang="ko-KR" sz="1200" b="1"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  ISZ</a:t>
            </a:r>
          </a:p>
          <a:p>
            <a:pPr eaLnBrk="1" hangingPunct="1"/>
            <a:endParaRPr lang="en-US" altLang="ko-KR" sz="1200" b="1">
              <a:cs typeface="Arial" panose="020B0604020202020204" pitchFamily="34" charset="0"/>
            </a:endParaRPr>
          </a:p>
          <a:p>
            <a:pPr eaLnBrk="1" hangingPunct="1"/>
            <a:endParaRPr lang="en-US" altLang="ko-KR" sz="1200" b="1">
              <a:cs typeface="Arial" panose="020B0604020202020204" pitchFamily="34" charset="0"/>
            </a:endParaRPr>
          </a:p>
          <a:p>
            <a:pPr eaLnBrk="1" hangingPunct="1"/>
            <a:endParaRPr lang="en-US" altLang="ko-KR" sz="1200" b="1">
              <a:cs typeface="Arial" panose="020B0604020202020204" pitchFamily="34" charset="0"/>
            </a:endParaRPr>
          </a:p>
          <a:p>
            <a:pPr eaLnBrk="1" latinLnBrk="1" hangingPunct="1"/>
            <a:endParaRPr lang="en-US" altLang="ko-KR" sz="1200" b="1">
              <a:cs typeface="Arial" panose="020B0604020202020204" pitchFamily="34" charset="0"/>
            </a:endParaRPr>
          </a:p>
        </p:txBody>
      </p:sp>
      <p:sp>
        <p:nvSpPr>
          <p:cNvPr id="37896" name="Rectangle 5"/>
          <p:cNvSpPr>
            <a:spLocks noChangeArrowheads="1"/>
          </p:cNvSpPr>
          <p:nvPr/>
        </p:nvSpPr>
        <p:spPr bwMode="auto">
          <a:xfrm>
            <a:off x="4281489" y="1433513"/>
            <a:ext cx="1184275" cy="452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R</a:t>
            </a:r>
            <a:r>
              <a:rPr lang="en-US" altLang="ko-KR" sz="1200" b="1">
                <a:cs typeface="Arial" panose="020B0604020202020204" pitchFamily="34" charset="0"/>
                <a:sym typeface="Symbol" panose="05050102010706020507" pitchFamily="18" charset="2"/>
              </a:rPr>
              <a:t></a:t>
            </a:r>
            <a:r>
              <a:rPr lang="en-US" altLang="ko-KR" sz="1200" b="1">
                <a:cs typeface="Arial" panose="020B0604020202020204" pitchFamily="34" charset="0"/>
              </a:rPr>
              <a:t>T</a:t>
            </a:r>
            <a:r>
              <a:rPr lang="en-US" altLang="ko-KR" sz="1200" b="1" baseline="-25000">
                <a:cs typeface="Arial" panose="020B0604020202020204" pitchFamily="34" charset="0"/>
              </a:rPr>
              <a:t>0</a:t>
            </a:r>
            <a:r>
              <a:rPr lang="en-US" altLang="ko-KR" sz="1200" b="1">
                <a:cs typeface="Arial" panose="020B0604020202020204" pitchFamily="34" charset="0"/>
              </a:rPr>
              <a:t>:      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R</a:t>
            </a:r>
            <a:r>
              <a:rPr lang="en-US" altLang="ko-KR" sz="1200" b="1">
                <a:cs typeface="Arial" panose="020B0604020202020204" pitchFamily="34" charset="0"/>
                <a:sym typeface="Symbol" panose="05050102010706020507" pitchFamily="18" charset="2"/>
              </a:rPr>
              <a:t></a:t>
            </a:r>
            <a:r>
              <a:rPr lang="en-US" altLang="ko-KR" sz="1200" b="1">
                <a:cs typeface="Arial" panose="020B0604020202020204" pitchFamily="34" charset="0"/>
              </a:rPr>
              <a:t>T</a:t>
            </a:r>
            <a:r>
              <a:rPr lang="en-US" altLang="ko-KR" sz="1200" b="1" baseline="-25000">
                <a:cs typeface="Arial" panose="020B0604020202020204" pitchFamily="34" charset="0"/>
              </a:rPr>
              <a:t>1</a:t>
            </a:r>
            <a:r>
              <a:rPr lang="en-US" altLang="ko-KR" sz="1200" b="1">
                <a:cs typeface="Arial" panose="020B0604020202020204" pitchFamily="34" charset="0"/>
              </a:rPr>
              <a:t>: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R</a:t>
            </a:r>
            <a:r>
              <a:rPr lang="en-US" altLang="ko-KR" sz="1200" b="1">
                <a:cs typeface="Arial" panose="020B0604020202020204" pitchFamily="34" charset="0"/>
                <a:sym typeface="Symbol" panose="05050102010706020507" pitchFamily="18" charset="2"/>
              </a:rPr>
              <a:t></a:t>
            </a:r>
            <a:r>
              <a:rPr lang="en-US" altLang="ko-KR" sz="1200" b="1">
                <a:cs typeface="Arial" panose="020B0604020202020204" pitchFamily="34" charset="0"/>
              </a:rPr>
              <a:t>T</a:t>
            </a:r>
            <a:r>
              <a:rPr lang="en-US" altLang="ko-KR" sz="1200" b="1" baseline="-25000">
                <a:cs typeface="Arial" panose="020B0604020202020204" pitchFamily="34" charset="0"/>
              </a:rPr>
              <a:t>2</a:t>
            </a:r>
            <a:r>
              <a:rPr lang="en-US" altLang="ko-KR" sz="1200" b="1">
                <a:cs typeface="Arial" panose="020B0604020202020204" pitchFamily="34" charset="0"/>
              </a:rPr>
              <a:t>:</a:t>
            </a:r>
          </a:p>
          <a:p>
            <a:pPr eaLnBrk="1" hangingPunct="1"/>
            <a:endParaRPr lang="en-US" altLang="ko-KR" sz="1200" b="1"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D</a:t>
            </a:r>
            <a:r>
              <a:rPr lang="en-US" altLang="ko-KR" sz="1200" b="1" baseline="-25000">
                <a:cs typeface="Arial" panose="020B0604020202020204" pitchFamily="34" charset="0"/>
              </a:rPr>
              <a:t>7</a:t>
            </a:r>
            <a:r>
              <a:rPr lang="en-US" altLang="ko-KR" sz="1200" b="1">
                <a:cs typeface="Arial" panose="020B0604020202020204" pitchFamily="34" charset="0"/>
                <a:sym typeface="Symbol" panose="05050102010706020507" pitchFamily="18" charset="2"/>
              </a:rPr>
              <a:t></a:t>
            </a:r>
            <a:r>
              <a:rPr lang="en-US" altLang="ko-KR" sz="1200" b="1">
                <a:cs typeface="Arial" panose="020B0604020202020204" pitchFamily="34" charset="0"/>
              </a:rPr>
              <a:t>IT</a:t>
            </a:r>
            <a:r>
              <a:rPr lang="en-US" altLang="ko-KR" sz="1200" b="1" baseline="-25000">
                <a:cs typeface="Arial" panose="020B0604020202020204" pitchFamily="34" charset="0"/>
              </a:rPr>
              <a:t>3</a:t>
            </a:r>
            <a:r>
              <a:rPr lang="en-US" altLang="ko-KR" sz="1200" b="1">
                <a:cs typeface="Arial" panose="020B0604020202020204" pitchFamily="34" charset="0"/>
              </a:rPr>
              <a:t>:</a:t>
            </a:r>
          </a:p>
          <a:p>
            <a:pPr eaLnBrk="1" hangingPunct="1"/>
            <a:endParaRPr lang="en-US" altLang="ko-KR" sz="1200" b="1">
              <a:cs typeface="Arial" panose="020B0604020202020204" pitchFamily="34" charset="0"/>
            </a:endParaRPr>
          </a:p>
          <a:p>
            <a:pPr eaLnBrk="1" hangingPunct="1"/>
            <a:endParaRPr lang="en-US" altLang="ko-KR" sz="1200" b="1"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RT</a:t>
            </a:r>
            <a:r>
              <a:rPr lang="en-US" altLang="ko-KR" sz="1200" b="1" baseline="-25000">
                <a:cs typeface="Arial" panose="020B0604020202020204" pitchFamily="34" charset="0"/>
              </a:rPr>
              <a:t>0</a:t>
            </a:r>
            <a:r>
              <a:rPr lang="en-US" altLang="ko-KR" sz="1200" b="1">
                <a:cs typeface="Arial" panose="020B0604020202020204" pitchFamily="34" charset="0"/>
              </a:rPr>
              <a:t>: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RT</a:t>
            </a:r>
            <a:r>
              <a:rPr lang="en-US" altLang="ko-KR" sz="1200" b="1" baseline="-25000">
                <a:cs typeface="Arial" panose="020B0604020202020204" pitchFamily="34" charset="0"/>
              </a:rPr>
              <a:t>1</a:t>
            </a:r>
            <a:r>
              <a:rPr lang="en-US" altLang="ko-KR" sz="1200" b="1">
                <a:cs typeface="Arial" panose="020B0604020202020204" pitchFamily="34" charset="0"/>
              </a:rPr>
              <a:t>: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RT</a:t>
            </a:r>
            <a:r>
              <a:rPr lang="en-US" altLang="ko-KR" sz="1200" b="1" baseline="-25000">
                <a:cs typeface="Arial" panose="020B0604020202020204" pitchFamily="34" charset="0"/>
              </a:rPr>
              <a:t>2</a:t>
            </a:r>
            <a:r>
              <a:rPr lang="en-US" altLang="ko-KR" sz="1200" b="1">
                <a:cs typeface="Arial" panose="020B0604020202020204" pitchFamily="34" charset="0"/>
              </a:rPr>
              <a:t>:</a:t>
            </a:r>
          </a:p>
          <a:p>
            <a:pPr eaLnBrk="1" hangingPunct="1"/>
            <a:endParaRPr lang="en-US" altLang="ko-KR" sz="1200" b="1"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D</a:t>
            </a:r>
            <a:r>
              <a:rPr lang="en-US" altLang="ko-KR" sz="1200" b="1" baseline="-25000">
                <a:cs typeface="Arial" panose="020B0604020202020204" pitchFamily="34" charset="0"/>
              </a:rPr>
              <a:t>0</a:t>
            </a:r>
            <a:r>
              <a:rPr lang="en-US" altLang="ko-KR" sz="1200" b="1">
                <a:cs typeface="Arial" panose="020B0604020202020204" pitchFamily="34" charset="0"/>
              </a:rPr>
              <a:t>T</a:t>
            </a:r>
            <a:r>
              <a:rPr lang="en-US" altLang="ko-KR" sz="1200" b="1" baseline="-25000">
                <a:cs typeface="Arial" panose="020B0604020202020204" pitchFamily="34" charset="0"/>
              </a:rPr>
              <a:t>4</a:t>
            </a:r>
            <a:r>
              <a:rPr lang="en-US" altLang="ko-KR" sz="1200" b="1">
                <a:cs typeface="Arial" panose="020B0604020202020204" pitchFamily="34" charset="0"/>
              </a:rPr>
              <a:t>: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D</a:t>
            </a:r>
            <a:r>
              <a:rPr lang="en-US" altLang="ko-KR" sz="1200" b="1" baseline="-25000">
                <a:cs typeface="Arial" panose="020B0604020202020204" pitchFamily="34" charset="0"/>
              </a:rPr>
              <a:t>0</a:t>
            </a:r>
            <a:r>
              <a:rPr lang="en-US" altLang="ko-KR" sz="1200" b="1">
                <a:cs typeface="Arial" panose="020B0604020202020204" pitchFamily="34" charset="0"/>
              </a:rPr>
              <a:t>T</a:t>
            </a:r>
            <a:r>
              <a:rPr lang="en-US" altLang="ko-KR" sz="1200" b="1" baseline="-25000">
                <a:cs typeface="Arial" panose="020B0604020202020204" pitchFamily="34" charset="0"/>
              </a:rPr>
              <a:t>5</a:t>
            </a:r>
            <a:r>
              <a:rPr lang="en-US" altLang="ko-KR" sz="1200" b="1">
                <a:cs typeface="Arial" panose="020B0604020202020204" pitchFamily="34" charset="0"/>
              </a:rPr>
              <a:t>: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D</a:t>
            </a:r>
            <a:r>
              <a:rPr lang="en-US" altLang="ko-KR" sz="1200" b="1" baseline="-25000">
                <a:cs typeface="Arial" panose="020B0604020202020204" pitchFamily="34" charset="0"/>
              </a:rPr>
              <a:t>1</a:t>
            </a:r>
            <a:r>
              <a:rPr lang="en-US" altLang="ko-KR" sz="1200" b="1">
                <a:cs typeface="Arial" panose="020B0604020202020204" pitchFamily="34" charset="0"/>
              </a:rPr>
              <a:t>T</a:t>
            </a:r>
            <a:r>
              <a:rPr lang="en-US" altLang="ko-KR" sz="1200" b="1" baseline="-25000">
                <a:cs typeface="Arial" panose="020B0604020202020204" pitchFamily="34" charset="0"/>
              </a:rPr>
              <a:t>4</a:t>
            </a:r>
            <a:r>
              <a:rPr lang="en-US" altLang="ko-KR" sz="1200" b="1">
                <a:cs typeface="Arial" panose="020B0604020202020204" pitchFamily="34" charset="0"/>
              </a:rPr>
              <a:t>: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D</a:t>
            </a:r>
            <a:r>
              <a:rPr lang="en-US" altLang="ko-KR" sz="1200" b="1" baseline="-25000">
                <a:cs typeface="Arial" panose="020B0604020202020204" pitchFamily="34" charset="0"/>
              </a:rPr>
              <a:t>1</a:t>
            </a:r>
            <a:r>
              <a:rPr lang="en-US" altLang="ko-KR" sz="1200" b="1">
                <a:cs typeface="Arial" panose="020B0604020202020204" pitchFamily="34" charset="0"/>
              </a:rPr>
              <a:t>T</a:t>
            </a:r>
            <a:r>
              <a:rPr lang="en-US" altLang="ko-KR" sz="1200" b="1" baseline="-25000">
                <a:cs typeface="Arial" panose="020B0604020202020204" pitchFamily="34" charset="0"/>
              </a:rPr>
              <a:t>5</a:t>
            </a:r>
            <a:r>
              <a:rPr lang="en-US" altLang="ko-KR" sz="1200" b="1">
                <a:cs typeface="Arial" panose="020B0604020202020204" pitchFamily="34" charset="0"/>
              </a:rPr>
              <a:t>: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D</a:t>
            </a:r>
            <a:r>
              <a:rPr lang="en-US" altLang="ko-KR" sz="1200" b="1" baseline="-25000">
                <a:cs typeface="Arial" panose="020B0604020202020204" pitchFamily="34" charset="0"/>
              </a:rPr>
              <a:t>2</a:t>
            </a:r>
            <a:r>
              <a:rPr lang="en-US" altLang="ko-KR" sz="1200" b="1">
                <a:cs typeface="Arial" panose="020B0604020202020204" pitchFamily="34" charset="0"/>
              </a:rPr>
              <a:t>T</a:t>
            </a:r>
            <a:r>
              <a:rPr lang="en-US" altLang="ko-KR" sz="1200" b="1" baseline="-25000">
                <a:cs typeface="Arial" panose="020B0604020202020204" pitchFamily="34" charset="0"/>
              </a:rPr>
              <a:t>4</a:t>
            </a:r>
            <a:r>
              <a:rPr lang="en-US" altLang="ko-KR" sz="1200" b="1">
                <a:cs typeface="Arial" panose="020B0604020202020204" pitchFamily="34" charset="0"/>
              </a:rPr>
              <a:t>: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D</a:t>
            </a:r>
            <a:r>
              <a:rPr lang="en-US" altLang="ko-KR" sz="1200" b="1" baseline="-25000">
                <a:cs typeface="Arial" panose="020B0604020202020204" pitchFamily="34" charset="0"/>
              </a:rPr>
              <a:t>2</a:t>
            </a:r>
            <a:r>
              <a:rPr lang="en-US" altLang="ko-KR" sz="1200" b="1">
                <a:cs typeface="Arial" panose="020B0604020202020204" pitchFamily="34" charset="0"/>
              </a:rPr>
              <a:t>T</a:t>
            </a:r>
            <a:r>
              <a:rPr lang="en-US" altLang="ko-KR" sz="1200" b="1" baseline="-25000">
                <a:cs typeface="Arial" panose="020B0604020202020204" pitchFamily="34" charset="0"/>
              </a:rPr>
              <a:t>5</a:t>
            </a:r>
            <a:r>
              <a:rPr lang="en-US" altLang="ko-KR" sz="1200" b="1">
                <a:cs typeface="Arial" panose="020B0604020202020204" pitchFamily="34" charset="0"/>
              </a:rPr>
              <a:t>: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D</a:t>
            </a:r>
            <a:r>
              <a:rPr lang="en-US" altLang="ko-KR" sz="1200" b="1" baseline="-25000">
                <a:cs typeface="Arial" panose="020B0604020202020204" pitchFamily="34" charset="0"/>
              </a:rPr>
              <a:t>3</a:t>
            </a:r>
            <a:r>
              <a:rPr lang="en-US" altLang="ko-KR" sz="1200" b="1">
                <a:cs typeface="Arial" panose="020B0604020202020204" pitchFamily="34" charset="0"/>
              </a:rPr>
              <a:t>T</a:t>
            </a:r>
            <a:r>
              <a:rPr lang="en-US" altLang="ko-KR" sz="1200" b="1" baseline="-25000">
                <a:cs typeface="Arial" panose="020B0604020202020204" pitchFamily="34" charset="0"/>
              </a:rPr>
              <a:t>4</a:t>
            </a:r>
            <a:r>
              <a:rPr lang="en-US" altLang="ko-KR" sz="1200" b="1">
                <a:cs typeface="Arial" panose="020B0604020202020204" pitchFamily="34" charset="0"/>
              </a:rPr>
              <a:t>: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D</a:t>
            </a:r>
            <a:r>
              <a:rPr lang="en-US" altLang="ko-KR" sz="1200" b="1" baseline="-25000">
                <a:cs typeface="Arial" panose="020B0604020202020204" pitchFamily="34" charset="0"/>
              </a:rPr>
              <a:t>4</a:t>
            </a:r>
            <a:r>
              <a:rPr lang="en-US" altLang="ko-KR" sz="1200" b="1">
                <a:cs typeface="Arial" panose="020B0604020202020204" pitchFamily="34" charset="0"/>
              </a:rPr>
              <a:t>T</a:t>
            </a:r>
            <a:r>
              <a:rPr lang="en-US" altLang="ko-KR" sz="1200" b="1" baseline="-25000">
                <a:cs typeface="Arial" panose="020B0604020202020204" pitchFamily="34" charset="0"/>
              </a:rPr>
              <a:t>4</a:t>
            </a:r>
            <a:r>
              <a:rPr lang="en-US" altLang="ko-KR" sz="1200" b="1">
                <a:cs typeface="Arial" panose="020B0604020202020204" pitchFamily="34" charset="0"/>
              </a:rPr>
              <a:t>: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D</a:t>
            </a:r>
            <a:r>
              <a:rPr lang="en-US" altLang="ko-KR" sz="1200" b="1" baseline="-25000">
                <a:cs typeface="Arial" panose="020B0604020202020204" pitchFamily="34" charset="0"/>
              </a:rPr>
              <a:t>5</a:t>
            </a:r>
            <a:r>
              <a:rPr lang="en-US" altLang="ko-KR" sz="1200" b="1">
                <a:cs typeface="Arial" panose="020B0604020202020204" pitchFamily="34" charset="0"/>
              </a:rPr>
              <a:t>T</a:t>
            </a:r>
            <a:r>
              <a:rPr lang="en-US" altLang="ko-KR" sz="1200" b="1" baseline="-25000">
                <a:cs typeface="Arial" panose="020B0604020202020204" pitchFamily="34" charset="0"/>
              </a:rPr>
              <a:t>4</a:t>
            </a:r>
            <a:r>
              <a:rPr lang="en-US" altLang="ko-KR" sz="1200" b="1">
                <a:cs typeface="Arial" panose="020B0604020202020204" pitchFamily="34" charset="0"/>
              </a:rPr>
              <a:t>: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D</a:t>
            </a:r>
            <a:r>
              <a:rPr lang="en-US" altLang="ko-KR" sz="1200" b="1" baseline="-25000">
                <a:cs typeface="Arial" panose="020B0604020202020204" pitchFamily="34" charset="0"/>
              </a:rPr>
              <a:t>5</a:t>
            </a:r>
            <a:r>
              <a:rPr lang="en-US" altLang="ko-KR" sz="1200" b="1">
                <a:cs typeface="Arial" panose="020B0604020202020204" pitchFamily="34" charset="0"/>
              </a:rPr>
              <a:t>T</a:t>
            </a:r>
            <a:r>
              <a:rPr lang="en-US" altLang="ko-KR" sz="1200" b="1" baseline="-25000">
                <a:cs typeface="Arial" panose="020B0604020202020204" pitchFamily="34" charset="0"/>
              </a:rPr>
              <a:t>5</a:t>
            </a:r>
            <a:r>
              <a:rPr lang="en-US" altLang="ko-KR" sz="1200" b="1">
                <a:cs typeface="Arial" panose="020B0604020202020204" pitchFamily="34" charset="0"/>
              </a:rPr>
              <a:t>: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D</a:t>
            </a:r>
            <a:r>
              <a:rPr lang="en-US" altLang="ko-KR" sz="1200" b="1" baseline="-25000">
                <a:cs typeface="Arial" panose="020B0604020202020204" pitchFamily="34" charset="0"/>
              </a:rPr>
              <a:t>6</a:t>
            </a:r>
            <a:r>
              <a:rPr lang="en-US" altLang="ko-KR" sz="1200" b="1">
                <a:cs typeface="Arial" panose="020B0604020202020204" pitchFamily="34" charset="0"/>
              </a:rPr>
              <a:t>T</a:t>
            </a:r>
            <a:r>
              <a:rPr lang="en-US" altLang="ko-KR" sz="1200" b="1" baseline="-25000">
                <a:cs typeface="Arial" panose="020B0604020202020204" pitchFamily="34" charset="0"/>
              </a:rPr>
              <a:t>4</a:t>
            </a:r>
            <a:r>
              <a:rPr lang="en-US" altLang="ko-KR" sz="1200" b="1">
                <a:cs typeface="Arial" panose="020B0604020202020204" pitchFamily="34" charset="0"/>
              </a:rPr>
              <a:t>: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D</a:t>
            </a:r>
            <a:r>
              <a:rPr lang="en-US" altLang="ko-KR" sz="1200" b="1" baseline="-25000">
                <a:cs typeface="Arial" panose="020B0604020202020204" pitchFamily="34" charset="0"/>
              </a:rPr>
              <a:t>6</a:t>
            </a:r>
            <a:r>
              <a:rPr lang="en-US" altLang="ko-KR" sz="1200" b="1">
                <a:cs typeface="Arial" panose="020B0604020202020204" pitchFamily="34" charset="0"/>
              </a:rPr>
              <a:t>T</a:t>
            </a:r>
            <a:r>
              <a:rPr lang="en-US" altLang="ko-KR" sz="1200" b="1" baseline="-25000">
                <a:cs typeface="Arial" panose="020B0604020202020204" pitchFamily="34" charset="0"/>
              </a:rPr>
              <a:t>5</a:t>
            </a:r>
            <a:r>
              <a:rPr lang="en-US" altLang="ko-KR" sz="1200" b="1">
                <a:cs typeface="Arial" panose="020B0604020202020204" pitchFamily="34" charset="0"/>
              </a:rPr>
              <a:t>: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D</a:t>
            </a:r>
            <a:r>
              <a:rPr lang="en-US" altLang="ko-KR" sz="1200" b="1" baseline="-25000">
                <a:cs typeface="Arial" panose="020B0604020202020204" pitchFamily="34" charset="0"/>
              </a:rPr>
              <a:t>6</a:t>
            </a:r>
            <a:r>
              <a:rPr lang="en-US" altLang="ko-KR" sz="1200" b="1">
                <a:cs typeface="Arial" panose="020B0604020202020204" pitchFamily="34" charset="0"/>
              </a:rPr>
              <a:t>T</a:t>
            </a:r>
            <a:r>
              <a:rPr lang="en-US" altLang="ko-KR" sz="1200" b="1" baseline="-25000">
                <a:cs typeface="Arial" panose="020B0604020202020204" pitchFamily="34" charset="0"/>
              </a:rPr>
              <a:t>6</a:t>
            </a:r>
            <a:r>
              <a:rPr lang="en-US" altLang="ko-KR" sz="1200" b="1">
                <a:cs typeface="Arial" panose="020B0604020202020204" pitchFamily="34" charset="0"/>
              </a:rPr>
              <a:t>:</a:t>
            </a:r>
          </a:p>
        </p:txBody>
      </p:sp>
      <p:sp>
        <p:nvSpPr>
          <p:cNvPr id="37897" name="Rectangle 6"/>
          <p:cNvSpPr>
            <a:spLocks noChangeArrowheads="1"/>
          </p:cNvSpPr>
          <p:nvPr/>
        </p:nvSpPr>
        <p:spPr bwMode="auto">
          <a:xfrm>
            <a:off x="5608638" y="1433514"/>
            <a:ext cx="3344862" cy="4706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AR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PC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IR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M[AR], PC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PC + 1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D0, ..., D7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Decode IR(12 ~ 14), 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	AR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IR(0 ~ 11), I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IR(15)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AR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M[AR]</a:t>
            </a:r>
          </a:p>
          <a:p>
            <a:pPr eaLnBrk="1" hangingPunct="1"/>
            <a:endParaRPr lang="en-US" altLang="ko-KR" sz="1200" b="1"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R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1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AR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0, TR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PC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M[AR]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TR, PC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0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PC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PC + 1, IEN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0, R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0, SC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0</a:t>
            </a:r>
          </a:p>
          <a:p>
            <a:pPr eaLnBrk="1" hangingPunct="1"/>
            <a:endParaRPr lang="en-US" altLang="ko-KR" sz="1200" b="1"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DR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M[AR]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AC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AC </a:t>
            </a:r>
            <a:r>
              <a:rPr lang="en-US" altLang="ko-KR" sz="1200" b="1">
                <a:cs typeface="Arial" panose="020B0604020202020204" pitchFamily="34" charset="0"/>
                <a:sym typeface="Symbol" panose="05050102010706020507" pitchFamily="18" charset="2"/>
              </a:rPr>
              <a:t></a:t>
            </a:r>
            <a:r>
              <a:rPr lang="en-US" altLang="ko-KR" sz="1200" b="1">
                <a:cs typeface="Arial" panose="020B0604020202020204" pitchFamily="34" charset="0"/>
              </a:rPr>
              <a:t> DR, SC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0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DR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M[AR]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AC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AC + DR, E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C</a:t>
            </a:r>
            <a:r>
              <a:rPr lang="en-US" altLang="ko-KR" sz="1200" b="1" baseline="-25000">
                <a:cs typeface="Arial" panose="020B0604020202020204" pitchFamily="34" charset="0"/>
              </a:rPr>
              <a:t>out</a:t>
            </a:r>
            <a:r>
              <a:rPr lang="en-US" altLang="ko-KR" sz="1200" b="1">
                <a:cs typeface="Arial" panose="020B0604020202020204" pitchFamily="34" charset="0"/>
              </a:rPr>
              <a:t>, SC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0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DR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M[AR]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AC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DR, SC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0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M[AR]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AC, SC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0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PC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AR, SC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0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M[AR]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PC, AR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AR + 1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PC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AR, SC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0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DR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M[AR]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DR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DR + 1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M[AR]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DR,  if(DR=0) then (PC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PC + 1), 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SC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0</a:t>
            </a:r>
          </a:p>
        </p:txBody>
      </p:sp>
      <p:sp>
        <p:nvSpPr>
          <p:cNvPr id="37898" name="Rectangle 9"/>
          <p:cNvSpPr>
            <a:spLocks noChangeArrowheads="1"/>
          </p:cNvSpPr>
          <p:nvPr/>
        </p:nvSpPr>
        <p:spPr bwMode="auto">
          <a:xfrm>
            <a:off x="2628901" y="1238250"/>
            <a:ext cx="7038975" cy="5010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200" b="1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124393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8916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918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Complete Computer Design</a:t>
            </a:r>
          </a:p>
        </p:txBody>
      </p:sp>
      <p:sp>
        <p:nvSpPr>
          <p:cNvPr id="38919" name="Rectangle 3"/>
          <p:cNvSpPr>
            <a:spLocks noChangeArrowheads="1"/>
          </p:cNvSpPr>
          <p:nvPr/>
        </p:nvSpPr>
        <p:spPr bwMode="auto">
          <a:xfrm>
            <a:off x="2463800" y="1250950"/>
            <a:ext cx="1589088" cy="4891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Register-Reference</a:t>
            </a:r>
          </a:p>
          <a:p>
            <a:pPr eaLnBrk="1" hangingPunct="1"/>
            <a:endParaRPr lang="en-US" altLang="ko-KR" sz="1200" b="1">
              <a:cs typeface="Arial" panose="020B0604020202020204" pitchFamily="34" charset="0"/>
            </a:endParaRPr>
          </a:p>
          <a:p>
            <a:pPr eaLnBrk="1" hangingPunct="1"/>
            <a:endParaRPr lang="en-US" altLang="ko-KR" sz="1200" b="1">
              <a:cs typeface="Arial" panose="020B0604020202020204" pitchFamily="34" charset="0"/>
            </a:endParaRPr>
          </a:p>
          <a:p>
            <a:pPr eaLnBrk="1" hangingPunct="1"/>
            <a:endParaRPr lang="en-US" altLang="ko-KR" sz="1200" b="1"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  CLA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  CLE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  CMA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  CME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  CIR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  CIL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  INC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  SPA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  SNA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  SZA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  SZE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  HLT</a:t>
            </a:r>
          </a:p>
          <a:p>
            <a:pPr eaLnBrk="1" hangingPunct="1"/>
            <a:endParaRPr lang="en-US" altLang="ko-KR" sz="1200" b="1"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Input-Output</a:t>
            </a:r>
          </a:p>
          <a:p>
            <a:pPr eaLnBrk="1" hangingPunct="1"/>
            <a:endParaRPr lang="en-US" altLang="ko-KR" sz="1200" b="1">
              <a:cs typeface="Arial" panose="020B0604020202020204" pitchFamily="34" charset="0"/>
            </a:endParaRPr>
          </a:p>
          <a:p>
            <a:pPr eaLnBrk="1" hangingPunct="1"/>
            <a:endParaRPr lang="en-US" altLang="ko-KR" sz="1200" b="1"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  INP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  OUT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  SKI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  SKO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  ION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  IOF</a:t>
            </a:r>
          </a:p>
        </p:txBody>
      </p:sp>
      <p:sp>
        <p:nvSpPr>
          <p:cNvPr id="38920" name="Rectangle 4"/>
          <p:cNvSpPr>
            <a:spLocks noChangeArrowheads="1"/>
          </p:cNvSpPr>
          <p:nvPr/>
        </p:nvSpPr>
        <p:spPr bwMode="auto">
          <a:xfrm>
            <a:off x="3930650" y="1250950"/>
            <a:ext cx="1187450" cy="4891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ko-KR" sz="1200" b="1"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D</a:t>
            </a:r>
            <a:r>
              <a:rPr lang="en-US" altLang="ko-KR" sz="1200" b="1" baseline="-25000">
                <a:cs typeface="Arial" panose="020B0604020202020204" pitchFamily="34" charset="0"/>
              </a:rPr>
              <a:t>7</a:t>
            </a:r>
            <a:r>
              <a:rPr lang="en-US" altLang="ko-KR" sz="1200" b="1">
                <a:cs typeface="Arial" panose="020B0604020202020204" pitchFamily="34" charset="0"/>
              </a:rPr>
              <a:t>I</a:t>
            </a:r>
            <a:r>
              <a:rPr lang="en-US" altLang="ko-KR" sz="1200" b="1">
                <a:cs typeface="Arial" panose="020B0604020202020204" pitchFamily="34" charset="0"/>
                <a:sym typeface="Symbol" panose="05050102010706020507" pitchFamily="18" charset="2"/>
              </a:rPr>
              <a:t></a:t>
            </a:r>
            <a:r>
              <a:rPr lang="en-US" altLang="ko-KR" sz="1200" b="1">
                <a:cs typeface="Arial" panose="020B0604020202020204" pitchFamily="34" charset="0"/>
              </a:rPr>
              <a:t>T</a:t>
            </a:r>
            <a:r>
              <a:rPr lang="en-US" altLang="ko-KR" sz="1200" b="1" baseline="-25000">
                <a:cs typeface="Arial" panose="020B0604020202020204" pitchFamily="34" charset="0"/>
              </a:rPr>
              <a:t>3</a:t>
            </a:r>
            <a:r>
              <a:rPr lang="en-US" altLang="ko-KR" sz="1200" b="1">
                <a:cs typeface="Arial" panose="020B0604020202020204" pitchFamily="34" charset="0"/>
              </a:rPr>
              <a:t> = r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IR(i) = B</a:t>
            </a:r>
            <a:r>
              <a:rPr lang="en-US" altLang="ko-KR" sz="1200" b="1" baseline="-25000">
                <a:cs typeface="Arial" panose="020B0604020202020204" pitchFamily="34" charset="0"/>
              </a:rPr>
              <a:t>i</a:t>
            </a:r>
            <a:r>
              <a:rPr lang="en-US" altLang="ko-KR" sz="1200" b="1">
                <a:cs typeface="Arial" panose="020B0604020202020204" pitchFamily="34" charset="0"/>
              </a:rPr>
              <a:t>       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r: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rB</a:t>
            </a:r>
            <a:r>
              <a:rPr lang="en-US" altLang="ko-KR" sz="1200" b="1" baseline="-25000">
                <a:cs typeface="Arial" panose="020B0604020202020204" pitchFamily="34" charset="0"/>
              </a:rPr>
              <a:t>11</a:t>
            </a:r>
            <a:r>
              <a:rPr lang="en-US" altLang="ko-KR" sz="1200" b="1">
                <a:cs typeface="Arial" panose="020B0604020202020204" pitchFamily="34" charset="0"/>
              </a:rPr>
              <a:t>: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rB</a:t>
            </a:r>
            <a:r>
              <a:rPr lang="en-US" altLang="ko-KR" sz="1200" b="1" baseline="-25000">
                <a:cs typeface="Arial" panose="020B0604020202020204" pitchFamily="34" charset="0"/>
              </a:rPr>
              <a:t>10</a:t>
            </a:r>
            <a:r>
              <a:rPr lang="en-US" altLang="ko-KR" sz="1200" b="1">
                <a:cs typeface="Arial" panose="020B0604020202020204" pitchFamily="34" charset="0"/>
              </a:rPr>
              <a:t>: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rB</a:t>
            </a:r>
            <a:r>
              <a:rPr lang="en-US" altLang="ko-KR" sz="1200" b="1" baseline="-25000">
                <a:cs typeface="Arial" panose="020B0604020202020204" pitchFamily="34" charset="0"/>
              </a:rPr>
              <a:t>9</a:t>
            </a:r>
            <a:r>
              <a:rPr lang="en-US" altLang="ko-KR" sz="1200" b="1">
                <a:cs typeface="Arial" panose="020B0604020202020204" pitchFamily="34" charset="0"/>
              </a:rPr>
              <a:t>: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rB</a:t>
            </a:r>
            <a:r>
              <a:rPr lang="en-US" altLang="ko-KR" sz="1200" b="1" baseline="-25000">
                <a:cs typeface="Arial" panose="020B0604020202020204" pitchFamily="34" charset="0"/>
              </a:rPr>
              <a:t>8</a:t>
            </a:r>
            <a:r>
              <a:rPr lang="en-US" altLang="ko-KR" sz="1200" b="1">
                <a:cs typeface="Arial" panose="020B0604020202020204" pitchFamily="34" charset="0"/>
              </a:rPr>
              <a:t>: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rB</a:t>
            </a:r>
            <a:r>
              <a:rPr lang="en-US" altLang="ko-KR" sz="1200" b="1" baseline="-25000">
                <a:cs typeface="Arial" panose="020B0604020202020204" pitchFamily="34" charset="0"/>
              </a:rPr>
              <a:t>7</a:t>
            </a:r>
            <a:r>
              <a:rPr lang="en-US" altLang="ko-KR" sz="1200" b="1">
                <a:cs typeface="Arial" panose="020B0604020202020204" pitchFamily="34" charset="0"/>
              </a:rPr>
              <a:t>: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rB</a:t>
            </a:r>
            <a:r>
              <a:rPr lang="en-US" altLang="ko-KR" sz="1200" b="1" baseline="-25000">
                <a:cs typeface="Arial" panose="020B0604020202020204" pitchFamily="34" charset="0"/>
              </a:rPr>
              <a:t>6</a:t>
            </a:r>
            <a:r>
              <a:rPr lang="en-US" altLang="ko-KR" sz="1200" b="1">
                <a:cs typeface="Arial" panose="020B0604020202020204" pitchFamily="34" charset="0"/>
              </a:rPr>
              <a:t>: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rB</a:t>
            </a:r>
            <a:r>
              <a:rPr lang="en-US" altLang="ko-KR" sz="1200" b="1" baseline="-25000">
                <a:cs typeface="Arial" panose="020B0604020202020204" pitchFamily="34" charset="0"/>
              </a:rPr>
              <a:t>5</a:t>
            </a:r>
            <a:r>
              <a:rPr lang="en-US" altLang="ko-KR" sz="1200" b="1">
                <a:cs typeface="Arial" panose="020B0604020202020204" pitchFamily="34" charset="0"/>
              </a:rPr>
              <a:t>: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rB</a:t>
            </a:r>
            <a:r>
              <a:rPr lang="en-US" altLang="ko-KR" sz="1200" b="1" baseline="-25000">
                <a:cs typeface="Arial" panose="020B0604020202020204" pitchFamily="34" charset="0"/>
              </a:rPr>
              <a:t>4</a:t>
            </a:r>
            <a:r>
              <a:rPr lang="en-US" altLang="ko-KR" sz="1200" b="1">
                <a:cs typeface="Arial" panose="020B0604020202020204" pitchFamily="34" charset="0"/>
              </a:rPr>
              <a:t>: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rB</a:t>
            </a:r>
            <a:r>
              <a:rPr lang="en-US" altLang="ko-KR" sz="1200" b="1" baseline="-25000">
                <a:cs typeface="Arial" panose="020B0604020202020204" pitchFamily="34" charset="0"/>
              </a:rPr>
              <a:t>3</a:t>
            </a:r>
            <a:r>
              <a:rPr lang="en-US" altLang="ko-KR" sz="1200" b="1">
                <a:cs typeface="Arial" panose="020B0604020202020204" pitchFamily="34" charset="0"/>
              </a:rPr>
              <a:t>: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rB</a:t>
            </a:r>
            <a:r>
              <a:rPr lang="en-US" altLang="ko-KR" sz="1200" b="1" baseline="-25000">
                <a:cs typeface="Arial" panose="020B0604020202020204" pitchFamily="34" charset="0"/>
              </a:rPr>
              <a:t>2</a:t>
            </a:r>
            <a:r>
              <a:rPr lang="en-US" altLang="ko-KR" sz="1200" b="1">
                <a:cs typeface="Arial" panose="020B0604020202020204" pitchFamily="34" charset="0"/>
              </a:rPr>
              <a:t>: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rB</a:t>
            </a:r>
            <a:r>
              <a:rPr lang="en-US" altLang="ko-KR" sz="1200" b="1" baseline="-25000">
                <a:cs typeface="Arial" panose="020B0604020202020204" pitchFamily="34" charset="0"/>
              </a:rPr>
              <a:t>1</a:t>
            </a:r>
            <a:r>
              <a:rPr lang="en-US" altLang="ko-KR" sz="1200" b="1">
                <a:cs typeface="Arial" panose="020B0604020202020204" pitchFamily="34" charset="0"/>
              </a:rPr>
              <a:t>: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rB</a:t>
            </a:r>
            <a:r>
              <a:rPr lang="en-US" altLang="ko-KR" sz="1200" b="1" baseline="-25000">
                <a:cs typeface="Arial" panose="020B0604020202020204" pitchFamily="34" charset="0"/>
              </a:rPr>
              <a:t>0</a:t>
            </a:r>
            <a:r>
              <a:rPr lang="en-US" altLang="ko-KR" sz="1200" b="1">
                <a:cs typeface="Arial" panose="020B0604020202020204" pitchFamily="34" charset="0"/>
              </a:rPr>
              <a:t>:</a:t>
            </a:r>
          </a:p>
          <a:p>
            <a:pPr eaLnBrk="1" hangingPunct="1"/>
            <a:endParaRPr lang="en-US" altLang="ko-KR" sz="1200" b="1"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D</a:t>
            </a:r>
            <a:r>
              <a:rPr lang="en-US" altLang="ko-KR" sz="1200" b="1" baseline="-25000">
                <a:cs typeface="Arial" panose="020B0604020202020204" pitchFamily="34" charset="0"/>
              </a:rPr>
              <a:t>7</a:t>
            </a:r>
            <a:r>
              <a:rPr lang="en-US" altLang="ko-KR" sz="1200" b="1">
                <a:cs typeface="Arial" panose="020B0604020202020204" pitchFamily="34" charset="0"/>
              </a:rPr>
              <a:t>IT</a:t>
            </a:r>
            <a:r>
              <a:rPr lang="en-US" altLang="ko-KR" sz="1200" b="1" baseline="-25000">
                <a:cs typeface="Arial" panose="020B0604020202020204" pitchFamily="34" charset="0"/>
              </a:rPr>
              <a:t>3</a:t>
            </a:r>
            <a:r>
              <a:rPr lang="en-US" altLang="ko-KR" sz="1200" b="1">
                <a:cs typeface="Arial" panose="020B0604020202020204" pitchFamily="34" charset="0"/>
              </a:rPr>
              <a:t> = p 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IR(i) = B</a:t>
            </a:r>
            <a:r>
              <a:rPr lang="en-US" altLang="ko-KR" sz="1200" b="1" baseline="-25000">
                <a:cs typeface="Arial" panose="020B0604020202020204" pitchFamily="34" charset="0"/>
              </a:rPr>
              <a:t>i</a:t>
            </a:r>
            <a:r>
              <a:rPr lang="en-US" altLang="ko-KR" sz="1200" b="1">
                <a:cs typeface="Arial" panose="020B0604020202020204" pitchFamily="34" charset="0"/>
              </a:rPr>
              <a:t>         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p: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pB</a:t>
            </a:r>
            <a:r>
              <a:rPr lang="en-US" altLang="ko-KR" sz="1200" b="1" baseline="-25000">
                <a:cs typeface="Arial" panose="020B0604020202020204" pitchFamily="34" charset="0"/>
              </a:rPr>
              <a:t>11</a:t>
            </a:r>
            <a:r>
              <a:rPr lang="en-US" altLang="ko-KR" sz="1200" b="1">
                <a:cs typeface="Arial" panose="020B0604020202020204" pitchFamily="34" charset="0"/>
              </a:rPr>
              <a:t>: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pB</a:t>
            </a:r>
            <a:r>
              <a:rPr lang="en-US" altLang="ko-KR" sz="1200" b="1" baseline="-25000">
                <a:cs typeface="Arial" panose="020B0604020202020204" pitchFamily="34" charset="0"/>
              </a:rPr>
              <a:t>10</a:t>
            </a:r>
            <a:r>
              <a:rPr lang="en-US" altLang="ko-KR" sz="1200" b="1">
                <a:cs typeface="Arial" panose="020B0604020202020204" pitchFamily="34" charset="0"/>
              </a:rPr>
              <a:t>: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pB</a:t>
            </a:r>
            <a:r>
              <a:rPr lang="en-US" altLang="ko-KR" sz="1200" b="1" baseline="-25000">
                <a:cs typeface="Arial" panose="020B0604020202020204" pitchFamily="34" charset="0"/>
              </a:rPr>
              <a:t>9</a:t>
            </a:r>
            <a:r>
              <a:rPr lang="en-US" altLang="ko-KR" sz="1200" b="1">
                <a:cs typeface="Arial" panose="020B0604020202020204" pitchFamily="34" charset="0"/>
              </a:rPr>
              <a:t>: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pB</a:t>
            </a:r>
            <a:r>
              <a:rPr lang="en-US" altLang="ko-KR" sz="1200" b="1" baseline="-25000">
                <a:cs typeface="Arial" panose="020B0604020202020204" pitchFamily="34" charset="0"/>
              </a:rPr>
              <a:t>8</a:t>
            </a:r>
            <a:r>
              <a:rPr lang="en-US" altLang="ko-KR" sz="1200" b="1">
                <a:cs typeface="Arial" panose="020B0604020202020204" pitchFamily="34" charset="0"/>
              </a:rPr>
              <a:t>: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pB</a:t>
            </a:r>
            <a:r>
              <a:rPr lang="en-US" altLang="ko-KR" sz="1200" b="1" baseline="-25000">
                <a:cs typeface="Arial" panose="020B0604020202020204" pitchFamily="34" charset="0"/>
              </a:rPr>
              <a:t>7</a:t>
            </a:r>
            <a:r>
              <a:rPr lang="en-US" altLang="ko-KR" sz="1200" b="1">
                <a:cs typeface="Arial" panose="020B0604020202020204" pitchFamily="34" charset="0"/>
              </a:rPr>
              <a:t>: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pB</a:t>
            </a:r>
            <a:r>
              <a:rPr lang="en-US" altLang="ko-KR" sz="1200" b="1" baseline="-25000">
                <a:cs typeface="Arial" panose="020B0604020202020204" pitchFamily="34" charset="0"/>
              </a:rPr>
              <a:t>6</a:t>
            </a:r>
            <a:r>
              <a:rPr lang="en-US" altLang="ko-KR" sz="1200" b="1">
                <a:cs typeface="Arial" panose="020B0604020202020204" pitchFamily="34" charset="0"/>
              </a:rPr>
              <a:t>:</a:t>
            </a:r>
          </a:p>
        </p:txBody>
      </p:sp>
      <p:sp>
        <p:nvSpPr>
          <p:cNvPr id="38921" name="Rectangle 5"/>
          <p:cNvSpPr>
            <a:spLocks noChangeArrowheads="1"/>
          </p:cNvSpPr>
          <p:nvPr/>
        </p:nvSpPr>
        <p:spPr bwMode="auto">
          <a:xfrm>
            <a:off x="5075239" y="1250950"/>
            <a:ext cx="3235325" cy="5075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ko-KR" sz="1200" b="1"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(Common to all register-reference instr)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(i = 0,1,2, ..., 11)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SC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0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AC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0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E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0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AC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AC</a:t>
            </a:r>
            <a:r>
              <a:rPr lang="en-US" altLang="ko-KR" sz="1200" b="1">
                <a:cs typeface="Arial" panose="020B0604020202020204" pitchFamily="34" charset="0"/>
                <a:sym typeface="Symbol" panose="05050102010706020507" pitchFamily="18" charset="2"/>
              </a:rPr>
              <a:t>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E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E</a:t>
            </a:r>
            <a:r>
              <a:rPr lang="en-US" altLang="ko-KR" sz="1200" b="1">
                <a:cs typeface="Arial" panose="020B0604020202020204" pitchFamily="34" charset="0"/>
                <a:sym typeface="Symbol" panose="05050102010706020507" pitchFamily="18" charset="2"/>
              </a:rPr>
              <a:t>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AC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shr AC, AC(15)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E, E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AC(0)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AC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shl AC, AC(0)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E, E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AC(15)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AC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AC + 1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If(AC(15) =0) then  (PC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PC + 1)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If(AC(15) =1) then  (PC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PC + 1)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If(AC = 0) then (PC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PC + 1)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If(E=0) then (PC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PC + 1)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S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0</a:t>
            </a:r>
          </a:p>
          <a:p>
            <a:pPr eaLnBrk="1" hangingPunct="1"/>
            <a:endParaRPr lang="en-US" altLang="ko-KR" sz="1200" b="1"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(Common to all input-output instructions)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(i = 6,7,8,9,10,11)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SC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0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AC(0-7)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INPR, FGI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0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OUTR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AC(0-7), FGO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0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If(FGI=1) then (PC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PC + 1)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If(FGO=1) then (PC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PC + 1)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IEN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1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IEN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0</a:t>
            </a:r>
          </a:p>
          <a:p>
            <a:pPr eaLnBrk="1" hangingPunct="1"/>
            <a:endParaRPr lang="en-US" altLang="ko-KR" sz="1200" b="1">
              <a:cs typeface="Arial" panose="020B0604020202020204" pitchFamily="34" charset="0"/>
            </a:endParaRPr>
          </a:p>
        </p:txBody>
      </p:sp>
      <p:sp>
        <p:nvSpPr>
          <p:cNvPr id="38922" name="Rectangle 13"/>
          <p:cNvSpPr>
            <a:spLocks noChangeArrowheads="1"/>
          </p:cNvSpPr>
          <p:nvPr/>
        </p:nvSpPr>
        <p:spPr bwMode="auto">
          <a:xfrm>
            <a:off x="2428875" y="1209676"/>
            <a:ext cx="6553200" cy="51911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200" b="1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836256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9940" name="TextBox 5"/>
          <p:cNvSpPr txBox="1">
            <a:spLocks noChangeArrowheads="1"/>
          </p:cNvSpPr>
          <p:nvPr/>
        </p:nvSpPr>
        <p:spPr bwMode="auto">
          <a:xfrm>
            <a:off x="1524000" y="6526214"/>
            <a:ext cx="91440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942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Design of a Basic Computer(BC)</a:t>
            </a:r>
          </a:p>
        </p:txBody>
      </p:sp>
      <p:sp>
        <p:nvSpPr>
          <p:cNvPr id="39943" name="Rectangle 3"/>
          <p:cNvSpPr>
            <a:spLocks noChangeArrowheads="1"/>
          </p:cNvSpPr>
          <p:nvPr/>
        </p:nvSpPr>
        <p:spPr bwMode="auto">
          <a:xfrm>
            <a:off x="1898651" y="1200150"/>
            <a:ext cx="3033713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85000"/>
              </a:lnSpc>
            </a:pPr>
            <a:r>
              <a:rPr lang="en-US" altLang="ko-KR" sz="1600" b="1">
                <a:cs typeface="Arial" panose="020B0604020202020204" pitchFamily="34" charset="0"/>
              </a:rPr>
              <a:t>Hardware Components of BC </a:t>
            </a:r>
          </a:p>
        </p:txBody>
      </p:sp>
      <p:sp>
        <p:nvSpPr>
          <p:cNvPr id="39944" name="Rectangle 4"/>
          <p:cNvSpPr>
            <a:spLocks noChangeArrowheads="1"/>
          </p:cNvSpPr>
          <p:nvPr/>
        </p:nvSpPr>
        <p:spPr bwMode="auto">
          <a:xfrm>
            <a:off x="2586038" y="1481138"/>
            <a:ext cx="5092700" cy="2513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ko-KR" sz="1600" b="1">
                <a:cs typeface="Arial" panose="020B0604020202020204" pitchFamily="34" charset="0"/>
              </a:rPr>
              <a:t>A memory unit:     4096 x 16.</a:t>
            </a:r>
          </a:p>
          <a:p>
            <a:pPr eaLnBrk="1" hangingPunct="1"/>
            <a:r>
              <a:rPr lang="en-US" altLang="ko-KR" sz="1600" b="1">
                <a:cs typeface="Arial" panose="020B0604020202020204" pitchFamily="34" charset="0"/>
              </a:rPr>
              <a:t>Registers:  </a:t>
            </a:r>
          </a:p>
          <a:p>
            <a:pPr eaLnBrk="1" hangingPunct="1"/>
            <a:r>
              <a:rPr lang="en-US" altLang="ko-KR" sz="1600" b="1">
                <a:cs typeface="Arial" panose="020B0604020202020204" pitchFamily="34" charset="0"/>
              </a:rPr>
              <a:t>           AR, PC, DR, AC, IR, TR, OUTR, INPR, and SC</a:t>
            </a:r>
          </a:p>
          <a:p>
            <a:pPr eaLnBrk="1" hangingPunct="1"/>
            <a:r>
              <a:rPr lang="en-US" altLang="ko-KR" sz="1600" b="1">
                <a:cs typeface="Arial" panose="020B0604020202020204" pitchFamily="34" charset="0"/>
              </a:rPr>
              <a:t>Flip-Flops(Status):  </a:t>
            </a:r>
          </a:p>
          <a:p>
            <a:pPr eaLnBrk="1" hangingPunct="1"/>
            <a:r>
              <a:rPr lang="en-US" altLang="ko-KR" sz="1600" b="1">
                <a:cs typeface="Arial" panose="020B0604020202020204" pitchFamily="34" charset="0"/>
              </a:rPr>
              <a:t>           I, S, E, R, IEN, FGI, and FGO</a:t>
            </a:r>
          </a:p>
          <a:p>
            <a:pPr eaLnBrk="1" hangingPunct="1"/>
            <a:r>
              <a:rPr lang="en-US" altLang="ko-KR" sz="1600" b="1">
                <a:cs typeface="Arial" panose="020B0604020202020204" pitchFamily="34" charset="0"/>
              </a:rPr>
              <a:t>Decoders:         a 3x8 Opcode decoder</a:t>
            </a:r>
          </a:p>
          <a:p>
            <a:pPr eaLnBrk="1" hangingPunct="1"/>
            <a:r>
              <a:rPr lang="en-US" altLang="ko-KR" sz="1600" b="1">
                <a:cs typeface="Arial" panose="020B0604020202020204" pitchFamily="34" charset="0"/>
              </a:rPr>
              <a:t>                           a 4x16 timing decoder</a:t>
            </a:r>
          </a:p>
          <a:p>
            <a:pPr eaLnBrk="1" hangingPunct="1"/>
            <a:r>
              <a:rPr lang="en-US" altLang="ko-KR" sz="1600" b="1">
                <a:cs typeface="Arial" panose="020B0604020202020204" pitchFamily="34" charset="0"/>
              </a:rPr>
              <a:t>Common bus:   16 bits</a:t>
            </a:r>
          </a:p>
          <a:p>
            <a:pPr eaLnBrk="1" hangingPunct="1"/>
            <a:r>
              <a:rPr lang="en-US" altLang="ko-KR" sz="1600" b="1">
                <a:cs typeface="Arial" panose="020B0604020202020204" pitchFamily="34" charset="0"/>
              </a:rPr>
              <a:t>Control logic gates:</a:t>
            </a:r>
          </a:p>
          <a:p>
            <a:pPr eaLnBrk="1" hangingPunct="1"/>
            <a:r>
              <a:rPr lang="en-US" altLang="ko-KR" sz="1600" b="1">
                <a:cs typeface="Arial" panose="020B0604020202020204" pitchFamily="34" charset="0"/>
              </a:rPr>
              <a:t>Adder and Logic circuit:   Connected to AC</a:t>
            </a:r>
          </a:p>
        </p:txBody>
      </p:sp>
      <p:sp>
        <p:nvSpPr>
          <p:cNvPr id="39945" name="Rectangle 5"/>
          <p:cNvSpPr>
            <a:spLocks noChangeArrowheads="1"/>
          </p:cNvSpPr>
          <p:nvPr/>
        </p:nvSpPr>
        <p:spPr bwMode="auto">
          <a:xfrm>
            <a:off x="1889125" y="4356100"/>
            <a:ext cx="2090738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85000"/>
              </a:lnSpc>
            </a:pPr>
            <a:r>
              <a:rPr lang="en-US" altLang="ko-KR" sz="1600" b="1">
                <a:cs typeface="Arial" panose="020B0604020202020204" pitchFamily="34" charset="0"/>
              </a:rPr>
              <a:t>Control Logic Gates</a:t>
            </a:r>
          </a:p>
        </p:txBody>
      </p:sp>
      <p:sp>
        <p:nvSpPr>
          <p:cNvPr id="39946" name="Rectangle 7"/>
          <p:cNvSpPr>
            <a:spLocks noChangeArrowheads="1"/>
          </p:cNvSpPr>
          <p:nvPr/>
        </p:nvSpPr>
        <p:spPr bwMode="auto">
          <a:xfrm>
            <a:off x="2251075" y="4695826"/>
            <a:ext cx="5888038" cy="200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1" eaLnBrk="1" hangingPunct="1">
              <a:spcBef>
                <a:spcPct val="45000"/>
              </a:spcBef>
            </a:pPr>
            <a:r>
              <a:rPr lang="en-US" altLang="ko-KR" sz="1600" b="1">
                <a:cs typeface="Arial" panose="020B0604020202020204" pitchFamily="34" charset="0"/>
              </a:rPr>
              <a:t>- Input Controls of the nine registers</a:t>
            </a:r>
          </a:p>
          <a:p>
            <a:pPr lvl="1" eaLnBrk="1" hangingPunct="1">
              <a:spcBef>
                <a:spcPct val="45000"/>
              </a:spcBef>
            </a:pPr>
            <a:r>
              <a:rPr lang="en-US" altLang="ko-KR" sz="1600" b="1">
                <a:cs typeface="Arial" panose="020B0604020202020204" pitchFamily="34" charset="0"/>
              </a:rPr>
              <a:t>- Read and Write Controls of memory</a:t>
            </a:r>
          </a:p>
          <a:p>
            <a:pPr lvl="1" eaLnBrk="1" hangingPunct="1">
              <a:spcBef>
                <a:spcPct val="45000"/>
              </a:spcBef>
            </a:pPr>
            <a:r>
              <a:rPr lang="en-US" altLang="ko-KR" sz="1600" b="1">
                <a:cs typeface="Arial" panose="020B0604020202020204" pitchFamily="34" charset="0"/>
              </a:rPr>
              <a:t>- Set, Clear, or Complement Controls of the flip-flops</a:t>
            </a:r>
          </a:p>
          <a:p>
            <a:pPr lvl="1" eaLnBrk="1" hangingPunct="1">
              <a:spcBef>
                <a:spcPct val="45000"/>
              </a:spcBef>
            </a:pPr>
            <a:r>
              <a:rPr lang="en-US" altLang="ko-KR" sz="1600" b="1">
                <a:cs typeface="Arial" panose="020B0604020202020204" pitchFamily="34" charset="0"/>
              </a:rPr>
              <a:t>- S</a:t>
            </a:r>
            <a:r>
              <a:rPr lang="en-US" altLang="ko-KR" sz="1600" b="1" baseline="-25000">
                <a:cs typeface="Arial" panose="020B0604020202020204" pitchFamily="34" charset="0"/>
              </a:rPr>
              <a:t>2</a:t>
            </a:r>
            <a:r>
              <a:rPr lang="en-US" altLang="ko-KR" sz="1600" b="1">
                <a:cs typeface="Arial" panose="020B0604020202020204" pitchFamily="34" charset="0"/>
              </a:rPr>
              <a:t>, S</a:t>
            </a:r>
            <a:r>
              <a:rPr lang="en-US" altLang="ko-KR" sz="1600" b="1" baseline="-25000">
                <a:cs typeface="Arial" panose="020B0604020202020204" pitchFamily="34" charset="0"/>
              </a:rPr>
              <a:t>1</a:t>
            </a:r>
            <a:r>
              <a:rPr lang="en-US" altLang="ko-KR" sz="1600" b="1">
                <a:cs typeface="Arial" panose="020B0604020202020204" pitchFamily="34" charset="0"/>
              </a:rPr>
              <a:t>, S</a:t>
            </a:r>
            <a:r>
              <a:rPr lang="en-US" altLang="ko-KR" sz="1600" b="1" baseline="-25000">
                <a:cs typeface="Arial" panose="020B0604020202020204" pitchFamily="34" charset="0"/>
              </a:rPr>
              <a:t>0</a:t>
            </a:r>
            <a:r>
              <a:rPr lang="en-US" altLang="ko-KR" sz="1600" b="1">
                <a:cs typeface="Arial" panose="020B0604020202020204" pitchFamily="34" charset="0"/>
              </a:rPr>
              <a:t>  Controls to select a register for the bus</a:t>
            </a:r>
          </a:p>
          <a:p>
            <a:pPr lvl="1" eaLnBrk="1" hangingPunct="1">
              <a:spcBef>
                <a:spcPct val="45000"/>
              </a:spcBef>
            </a:pPr>
            <a:r>
              <a:rPr lang="en-US" altLang="ko-KR" sz="1600" b="1">
                <a:cs typeface="Arial" panose="020B0604020202020204" pitchFamily="34" charset="0"/>
              </a:rPr>
              <a:t>- AC, and Adder and Logic circuit</a:t>
            </a:r>
          </a:p>
          <a:p>
            <a:pPr eaLnBrk="1" hangingPunct="1"/>
            <a:endParaRPr lang="en-US" altLang="ko-KR" sz="1600" b="1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3637880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2694</TotalTime>
  <Words>5554</Words>
  <Application>Microsoft Office PowerPoint</Application>
  <PresentationFormat>Widescreen</PresentationFormat>
  <Paragraphs>1148</Paragraphs>
  <Slides>51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60" baseType="lpstr">
      <vt:lpstr>Aptos</vt:lpstr>
      <vt:lpstr>Aptos Display</vt:lpstr>
      <vt:lpstr>Arial</vt:lpstr>
      <vt:lpstr>Calibri</vt:lpstr>
      <vt:lpstr>Google Sans</vt:lpstr>
      <vt:lpstr>Symbol</vt:lpstr>
      <vt:lpstr>Times New Roman</vt:lpstr>
      <vt:lpstr>Wingdings</vt:lpstr>
      <vt:lpstr>1_Office Theme</vt:lpstr>
      <vt:lpstr>Computer Organization</vt:lpstr>
      <vt:lpstr>Basic Organization of a Computer</vt:lpstr>
      <vt:lpstr>PowerPoint Presentation</vt:lpstr>
      <vt:lpstr>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CSE211</dc:title>
  <dc:creator>lovi raj gupta</dc:creator>
  <cp:lastModifiedBy>Khushbu Meena</cp:lastModifiedBy>
  <cp:revision>32</cp:revision>
  <dcterms:created xsi:type="dcterms:W3CDTF">2024-12-19T08:47:23Z</dcterms:created>
  <dcterms:modified xsi:type="dcterms:W3CDTF">2026-01-29T08:46:11Z</dcterms:modified>
</cp:coreProperties>
</file>